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008"/>
    <p:restoredTop sz="94673"/>
  </p:normalViewPr>
  <p:slideViewPr>
    <p:cSldViewPr snapToGrid="0" snapToObjects="1">
      <p:cViewPr>
        <p:scale>
          <a:sx n="75" d="100"/>
          <a:sy n="75" d="100"/>
        </p:scale>
        <p:origin x="-192" y="8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Baseline: 3Jane Korea Market Entry and Growth Proposal, revised Word proposal prepared by HOPE. Proposed scope and planning targets; not historical campaign results. </a:t>
            </a:r>
            <a:r>
              <a:t>Costs in USD.</a:t>
            </a:r>
          </a:p>
          <a:p>
            <a:endParaRPr dirty="0"/>
          </a:p>
          <a:p>
            <a:r>
              <a:rPr dirty="0"/>
              <a:t>Supplier-side market entry and education. Korean borrower acquisition is not included. Product actions require eligibility and launch-readiness confirmation.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The objective is qualified supplier interest and informed engagement, not guaranteed deposits or TVL. Three months begin at agreed kickoff. Ordinary coordination and reporting are included in the $35,000 base.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Baseline: 3Jane Korea Market Entry and Growth Proposal, revised Word proposal prepared by HOPE. Proposed scope and planning targets; not historical campaign results. Costs in USD.</a:t>
            </a:r>
          </a:p>
          <a:p>
            <a:endParaRPr dirty="0"/>
          </a:p>
          <a:p>
            <a:r>
              <a:rPr dirty="0"/>
              <a:t>Audience selection is a strategic hypothesis to test, not a quantified market-size claim. Familiarity with Pendle, Morpho or Curve is an audience signal and does not establish a 3Jane integration. Product eligibility and permitted supplier actions must be confirmed by 3Jane before activation.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Positioning: credit-market infrastructure connecting onchain suppliers with credit-backed yield. Official materials describe USD3 exposure to fintech financing arrangements and direct credit lines; staking into sUSD3 adds leveraged pool exposure.</a:t>
            </a:r>
          </a:p>
          <a:p>
            <a:r>
              <a:t>Sources reviewed 16 September 2026:</a:t>
            </a:r>
          </a:p>
          <a:p>
            <a:r>
              <a:t>https://www.3jane.xyz/</a:t>
            </a:r>
          </a:p>
          <a:p>
            <a:r>
              <a:t>https://docs.3jane.xyz/</a:t>
            </a:r>
          </a:p>
          <a:p>
            <a:r>
              <a:t>https://www.3jane.xyz/pdf/whitepaper.pdf — v1.1, 19 October 2025, section 3.1.1</a:t>
            </a:r>
          </a:p>
          <a:p>
            <a:r>
              <a:t>https://www.3jane.xyz/reports/3jane-liquidity-mining-program-is-live — 9 June 2026</a:t>
            </a:r>
          </a:p>
          <a:p>
            <a:r>
              <a:t>https://docs.3jane.xyz/jane/liquidity-mining</a:t>
            </a:r>
          </a:p>
          <a:p>
            <a:r>
              <a:t>The public JANE program does not establish a Korea-specific allocation or commercial compensation arrangement. Confirm current eligibility and any lock terms. Do not publish an unverified queue or exact cooldown duration.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Timing is relative to kickoff, not a confirmed launch date. Release and event timing may shift with product readiness, quotes and approvals. 3Jane confirms launch milestones, supplier eligibility, spokesperson availability and product analytics access.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18–24 is the total across all purchased X and Telegram placements, not per creator. The shortlist is not a promise to book 12 partners. Report delivered links, spend, clicks where available and gross, non-deduplicated views. No partner is represented as confirmed until contracted.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The original video reference image is preserved as an illustrative format only. It is not a 3Jane campaign result, partner endorsement or guaranteed placement. Rights and final creative require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Qualified members are genuine Korean-community participants who complete the agreed onboarding steps, excluding identified bots and duplicates. Seven-day active rate counts unique non-admin contributors in the last seven days divided by qualified members at period end. This differs from seven-day retention: valid cohort joiners who remain seven days later. AMA live participation and replay views are reported separately; cross-session duplicates may exist. Gross KOL views are non-deduplicated. Leads require relevance and consent to follow-up. Use campaign UTMs, partner links, Telegram invite cohorts and native analytics. Product actions and eligible aggregate wallet/onboarding/supply metrics require reliable 3Jane data, confirmed availability and access; no TVL or deposit guarantee. Do not infer Korean residency from a wallet.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Budget arithmetic: 4,000 + 6,000 + 9,000 + 5,000 + 6,000 + 5,000 = 35,000. Base 35,000 + reserve 15,000 = 50,000. PR 2,000 + 2,000 + 2,000 = 6,000. Community 1,000 entry rewards + 3 x 1,000 moderation = 4,000. UGC indicative split 3,500 creator rewards + 1,500 operations = 5,000. All values USD. No ordinary tracking/reporting charge is added to the reserve.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Reserve sub-allocation is proposed and sums to $15,000. Reallocation or spending requires written agreement; neither scheduled dates nor unused budget create automatic authorization. Track approved, committed, spent and uncommitted balances separately.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HOPE owns local calendar, community, partner management, content coordination and reporting. 3Jane owns product facts, eligibility, risks, incentive terms, brand assets, analytics access, spokesperson and final publication approval. Joint decisions cover targets, quotations, timing and reserve releases. No publication or booking before agreed approvals. Proposed two-business-day review window. Recheck materials after substantive product changes. Final campaign report within 10 business days of campaign end.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Asset source: visual reference embedded in the user-provided original PowerPoint and original proposal. Retained for format illustration only; not a 3Jane campaign result, partner endorsement or confirmed media placement. Final reuse rights and creative require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Asset source: visual reference embedded in the user-provided original PowerPoint and original proposal. Retained for format illustration only; not a 3Jane campaign result, partner endorsement or confirmed media placement. Final reuse rights and creative require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Asset source: visual reference embedded in the user-provided original PowerPoint and original proposal. Retained for format illustration only; not a 3Jane campaign result, partner endorsement or confirmed media placement. Final reuse rights and creative require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Asset source: visual reference embedded in the user-provided original PowerPoint and original proposal. Retained for format illustration only; not a 3Jane campaign result, partner endorsement or confirmed media placement. Final reuse rights and creative require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Asset source: visual reference embedded in the user-provided original PowerPoint and original proposal. Retained for format illustration only; not a 3Jane campaign result, partner endorsement or confirmed media placement. Final reuse rights and creative require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Asset source: visual reference embedded in the user-provided original PowerPoint and original proposal. Retained for format illustration only; not a 3Jane campaign result, partner endorsement or confirmed media placement. Final reuse rights and creative require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DCD18-2522-456B-8E60-AF1E5389FBD8}"/>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FA162AF9-B378-4BCC-8A1C-DB43B9B8CD10}"/>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2B3A39AD-627F-4A8F-B982-122F2CA05B1D}"/>
              </a:ext>
            </a:extLst>
          </p:cNvPr>
          <p:cNvSpPr>
            <a:spLocks noGrp="1"/>
          </p:cNvSpPr>
          <p:nvPr>
            <p:ph type="dt" idx="10"/>
          </p:nvPr>
        </p:nvSpPr>
        <p:spPr/>
        <p:txBody>
          <a:bodyPr/>
          <a:lstStyle/>
          <a:p>
            <a:fld id="{5BCAD085-E8A6-8845-BD4E-CB4CCA059FC4}" type="datetimeFigureOut">
              <a:t>2026. 9. 16.</a:t>
            </a:fld>
            <a:endParaRPr/>
          </a:p>
        </p:txBody>
      </p:sp>
      <p:sp>
        <p:nvSpPr>
          <p:cNvPr id="5" name="Footer Placeholder 4">
            <a:extLst>
              <a:ext uri="{FF2B5EF4-FFF2-40B4-BE49-F238E27FC236}">
                <a16:creationId xmlns:a16="http://schemas.microsoft.com/office/drawing/2014/main" id="{9447CD97-116F-4392-98CB-9329CC46858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933B1A1-F395-4E42-918E-5C98C894C56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925C7-24F1-46FB-9B31-F1F81445287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8F48BCCC-706B-44B5-81CB-09AF8F654E84}"/>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C902EA-4B23-41FA-8CB3-B11D48E1BDB5}"/>
              </a:ext>
            </a:extLst>
          </p:cNvPr>
          <p:cNvSpPr>
            <a:spLocks noGrp="1"/>
          </p:cNvSpPr>
          <p:nvPr>
            <p:ph type="dt" idx="10"/>
          </p:nvPr>
        </p:nvSpPr>
        <p:spPr/>
        <p:txBody>
          <a:bodyPr/>
          <a:lstStyle/>
          <a:p>
            <a:fld id="{5BCAD085-E8A6-8845-BD4E-CB4CCA059FC4}" type="datetimeFigureOut">
              <a:t>2026. 9. 16.</a:t>
            </a:fld>
            <a:endParaRPr/>
          </a:p>
        </p:txBody>
      </p:sp>
      <p:sp>
        <p:nvSpPr>
          <p:cNvPr id="5" name="Footer Placeholder 4">
            <a:extLst>
              <a:ext uri="{FF2B5EF4-FFF2-40B4-BE49-F238E27FC236}">
                <a16:creationId xmlns:a16="http://schemas.microsoft.com/office/drawing/2014/main" id="{FB609E62-DA77-4E4F-8A64-AD8AFBE2FFC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EFBE40F-AE8D-4A8D-ABFD-E76AA7C3EEF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65F30-7CEF-4812-94E6-2CB7B4C72495}"/>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528D63AD-549B-42BB-8C46-50B9BF7D1327}"/>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714CCADB-C26B-4198-B8F3-9156BF0223CF}"/>
              </a:ext>
            </a:extLst>
          </p:cNvPr>
          <p:cNvSpPr>
            <a:spLocks noGrp="1"/>
          </p:cNvSpPr>
          <p:nvPr>
            <p:ph type="dt" idx="10"/>
          </p:nvPr>
        </p:nvSpPr>
        <p:spPr/>
        <p:txBody>
          <a:bodyPr/>
          <a:lstStyle/>
          <a:p>
            <a:fld id="{5BCAD085-E8A6-8845-BD4E-CB4CCA059FC4}" type="datetimeFigureOut">
              <a:t>2026. 9. 16.</a:t>
            </a:fld>
            <a:endParaRPr/>
          </a:p>
        </p:txBody>
      </p:sp>
      <p:sp>
        <p:nvSpPr>
          <p:cNvPr id="5" name="Footer Placeholder 4">
            <a:extLst>
              <a:ext uri="{FF2B5EF4-FFF2-40B4-BE49-F238E27FC236}">
                <a16:creationId xmlns:a16="http://schemas.microsoft.com/office/drawing/2014/main" id="{401A6728-F82E-4926-BEAA-EFA3398E360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6E6997-7BBF-460F-86D9-6D20B8D33D3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E8DE3-D7B3-4D84-8E5F-239DF0AEDC2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84179654-AE9D-4B9A-BBA2-EC5B15F7436D}"/>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59799D4C-0B67-4BE3-A930-FD5E6DFF9827}"/>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2B5AF465-673E-461A-80C4-6685F8F09921}"/>
              </a:ext>
            </a:extLst>
          </p:cNvPr>
          <p:cNvSpPr>
            <a:spLocks noGrp="1"/>
          </p:cNvSpPr>
          <p:nvPr>
            <p:ph type="dt" idx="10"/>
          </p:nvPr>
        </p:nvSpPr>
        <p:spPr/>
        <p:txBody>
          <a:bodyPr/>
          <a:lstStyle/>
          <a:p>
            <a:fld id="{5BCAD085-E8A6-8845-BD4E-CB4CCA059FC4}" type="datetimeFigureOut">
              <a:t>2026. 9. 16.</a:t>
            </a:fld>
            <a:endParaRPr/>
          </a:p>
        </p:txBody>
      </p:sp>
      <p:sp>
        <p:nvSpPr>
          <p:cNvPr id="6" name="Footer Placeholder 5">
            <a:extLst>
              <a:ext uri="{FF2B5EF4-FFF2-40B4-BE49-F238E27FC236}">
                <a16:creationId xmlns:a16="http://schemas.microsoft.com/office/drawing/2014/main" id="{DC54791B-F8B1-40AA-BC67-2267C45B958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FE83793-C75E-4CE4-8919-FB61BC19AC9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5C126-659B-4BF3-87F9-0FD6B0536D9E}"/>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C6D245F8-07F7-4905-BEBF-68FAAD7B1ABD}"/>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7F0415B-920D-42C5-B74A-9379C56F7B42}"/>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368397A5-67A4-4E4D-B6A5-992D0105435E}"/>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FCCE9F9B-A31F-476B-A81C-116299F2798F}"/>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E553B42F-0A9C-49CB-838F-EC6F853BF689}"/>
              </a:ext>
            </a:extLst>
          </p:cNvPr>
          <p:cNvSpPr>
            <a:spLocks noGrp="1"/>
          </p:cNvSpPr>
          <p:nvPr>
            <p:ph type="dt" idx="10"/>
          </p:nvPr>
        </p:nvSpPr>
        <p:spPr/>
        <p:txBody>
          <a:bodyPr/>
          <a:lstStyle/>
          <a:p>
            <a:fld id="{5BCAD085-E8A6-8845-BD4E-CB4CCA059FC4}" type="datetimeFigureOut">
              <a:t>2026. 9. 16.</a:t>
            </a:fld>
            <a:endParaRPr/>
          </a:p>
        </p:txBody>
      </p:sp>
      <p:sp>
        <p:nvSpPr>
          <p:cNvPr id="8" name="Footer Placeholder 7">
            <a:extLst>
              <a:ext uri="{FF2B5EF4-FFF2-40B4-BE49-F238E27FC236}">
                <a16:creationId xmlns:a16="http://schemas.microsoft.com/office/drawing/2014/main" id="{03A69C8F-BAB2-4A9F-A131-8FBFC463AFF4}"/>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E5B8D43D-38CC-4B6A-9D2A-3C8904B6B2A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1C032-0EFC-4830-8E3E-601380F5AFF3}"/>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BF6D5240-5AAA-4B81-8D5E-5553C37C7541}"/>
              </a:ext>
            </a:extLst>
          </p:cNvPr>
          <p:cNvSpPr>
            <a:spLocks noGrp="1"/>
          </p:cNvSpPr>
          <p:nvPr>
            <p:ph type="dt" idx="10"/>
          </p:nvPr>
        </p:nvSpPr>
        <p:spPr/>
        <p:txBody>
          <a:bodyPr/>
          <a:lstStyle/>
          <a:p>
            <a:fld id="{5BCAD085-E8A6-8845-BD4E-CB4CCA059FC4}" type="datetimeFigureOut">
              <a:t>2026. 9. 16.</a:t>
            </a:fld>
            <a:endParaRPr/>
          </a:p>
        </p:txBody>
      </p:sp>
      <p:sp>
        <p:nvSpPr>
          <p:cNvPr id="4" name="Footer Placeholder 3">
            <a:extLst>
              <a:ext uri="{FF2B5EF4-FFF2-40B4-BE49-F238E27FC236}">
                <a16:creationId xmlns:a16="http://schemas.microsoft.com/office/drawing/2014/main" id="{D8D32798-5642-43B8-B2C2-A3675C56D357}"/>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5998C21-32D1-41C7-B440-CB5E0893FDD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B9A85C-32C2-4598-ADF2-FBD30F4B6DA6}"/>
              </a:ext>
            </a:extLst>
          </p:cNvPr>
          <p:cNvSpPr>
            <a:spLocks noGrp="1"/>
          </p:cNvSpPr>
          <p:nvPr>
            <p:ph type="dt" idx="10"/>
          </p:nvPr>
        </p:nvSpPr>
        <p:spPr/>
        <p:txBody>
          <a:bodyPr/>
          <a:lstStyle/>
          <a:p>
            <a:fld id="{5BCAD085-E8A6-8845-BD4E-CB4CCA059FC4}" type="datetimeFigureOut">
              <a:t>2026. 9. 16.</a:t>
            </a:fld>
            <a:endParaRPr/>
          </a:p>
        </p:txBody>
      </p:sp>
      <p:sp>
        <p:nvSpPr>
          <p:cNvPr id="3" name="Footer Placeholder 2">
            <a:extLst>
              <a:ext uri="{FF2B5EF4-FFF2-40B4-BE49-F238E27FC236}">
                <a16:creationId xmlns:a16="http://schemas.microsoft.com/office/drawing/2014/main" id="{B700E4AF-C410-4E0D-81A9-E8C1146A726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1BD1AED-5672-4112-ADE9-B8C5F112201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61F0E-0C76-4FF0-9A03-2D28616FF280}"/>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E2760BC9-30C4-44BC-8F5B-78E79D50F862}"/>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70169CC9-A147-482A-A915-B8389067A07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FC0613AB-B484-4554-BCC6-0C34C76F4555}"/>
              </a:ext>
            </a:extLst>
          </p:cNvPr>
          <p:cNvSpPr>
            <a:spLocks noGrp="1"/>
          </p:cNvSpPr>
          <p:nvPr>
            <p:ph type="dt" idx="10"/>
          </p:nvPr>
        </p:nvSpPr>
        <p:spPr/>
        <p:txBody>
          <a:bodyPr/>
          <a:lstStyle/>
          <a:p>
            <a:fld id="{5BCAD085-E8A6-8845-BD4E-CB4CCA059FC4}" type="datetimeFigureOut">
              <a:t>2026. 9. 16.</a:t>
            </a:fld>
            <a:endParaRPr/>
          </a:p>
        </p:txBody>
      </p:sp>
      <p:sp>
        <p:nvSpPr>
          <p:cNvPr id="6" name="Footer Placeholder 5">
            <a:extLst>
              <a:ext uri="{FF2B5EF4-FFF2-40B4-BE49-F238E27FC236}">
                <a16:creationId xmlns:a16="http://schemas.microsoft.com/office/drawing/2014/main" id="{E224610E-DA3B-4112-B17F-54C5F2C62C9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9027817-0BCD-4E18-9BAA-9B6CF2FA891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BD23F-8C1B-4CF2-B067-AD1A440B3EA4}"/>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464622E1-EB62-4909-90AF-95D10E2B8DDF}"/>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635A8232-2FE5-499C-A568-5468BD9C4987}"/>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4F63F382-FF72-4437-85AC-A738319449D0}"/>
              </a:ext>
            </a:extLst>
          </p:cNvPr>
          <p:cNvSpPr>
            <a:spLocks noGrp="1"/>
          </p:cNvSpPr>
          <p:nvPr>
            <p:ph type="dt" idx="10"/>
          </p:nvPr>
        </p:nvSpPr>
        <p:spPr/>
        <p:txBody>
          <a:bodyPr/>
          <a:lstStyle/>
          <a:p>
            <a:fld id="{5BCAD085-E8A6-8845-BD4E-CB4CCA059FC4}" type="datetimeFigureOut">
              <a:t>2026. 9. 16.</a:t>
            </a:fld>
            <a:endParaRPr/>
          </a:p>
        </p:txBody>
      </p:sp>
      <p:sp>
        <p:nvSpPr>
          <p:cNvPr id="6" name="Footer Placeholder 5">
            <a:extLst>
              <a:ext uri="{FF2B5EF4-FFF2-40B4-BE49-F238E27FC236}">
                <a16:creationId xmlns:a16="http://schemas.microsoft.com/office/drawing/2014/main" id="{726543B7-D3F3-4FD2-852B-39FBC67E4B1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ABA530E-F03D-471D-BCE0-5C85578FE29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331E6-48A6-4686-8D93-7B7155836FAD}"/>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212439D8-4560-4472-953E-518C51B2D6A7}"/>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DFC61D5-526A-4DD5-B4E9-CF13F89B5B11}"/>
              </a:ext>
            </a:extLst>
          </p:cNvPr>
          <p:cNvSpPr>
            <a:spLocks noGrp="1"/>
          </p:cNvSpPr>
          <p:nvPr>
            <p:ph type="dt" idx="10"/>
          </p:nvPr>
        </p:nvSpPr>
        <p:spPr/>
        <p:txBody>
          <a:bodyPr/>
          <a:lstStyle/>
          <a:p>
            <a:fld id="{5BCAD085-E8A6-8845-BD4E-CB4CCA059FC4}" type="datetimeFigureOut">
              <a:t>2026. 9. 16.</a:t>
            </a:fld>
            <a:endParaRPr/>
          </a:p>
        </p:txBody>
      </p:sp>
      <p:sp>
        <p:nvSpPr>
          <p:cNvPr id="5" name="Footer Placeholder 4">
            <a:extLst>
              <a:ext uri="{FF2B5EF4-FFF2-40B4-BE49-F238E27FC236}">
                <a16:creationId xmlns:a16="http://schemas.microsoft.com/office/drawing/2014/main" id="{74A872C3-C974-465F-91CD-617F6F48C68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391344C-C39D-4D22-936F-6A317D7181F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9ECFE9-3D44-4E1B-B8A0-F3DFEAB24F7C}"/>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BEC60E6B-9511-434C-B322-2AF9F46FCBCF}"/>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9A17908-DAAD-4D67-B0C5-11EA477C0DD3}"/>
              </a:ext>
            </a:extLst>
          </p:cNvPr>
          <p:cNvSpPr>
            <a:spLocks noGrp="1"/>
          </p:cNvSpPr>
          <p:nvPr>
            <p:ph type="dt" idx="10"/>
          </p:nvPr>
        </p:nvSpPr>
        <p:spPr/>
        <p:txBody>
          <a:bodyPr/>
          <a:lstStyle/>
          <a:p>
            <a:fld id="{5BCAD085-E8A6-8845-BD4E-CB4CCA059FC4}" type="datetimeFigureOut">
              <a:t>2026. 9. 16.</a:t>
            </a:fld>
            <a:endParaRPr/>
          </a:p>
        </p:txBody>
      </p:sp>
      <p:sp>
        <p:nvSpPr>
          <p:cNvPr id="5" name="Footer Placeholder 4">
            <a:extLst>
              <a:ext uri="{FF2B5EF4-FFF2-40B4-BE49-F238E27FC236}">
                <a16:creationId xmlns:a16="http://schemas.microsoft.com/office/drawing/2014/main" id="{520C17E0-C07A-4E59-97E0-341394666FE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4AB413D-DB5D-452F-8AE7-72B26F7E35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7F47C4-9087-4D7D-B71F-7A021BBC0792}"/>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2DF464A8-D03E-4EA1-AB0B-20A7B7146E2D}"/>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3937CB0-4AFF-4FF7-B306-C1FA83A62097}"/>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2026. 9. 16.</a:t>
            </a:fld>
            <a:endParaRPr/>
          </a:p>
        </p:txBody>
      </p:sp>
      <p:sp>
        <p:nvSpPr>
          <p:cNvPr id="5" name="Footer Placeholder 4">
            <a:extLst>
              <a:ext uri="{FF2B5EF4-FFF2-40B4-BE49-F238E27FC236}">
                <a16:creationId xmlns:a16="http://schemas.microsoft.com/office/drawing/2014/main" id="{56A73B3D-CAF5-4643-A914-8BCDC5926388}"/>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28B9253C-C519-492F-B0E0-B21B4209CA0D}"/>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hyperlink" Target="https://www.youtube.com/watch?v=n-J6-mXBgIg" TargetMode="External"/><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79BE30-8FE4-4A5B-92AA-E21B866F2C87}"/>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51857108-51E1-49AA-87FE-22F48002D454}"/>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ight Triangle 3">
            <a:extLst>
              <a:ext uri="{FF2B5EF4-FFF2-40B4-BE49-F238E27FC236}">
                <a16:creationId xmlns:a16="http://schemas.microsoft.com/office/drawing/2014/main" id="{E2A471C2-D751-4E6A-B709-4D2F6ACE2BA3}"/>
              </a:ext>
            </a:extLst>
          </p:cNvPr>
          <p:cNvSpPr>
            <a:spLocks noGrp="1"/>
          </p:cNvSpPr>
          <p:nvPr/>
        </p:nvSpPr>
        <p:spPr>
          <a:xfrm>
            <a:off x="9875520" y="0"/>
            <a:ext cx="2313432" cy="6858000"/>
          </a:xfrm>
          <a:prstGeom prst="rtTriangle">
            <a:avLst/>
          </a:prstGeom>
          <a:solidFill>
            <a:srgbClr val="F4F7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8243274C-CD7B-4445-84CD-65AC571E8B7F}"/>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A27C4C32-54FD-4D2C-B576-E01F9D378E2A}"/>
              </a:ext>
            </a:extLst>
          </p:cNvPr>
          <p:cNvSpPr>
            <a:spLocks noGrp="1"/>
          </p:cNvSpPr>
          <p:nvPr/>
        </p:nvSpPr>
        <p:spPr>
          <a:xfrm>
            <a:off x="0" y="0"/>
            <a:ext cx="12191695" cy="6858000"/>
          </a:xfrm>
          <a:prstGeom prst="rect">
            <a:avLst/>
          </a:prstGeom>
          <a:solidFill>
            <a:srgbClr val="F7F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514EA00-AAE2-417C-99C7-37B98BB63030}"/>
              </a:ext>
            </a:extLst>
          </p:cNvPr>
          <p:cNvSpPr>
            <a:spLocks noGrp="1"/>
          </p:cNvSpPr>
          <p:nvPr/>
        </p:nvSpPr>
        <p:spPr>
          <a:xfrm>
            <a:off x="0" y="0"/>
            <a:ext cx="4251960" cy="6858000"/>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6" name="Picture 7"/>
          <p:cNvPicPr>
            <a:picLocks noChangeAspect="1"/>
          </p:cNvPicPr>
          <p:nvPr/>
        </p:nvPicPr>
        <p:blipFill>
          <a:blip r:embed="rId3"/>
          <a:stretch>
            <a:fillRect/>
          </a:stretch>
        </p:blipFill>
        <p:spPr>
          <a:xfrm>
            <a:off x="868680" y="713232"/>
            <a:ext cx="914400" cy="914400"/>
          </a:xfrm>
          <a:prstGeom prst="rect">
            <a:avLst/>
          </a:prstGeom>
        </p:spPr>
      </p:pic>
      <p:sp>
        <p:nvSpPr>
          <p:cNvPr id="9" name="TextBox 8">
            <a:extLst>
              <a:ext uri="{FF2B5EF4-FFF2-40B4-BE49-F238E27FC236}">
                <a16:creationId xmlns:a16="http://schemas.microsoft.com/office/drawing/2014/main" id="{4B3546DB-A0BB-4F82-B447-F774AB0A9A46}"/>
              </a:ext>
            </a:extLst>
          </p:cNvPr>
          <p:cNvSpPr>
            <a:spLocks noGrp="1"/>
          </p:cNvSpPr>
          <p:nvPr/>
        </p:nvSpPr>
        <p:spPr>
          <a:xfrm>
            <a:off x="1874519" y="859536"/>
            <a:ext cx="1463040" cy="365760"/>
          </a:xfrm>
          <a:prstGeom prst="rect">
            <a:avLst/>
          </a:prstGeom>
          <a:noFill/>
        </p:spPr>
        <p:txBody>
          <a:bodyPr wrap="square">
            <a:spAutoFit/>
          </a:bodyPr>
          <a:lstStyle/>
          <a:p>
            <a:r>
              <a:rPr sz="2200" b="1">
                <a:solidFill>
                  <a:srgbClr val="FFFFFF"/>
                </a:solidFill>
                <a:latin typeface="Arial"/>
                <a:ea typeface="Arial"/>
                <a:cs typeface="Arial"/>
              </a:rPr>
              <a:t>3Jane</a:t>
            </a:r>
          </a:p>
        </p:txBody>
      </p:sp>
      <p:sp>
        <p:nvSpPr>
          <p:cNvPr id="10" name="TextBox 9">
            <a:extLst>
              <a:ext uri="{FF2B5EF4-FFF2-40B4-BE49-F238E27FC236}">
                <a16:creationId xmlns:a16="http://schemas.microsoft.com/office/drawing/2014/main" id="{3E0B5D62-9C53-435D-BA56-783BE0B295E5}"/>
              </a:ext>
            </a:extLst>
          </p:cNvPr>
          <p:cNvSpPr>
            <a:spLocks noGrp="1"/>
          </p:cNvSpPr>
          <p:nvPr/>
        </p:nvSpPr>
        <p:spPr>
          <a:xfrm>
            <a:off x="868680" y="5440680"/>
            <a:ext cx="2286000" cy="256032"/>
          </a:xfrm>
          <a:prstGeom prst="rect">
            <a:avLst/>
          </a:prstGeom>
          <a:noFill/>
        </p:spPr>
        <p:txBody>
          <a:bodyPr wrap="square">
            <a:spAutoFit/>
          </a:bodyPr>
          <a:lstStyle/>
          <a:p>
            <a:r>
              <a:rPr sz="1200" b="1">
                <a:solidFill>
                  <a:srgbClr val="FFFFFF"/>
                </a:solidFill>
                <a:latin typeface="Arial"/>
                <a:ea typeface="Arial"/>
                <a:cs typeface="Arial"/>
              </a:rPr>
              <a:t>KOREA GTM</a:t>
            </a:r>
          </a:p>
        </p:txBody>
      </p:sp>
      <p:sp>
        <p:nvSpPr>
          <p:cNvPr id="11" name="TextBox 10">
            <a:extLst>
              <a:ext uri="{FF2B5EF4-FFF2-40B4-BE49-F238E27FC236}">
                <a16:creationId xmlns:a16="http://schemas.microsoft.com/office/drawing/2014/main" id="{A901ABC7-25BB-4313-BD4C-E3C4ADA29DF9}"/>
              </a:ext>
            </a:extLst>
          </p:cNvPr>
          <p:cNvSpPr>
            <a:spLocks noGrp="1"/>
          </p:cNvSpPr>
          <p:nvPr/>
        </p:nvSpPr>
        <p:spPr>
          <a:xfrm>
            <a:off x="868680" y="5742432"/>
            <a:ext cx="2926080" cy="411480"/>
          </a:xfrm>
          <a:prstGeom prst="rect">
            <a:avLst/>
          </a:prstGeom>
          <a:noFill/>
        </p:spPr>
        <p:txBody>
          <a:bodyPr wrap="square" lIns="0" tIns="0" rIns="0" bIns="0" anchor="t">
            <a:noAutofit/>
          </a:bodyPr>
          <a:lstStyle/>
          <a:p>
            <a:pPr algn="l">
              <a:defRPr sz="1350">
                <a:solidFill>
                  <a:srgbClr val="FFFFFF"/>
                </a:solidFill>
                <a:latin typeface="Arial"/>
                <a:ea typeface="Arial"/>
                <a:cs typeface="Arial"/>
              </a:defRPr>
            </a:pPr>
            <a:r>
              <a:rPr sz="1350" b="0">
                <a:solidFill>
                  <a:srgbClr val="FFFFFF"/>
                </a:solidFill>
                <a:latin typeface="Arial"/>
                <a:ea typeface="Arial"/>
                <a:cs typeface="Arial"/>
              </a:rPr>
              <a:t>3개월 한국 GTM 전략</a:t>
            </a:r>
          </a:p>
        </p:txBody>
      </p:sp>
      <p:sp>
        <p:nvSpPr>
          <p:cNvPr id="12" name="TextBox 11">
            <a:extLst>
              <a:ext uri="{FF2B5EF4-FFF2-40B4-BE49-F238E27FC236}">
                <a16:creationId xmlns:a16="http://schemas.microsoft.com/office/drawing/2014/main" id="{1193F0AB-0114-4BCE-900A-C65AEFF6E8E7}"/>
              </a:ext>
            </a:extLst>
          </p:cNvPr>
          <p:cNvSpPr>
            <a:spLocks noGrp="1"/>
          </p:cNvSpPr>
          <p:nvPr/>
        </p:nvSpPr>
        <p:spPr>
          <a:xfrm>
            <a:off x="4892040" y="1417320"/>
            <a:ext cx="6126480" cy="571500"/>
          </a:xfrm>
          <a:prstGeom prst="rect">
            <a:avLst/>
          </a:prstGeom>
          <a:noFill/>
        </p:spPr>
        <p:txBody>
          <a:bodyPr wrap="square" lIns="0" tIns="0" rIns="0" bIns="0" anchor="t">
            <a:noAutofit/>
          </a:bodyPr>
          <a:lstStyle/>
          <a:p>
            <a:pPr algn="l">
              <a:defRPr sz="3150" b="1">
                <a:solidFill>
                  <a:srgbClr val="071323"/>
                </a:solidFill>
                <a:latin typeface="Arial"/>
                <a:ea typeface="Arial"/>
                <a:cs typeface="Arial"/>
              </a:defRPr>
            </a:pPr>
            <a:r>
              <a:rPr sz="3150" b="1">
                <a:solidFill>
                  <a:srgbClr val="071323"/>
                </a:solidFill>
                <a:latin typeface="Arial"/>
                <a:ea typeface="Arial"/>
                <a:cs typeface="Arial"/>
              </a:rPr>
              <a:t>3Jane Korea</a:t>
            </a:r>
          </a:p>
        </p:txBody>
      </p:sp>
      <p:sp>
        <p:nvSpPr>
          <p:cNvPr id="13" name="TextBox 12">
            <a:extLst>
              <a:ext uri="{FF2B5EF4-FFF2-40B4-BE49-F238E27FC236}">
                <a16:creationId xmlns:a16="http://schemas.microsoft.com/office/drawing/2014/main" id="{36FE7F4D-0336-4004-B0EB-1478A7C077B2}"/>
              </a:ext>
            </a:extLst>
          </p:cNvPr>
          <p:cNvSpPr>
            <a:spLocks noGrp="1"/>
          </p:cNvSpPr>
          <p:nvPr/>
        </p:nvSpPr>
        <p:spPr>
          <a:xfrm>
            <a:off x="4895850" y="2009775"/>
            <a:ext cx="6419850" cy="1114425"/>
          </a:xfrm>
          <a:prstGeom prst="rect">
            <a:avLst/>
          </a:prstGeom>
          <a:noFill/>
        </p:spPr>
        <p:txBody>
          <a:bodyPr wrap="square" lIns="0" tIns="0" rIns="0" bIns="0" anchor="t">
            <a:noAutofit/>
          </a:bodyPr>
          <a:lstStyle/>
          <a:p>
            <a:pPr algn="l">
              <a:defRPr sz="3225" b="1">
                <a:solidFill>
                  <a:srgbClr val="071323"/>
                </a:solidFill>
                <a:latin typeface="Arial"/>
                <a:ea typeface="Arial"/>
                <a:cs typeface="Arial"/>
              </a:defRPr>
            </a:pPr>
            <a:r>
              <a:rPr sz="3225" b="1">
                <a:solidFill>
                  <a:srgbClr val="071323"/>
                </a:solidFill>
                <a:latin typeface="Arial"/>
                <a:ea typeface="Arial"/>
                <a:cs typeface="Arial"/>
              </a:rPr>
              <a:t>시장 진출 및
성장 제안서</a:t>
            </a:r>
          </a:p>
          <a:p>
            <a:pPr algn="l">
              <a:defRPr sz="3225" b="1">
                <a:solidFill>
                  <a:srgbClr val="071323"/>
                </a:solidFill>
                <a:latin typeface="Arial"/>
                <a:ea typeface="Arial"/>
                <a:cs typeface="Arial"/>
              </a:defRPr>
            </a:pPr>
            <a:r>
              <a:rPr sz="3225" b="1">
                <a:solidFill>
                  <a:srgbClr val="071323"/>
                </a:solidFill>
                <a:latin typeface="Arial"/>
                <a:ea typeface="Arial"/>
                <a:cs typeface="Arial"/>
              </a:rPr>
              <a:t/>
            </a:r>
          </a:p>
        </p:txBody>
      </p:sp>
      <p:sp>
        <p:nvSpPr>
          <p:cNvPr id="14" name="TextBox 13">
            <a:extLst>
              <a:ext uri="{FF2B5EF4-FFF2-40B4-BE49-F238E27FC236}">
                <a16:creationId xmlns:a16="http://schemas.microsoft.com/office/drawing/2014/main" id="{36EE5CF5-E4A0-4C56-84E7-82ECFF424771}"/>
              </a:ext>
            </a:extLst>
          </p:cNvPr>
          <p:cNvSpPr>
            <a:spLocks noGrp="1"/>
          </p:cNvSpPr>
          <p:nvPr/>
        </p:nvSpPr>
        <p:spPr>
          <a:xfrm>
            <a:off x="4924425" y="3295650"/>
            <a:ext cx="6067425" cy="552450"/>
          </a:xfrm>
          <a:prstGeom prst="rect">
            <a:avLst/>
          </a:prstGeom>
          <a:noFill/>
        </p:spPr>
        <p:txBody>
          <a:bodyPr wrap="square" lIns="0" tIns="0" rIns="0" bIns="0" anchor="t">
            <a:noAutofit/>
          </a:bodyPr>
          <a:lstStyle/>
          <a:p>
            <a:pPr algn="l">
              <a:defRPr sz="1575">
                <a:solidFill>
                  <a:srgbClr val="334155"/>
                </a:solidFill>
                <a:latin typeface="Arial"/>
                <a:ea typeface="Arial"/>
                <a:cs typeface="Arial"/>
              </a:defRPr>
            </a:pPr>
            <a:r>
              <a:rPr sz="1575" b="0">
                <a:solidFill>
                  <a:srgbClr val="334155"/>
                </a:solidFill>
                <a:latin typeface="Arial"/>
                <a:ea typeface="Arial"/>
                <a:cs typeface="Arial"/>
              </a:rPr>
              <a:t>커뮤니티, 교육, 적격 공급자 인게이지먼트</a:t>
            </a:r>
          </a:p>
        </p:txBody>
      </p:sp>
      <p:sp>
        <p:nvSpPr>
          <p:cNvPr id="15" name="Rounded Rectangle 14">
            <a:extLst>
              <a:ext uri="{FF2B5EF4-FFF2-40B4-BE49-F238E27FC236}">
                <a16:creationId xmlns:a16="http://schemas.microsoft.com/office/drawing/2014/main" id="{85DAB0E4-59CE-4DF7-A028-69AE167DC296}"/>
              </a:ext>
            </a:extLst>
          </p:cNvPr>
          <p:cNvSpPr>
            <a:spLocks noGrp="1"/>
          </p:cNvSpPr>
          <p:nvPr/>
        </p:nvSpPr>
        <p:spPr>
          <a:xfrm>
            <a:off x="4919472" y="3794760"/>
            <a:ext cx="6080760" cy="411480"/>
          </a:xfrm>
          <a:prstGeom prst="roundRect">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55E55639-A340-48EE-8F3F-550B78852C7B}"/>
              </a:ext>
            </a:extLst>
          </p:cNvPr>
          <p:cNvSpPr>
            <a:spLocks noGrp="1"/>
          </p:cNvSpPr>
          <p:nvPr/>
        </p:nvSpPr>
        <p:spPr>
          <a:xfrm>
            <a:off x="5065395" y="3854191"/>
            <a:ext cx="6080760" cy="365760"/>
          </a:xfrm>
          <a:prstGeom prst="rect">
            <a:avLst/>
          </a:prstGeom>
          <a:noFill/>
        </p:spPr>
        <p:txBody>
          <a:bodyPr wrap="square" lIns="0" tIns="0" rIns="0" bIns="0" anchor="ctr">
            <a:noAutofit/>
          </a:bodyPr>
          <a:lstStyle/>
          <a:p>
            <a:pPr algn="l">
              <a:buNone/>
              <a:defRPr sz="1500" b="1">
                <a:solidFill>
                  <a:srgbClr val="0B39FF"/>
                </a:solidFill>
                <a:latin typeface="Arial"/>
                <a:ea typeface="Arial"/>
                <a:cs typeface="Arial"/>
              </a:defRPr>
            </a:pPr>
            <a:r>
              <a:rPr sz="1500" b="1" dirty="0">
                <a:solidFill>
                  <a:srgbClr val="0B39FF"/>
                </a:solidFill>
                <a:latin typeface="Arial"/>
                <a:ea typeface="Arial"/>
                <a:cs typeface="Arial"/>
              </a:rPr>
              <a:t>3개월   •   $50,000   •   KOREA</a:t>
            </a:r>
          </a:p>
        </p:txBody>
      </p:sp>
      <p:sp>
        <p:nvSpPr>
          <p:cNvPr id="17" name="TextBox 16">
            <a:extLst>
              <a:ext uri="{FF2B5EF4-FFF2-40B4-BE49-F238E27FC236}">
                <a16:creationId xmlns:a16="http://schemas.microsoft.com/office/drawing/2014/main" id="{E9ACAF66-A1BE-41FE-8A0A-42692F536C1F}"/>
              </a:ext>
            </a:extLst>
          </p:cNvPr>
          <p:cNvSpPr>
            <a:spLocks noGrp="1"/>
          </p:cNvSpPr>
          <p:nvPr/>
        </p:nvSpPr>
        <p:spPr>
          <a:xfrm>
            <a:off x="4924425" y="5991225"/>
            <a:ext cx="4286250" cy="28575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작성: HOPE</a:t>
            </a:r>
            <a:endParaRPr sz="1050" b="0">
              <a:solidFill>
                <a:srgbClr val="8A94AA"/>
              </a:solidFill>
              <a:latin typeface="Arial"/>
              <a:ea typeface="Arial"/>
              <a:cs typeface="Arial"/>
            </a:endParaRPr>
          </a:p>
        </p:txBody>
      </p:sp>
      <p:pic>
        <p:nvPicPr>
          <p:cNvPr id="36" name="그림 19"/>
          <p:cNvPicPr>
            <a:picLocks noChangeAspect="1"/>
          </p:cNvPicPr>
          <p:nvPr/>
        </p:nvPicPr>
        <p:blipFill>
          <a:blip r:embed="rId4"/>
          <a:stretch>
            <a:fillRect/>
          </a:stretch>
        </p:blipFill>
        <p:spPr>
          <a:xfrm>
            <a:off x="2052586" y="4552322"/>
            <a:ext cx="1089526" cy="1089526"/>
          </a:xfrm>
          <a:prstGeom prst="rect">
            <a:avLst/>
          </a:prstGeom>
        </p:spPr>
      </p:pic>
    </p:spTree>
    <p:extLst>
      <p:ext uri="{BB962C8B-B14F-4D97-AF65-F5344CB8AC3E}">
        <p14:creationId xmlns:p14="http://schemas.microsoft.com/office/powerpoint/2010/main" val="657431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89F546-BACF-4414-B052-6CE18A52B5F0}"/>
              </a:ext>
            </a:extLst>
          </p:cNvPr>
          <p:cNvSpPr>
            <a:spLocks noGrp="1"/>
          </p:cNvSpPr>
          <p:nvPr/>
        </p:nvSpPr>
        <p:spPr>
          <a:xfrm>
            <a:off x="7772" y="263475"/>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6EBF76DE-DE07-44A6-81C0-082E21521C52}"/>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ADADD08E-270E-4D4E-A42E-DEBCF1206CBC}"/>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58"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4C108909-0F83-45DB-A841-256A8251775B}"/>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C530D2AD-0A37-47E1-ABDF-B90B9C0B8552}"/>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4EE4435F-AA27-4E7B-AF4A-D5D0E139963C}"/>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02</a:t>
            </a:r>
          </a:p>
        </p:txBody>
      </p:sp>
      <p:sp>
        <p:nvSpPr>
          <p:cNvPr id="10" name="TextBox 9">
            <a:extLst>
              <a:ext uri="{FF2B5EF4-FFF2-40B4-BE49-F238E27FC236}">
                <a16:creationId xmlns:a16="http://schemas.microsoft.com/office/drawing/2014/main" id="{74C4092D-BB39-402F-BBCD-9917A78368C2}"/>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요약</a:t>
            </a:r>
          </a:p>
        </p:txBody>
      </p:sp>
      <p:sp>
        <p:nvSpPr>
          <p:cNvPr id="11" name="Rectangle 10">
            <a:extLst>
              <a:ext uri="{FF2B5EF4-FFF2-40B4-BE49-F238E27FC236}">
                <a16:creationId xmlns:a16="http://schemas.microsoft.com/office/drawing/2014/main" id="{0AF6E792-D664-40D9-ACF2-FE4AAF29B622}"/>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6B0A81D-E4B4-401A-BBE5-DDC8317F38D1}"/>
              </a:ext>
            </a:extLst>
          </p:cNvPr>
          <p:cNvSpPr>
            <a:spLocks noGrp="1"/>
          </p:cNvSpPr>
          <p:nvPr/>
        </p:nvSpPr>
        <p:spPr>
          <a:xfrm>
            <a:off x="960120" y="1508760"/>
            <a:ext cx="10241280" cy="411480"/>
          </a:xfrm>
          <a:prstGeom prst="rect">
            <a:avLst/>
          </a:prstGeom>
          <a:noFill/>
        </p:spPr>
        <p:txBody>
          <a:bodyPr wrap="square" lIns="0" tIns="0" rIns="0" bIns="0" anchor="t">
            <a:noAutofit/>
          </a:bodyPr>
          <a:lstStyle/>
          <a:p>
            <a:pPr algn="l">
              <a:lnSpc>
                <a:spcPct val="110000"/>
              </a:lnSpc>
              <a:buNone/>
              <a:defRPr sz="1575">
                <a:solidFill>
                  <a:srgbClr val="334155"/>
                </a:solidFill>
                <a:latin typeface="Arial"/>
                <a:ea typeface="Arial"/>
                <a:cs typeface="Arial"/>
              </a:defRPr>
            </a:pPr>
            <a:r>
              <a:rPr sz="1575" b="0">
                <a:solidFill>
                  <a:srgbClr val="334155"/>
                </a:solidFill>
                <a:latin typeface="Arial"/>
                <a:ea typeface="Arial"/>
                <a:cs typeface="Arial"/>
              </a:rPr>
              <a:t>3개월간 정보를 갖춘 한국 커뮤니티와 측정 가능한 공급자 관심을 구축합니다.</a:t>
            </a:r>
          </a:p>
        </p:txBody>
      </p:sp>
      <p:sp>
        <p:nvSpPr>
          <p:cNvPr id="13" name="Rounded Rectangle 12">
            <a:extLst>
              <a:ext uri="{FF2B5EF4-FFF2-40B4-BE49-F238E27FC236}">
                <a16:creationId xmlns:a16="http://schemas.microsoft.com/office/drawing/2014/main" id="{9AE62457-AAA6-4483-82A9-E7B461C2E391}"/>
              </a:ext>
            </a:extLst>
          </p:cNvPr>
          <p:cNvSpPr>
            <a:spLocks noGrp="1"/>
          </p:cNvSpPr>
          <p:nvPr/>
        </p:nvSpPr>
        <p:spPr>
          <a:xfrm>
            <a:off x="777240" y="2240280"/>
            <a:ext cx="3383280" cy="3154680"/>
          </a:xfrm>
          <a:prstGeom prst="roundRect">
            <a:avLst/>
          </a:prstGeom>
          <a:solidFill>
            <a:srgbClr val="FFFFFF"/>
          </a:solidFill>
          <a:ln w="12700">
            <a:solidFill>
              <a:srgbClr val="DD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ounded Rectangle 13">
            <a:extLst>
              <a:ext uri="{FF2B5EF4-FFF2-40B4-BE49-F238E27FC236}">
                <a16:creationId xmlns:a16="http://schemas.microsoft.com/office/drawing/2014/main" id="{ECA25830-4C4B-4E3B-8D97-63E2D819CAED}"/>
              </a:ext>
            </a:extLst>
          </p:cNvPr>
          <p:cNvSpPr>
            <a:spLocks noGrp="1"/>
          </p:cNvSpPr>
          <p:nvPr/>
        </p:nvSpPr>
        <p:spPr>
          <a:xfrm>
            <a:off x="987552" y="2468880"/>
            <a:ext cx="1115568" cy="320040"/>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F74D4-67D1-43DA-9C1B-76B96D9353C8}"/>
              </a:ext>
            </a:extLst>
          </p:cNvPr>
          <p:cNvSpPr>
            <a:spLocks noGrp="1"/>
          </p:cNvSpPr>
          <p:nvPr/>
        </p:nvSpPr>
        <p:spPr>
          <a:xfrm>
            <a:off x="1156716" y="2511570"/>
            <a:ext cx="1115568" cy="285750"/>
          </a:xfrm>
          <a:prstGeom prst="rect">
            <a:avLst/>
          </a:prstGeom>
          <a:noFill/>
        </p:spPr>
        <p:txBody>
          <a:bodyPr wrap="square" lIns="0" tIns="0" rIns="0" bIns="0" anchor="t">
            <a:noAutofit/>
          </a:bodyPr>
          <a:lstStyle/>
          <a:p>
            <a:pPr algn="l">
              <a:buNone/>
              <a:defRPr sz="1275" b="1">
                <a:solidFill>
                  <a:srgbClr val="FFFFFF"/>
                </a:solidFill>
                <a:latin typeface="Arial"/>
                <a:ea typeface="Arial"/>
                <a:cs typeface="Arial"/>
              </a:defRPr>
            </a:pPr>
            <a:r>
              <a:rPr sz="1275" b="1" dirty="0">
                <a:solidFill>
                  <a:srgbClr val="FFFFFF"/>
                </a:solidFill>
                <a:latin typeface="Arial"/>
                <a:ea typeface="Arial"/>
                <a:cs typeface="Arial"/>
              </a:rPr>
              <a:t>목표</a:t>
            </a:r>
          </a:p>
        </p:txBody>
      </p:sp>
      <p:sp>
        <p:nvSpPr>
          <p:cNvPr id="16" name="TextBox 15">
            <a:extLst>
              <a:ext uri="{FF2B5EF4-FFF2-40B4-BE49-F238E27FC236}">
                <a16:creationId xmlns:a16="http://schemas.microsoft.com/office/drawing/2014/main" id="{6F8F0934-2EC5-4B75-AE4A-D74D1C3A77ED}"/>
              </a:ext>
            </a:extLst>
          </p:cNvPr>
          <p:cNvSpPr>
            <a:spLocks noGrp="1"/>
          </p:cNvSpPr>
          <p:nvPr/>
        </p:nvSpPr>
        <p:spPr>
          <a:xfrm>
            <a:off x="1005840" y="2907792"/>
            <a:ext cx="2926080" cy="476250"/>
          </a:xfrm>
          <a:prstGeom prst="rect">
            <a:avLst/>
          </a:prstGeom>
          <a:noFill/>
        </p:spPr>
        <p:txBody>
          <a:bodyPr wrap="square" lIns="0" tIns="0" rIns="0" bIns="0" anchor="t">
            <a:noAutofit/>
          </a:bodyPr>
          <a:lstStyle/>
          <a:p>
            <a:pPr algn="l">
              <a:defRPr sz="1725" b="1">
                <a:solidFill>
                  <a:srgbClr val="071323"/>
                </a:solidFill>
                <a:latin typeface="Arial"/>
                <a:ea typeface="Arial"/>
                <a:cs typeface="Arial"/>
              </a:defRPr>
            </a:pPr>
            <a:r>
              <a:rPr sz="1725" b="1">
                <a:solidFill>
                  <a:srgbClr val="071323"/>
                </a:solidFill>
                <a:latin typeface="Arial"/>
                <a:ea typeface="Arial"/>
                <a:cs typeface="Arial"/>
              </a:rPr>
              <a:t>적격 공급자 관심</a:t>
            </a:r>
          </a:p>
        </p:txBody>
      </p:sp>
      <p:sp>
        <p:nvSpPr>
          <p:cNvPr id="17" name="Oval 16">
            <a:extLst>
              <a:ext uri="{FF2B5EF4-FFF2-40B4-BE49-F238E27FC236}">
                <a16:creationId xmlns:a16="http://schemas.microsoft.com/office/drawing/2014/main" id="{B322846E-93A7-4014-8BC3-C9241F43969D}"/>
              </a:ext>
            </a:extLst>
          </p:cNvPr>
          <p:cNvSpPr>
            <a:spLocks noGrp="1"/>
          </p:cNvSpPr>
          <p:nvPr/>
        </p:nvSpPr>
        <p:spPr>
          <a:xfrm>
            <a:off x="1033271" y="3474720"/>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17EA8E-0121-44B5-B809-CC4EB0EFD1FF}"/>
              </a:ext>
            </a:extLst>
          </p:cNvPr>
          <p:cNvSpPr>
            <a:spLocks noGrp="1"/>
          </p:cNvSpPr>
          <p:nvPr/>
        </p:nvSpPr>
        <p:spPr>
          <a:xfrm>
            <a:off x="1033271" y="3561588"/>
            <a:ext cx="82296" cy="32918"/>
          </a:xfrm>
          <a:prstGeom prst="rect">
            <a:avLst/>
          </a:prstGeom>
          <a:noFill/>
        </p:spPr>
        <p:txBody>
          <a:bodyPr wrap="square">
            <a:spAutoFit/>
          </a:bodyPr>
          <a:lstStyle/>
          <a:p>
            <a:pPr algn="ctr">
              <a:buNone/>
            </a:pPr>
            <a:endParaRPr/>
          </a:p>
        </p:txBody>
      </p:sp>
      <p:sp>
        <p:nvSpPr>
          <p:cNvPr id="19" name="TextBox 18">
            <a:extLst>
              <a:ext uri="{FF2B5EF4-FFF2-40B4-BE49-F238E27FC236}">
                <a16:creationId xmlns:a16="http://schemas.microsoft.com/office/drawing/2014/main" id="{BDF01D59-55BF-4CE8-A439-5DC9FF8670E4}"/>
              </a:ext>
            </a:extLst>
          </p:cNvPr>
          <p:cNvSpPr>
            <a:spLocks noGrp="1"/>
          </p:cNvSpPr>
          <p:nvPr/>
        </p:nvSpPr>
        <p:spPr>
          <a:xfrm>
            <a:off x="1197863" y="3429000"/>
            <a:ext cx="2761488" cy="371475"/>
          </a:xfrm>
          <a:prstGeom prst="rect">
            <a:avLst/>
          </a:prstGeom>
          <a:noFill/>
        </p:spPr>
        <p:txBody>
          <a:bodyPr wrap="square" lIns="0" tIns="0" rIns="0" bIns="0" anchor="t">
            <a:noAutofit/>
          </a:bodyPr>
          <a:lstStyle/>
          <a:p>
            <a:pPr algn="l">
              <a:defRPr sz="1350" b="0">
                <a:solidFill>
                  <a:srgbClr val="071323"/>
                </a:solidFill>
                <a:latin typeface="Arial"/>
                <a:ea typeface="Arial"/>
                <a:cs typeface="Arial"/>
              </a:defRPr>
            </a:pPr>
            <a:r>
              <a:rPr sz="1350" b="0">
                <a:solidFill>
                  <a:srgbClr val="071323"/>
                </a:solidFill>
                <a:latin typeface="Arial"/>
                <a:ea typeface="Arial"/>
                <a:cs typeface="Arial"/>
              </a:rPr>
              <a:t>공식 한국어 채널 구축</a:t>
            </a:r>
          </a:p>
        </p:txBody>
      </p:sp>
      <p:sp>
        <p:nvSpPr>
          <p:cNvPr id="20" name="Oval 19">
            <a:extLst>
              <a:ext uri="{FF2B5EF4-FFF2-40B4-BE49-F238E27FC236}">
                <a16:creationId xmlns:a16="http://schemas.microsoft.com/office/drawing/2014/main" id="{8F3082C2-AD1F-457A-A169-286C42C4B1A8}"/>
              </a:ext>
            </a:extLst>
          </p:cNvPr>
          <p:cNvSpPr>
            <a:spLocks noGrp="1"/>
          </p:cNvSpPr>
          <p:nvPr/>
        </p:nvSpPr>
        <p:spPr>
          <a:xfrm>
            <a:off x="1033271" y="3895344"/>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DCFFF79-BAFA-44D1-ADE0-9D9AC7C6A0AE}"/>
              </a:ext>
            </a:extLst>
          </p:cNvPr>
          <p:cNvSpPr>
            <a:spLocks noGrp="1"/>
          </p:cNvSpPr>
          <p:nvPr/>
        </p:nvSpPr>
        <p:spPr>
          <a:xfrm>
            <a:off x="1033271" y="3982211"/>
            <a:ext cx="82296" cy="32918"/>
          </a:xfrm>
          <a:prstGeom prst="rect">
            <a:avLst/>
          </a:prstGeom>
          <a:noFill/>
        </p:spPr>
        <p:txBody>
          <a:bodyPr wrap="square">
            <a:spAutoFit/>
          </a:bodyPr>
          <a:lstStyle/>
          <a:p>
            <a:pPr algn="ctr">
              <a:buNone/>
            </a:pPr>
            <a:endParaRPr/>
          </a:p>
        </p:txBody>
      </p:sp>
      <p:sp>
        <p:nvSpPr>
          <p:cNvPr id="22" name="TextBox 21">
            <a:extLst>
              <a:ext uri="{FF2B5EF4-FFF2-40B4-BE49-F238E27FC236}">
                <a16:creationId xmlns:a16="http://schemas.microsoft.com/office/drawing/2014/main" id="{28161BF3-FEE7-45F2-9D51-A1DD0BD8D09C}"/>
              </a:ext>
            </a:extLst>
          </p:cNvPr>
          <p:cNvSpPr>
            <a:spLocks noGrp="1"/>
          </p:cNvSpPr>
          <p:nvPr/>
        </p:nvSpPr>
        <p:spPr>
          <a:xfrm>
            <a:off x="1197863" y="3849624"/>
            <a:ext cx="2761488" cy="371475"/>
          </a:xfrm>
          <a:prstGeom prst="rect">
            <a:avLst/>
          </a:prstGeom>
          <a:noFill/>
        </p:spPr>
        <p:txBody>
          <a:bodyPr wrap="square" lIns="0" tIns="0" rIns="0" bIns="0" anchor="t">
            <a:noAutofit/>
          </a:bodyPr>
          <a:lstStyle/>
          <a:p>
            <a:pPr algn="l">
              <a:defRPr sz="1350" b="0">
                <a:solidFill>
                  <a:srgbClr val="071323"/>
                </a:solidFill>
                <a:latin typeface="Arial"/>
                <a:ea typeface="Arial"/>
                <a:cs typeface="Arial"/>
              </a:defRPr>
            </a:pPr>
            <a:r>
              <a:rPr sz="1350" b="0">
                <a:solidFill>
                  <a:srgbClr val="071323"/>
                </a:solidFill>
                <a:latin typeface="Arial"/>
                <a:ea typeface="Arial"/>
                <a:cs typeface="Arial"/>
              </a:rPr>
              <a:t>제품 구조와 리스크 설명</a:t>
            </a:r>
          </a:p>
        </p:txBody>
      </p:sp>
      <p:sp>
        <p:nvSpPr>
          <p:cNvPr id="23" name="Oval 22">
            <a:extLst>
              <a:ext uri="{FF2B5EF4-FFF2-40B4-BE49-F238E27FC236}">
                <a16:creationId xmlns:a16="http://schemas.microsoft.com/office/drawing/2014/main" id="{FC0CD542-87D6-4A92-8551-E6B3B7EC799A}"/>
              </a:ext>
            </a:extLst>
          </p:cNvPr>
          <p:cNvSpPr>
            <a:spLocks noGrp="1"/>
          </p:cNvSpPr>
          <p:nvPr/>
        </p:nvSpPr>
        <p:spPr>
          <a:xfrm>
            <a:off x="1033271" y="4315968"/>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10A59508-37DD-47E0-AAFF-5E6E5312F96A}"/>
              </a:ext>
            </a:extLst>
          </p:cNvPr>
          <p:cNvSpPr>
            <a:spLocks noGrp="1"/>
          </p:cNvSpPr>
          <p:nvPr/>
        </p:nvSpPr>
        <p:spPr>
          <a:xfrm>
            <a:off x="1033271" y="4402836"/>
            <a:ext cx="82296" cy="32918"/>
          </a:xfrm>
          <a:prstGeom prst="rect">
            <a:avLst/>
          </a:prstGeom>
          <a:noFill/>
        </p:spPr>
        <p:txBody>
          <a:bodyPr wrap="square">
            <a:spAutoFit/>
          </a:bodyPr>
          <a:lstStyle/>
          <a:p>
            <a:pPr algn="ctr">
              <a:buNone/>
            </a:pPr>
            <a:endParaRPr/>
          </a:p>
        </p:txBody>
      </p:sp>
      <p:sp>
        <p:nvSpPr>
          <p:cNvPr id="25" name="TextBox 24">
            <a:extLst>
              <a:ext uri="{FF2B5EF4-FFF2-40B4-BE49-F238E27FC236}">
                <a16:creationId xmlns:a16="http://schemas.microsoft.com/office/drawing/2014/main" id="{E1B52ABC-2E58-4BB8-A61E-DC078FAD2584}"/>
              </a:ext>
            </a:extLst>
          </p:cNvPr>
          <p:cNvSpPr>
            <a:spLocks noGrp="1"/>
          </p:cNvSpPr>
          <p:nvPr/>
        </p:nvSpPr>
        <p:spPr>
          <a:xfrm>
            <a:off x="1197863" y="4270248"/>
            <a:ext cx="2761488" cy="371475"/>
          </a:xfrm>
          <a:prstGeom prst="rect">
            <a:avLst/>
          </a:prstGeom>
          <a:noFill/>
        </p:spPr>
        <p:txBody>
          <a:bodyPr wrap="square" lIns="0" tIns="0" rIns="0" bIns="0" anchor="t">
            <a:noAutofit/>
          </a:bodyPr>
          <a:lstStyle/>
          <a:p>
            <a:pPr algn="l">
              <a:defRPr sz="1350" b="0">
                <a:solidFill>
                  <a:srgbClr val="071323"/>
                </a:solidFill>
                <a:latin typeface="Arial"/>
                <a:ea typeface="Arial"/>
                <a:cs typeface="Arial"/>
              </a:defRPr>
            </a:pPr>
            <a:r>
              <a:rPr sz="1350" b="0">
                <a:solidFill>
                  <a:srgbClr val="071323"/>
                </a:solidFill>
                <a:latin typeface="Arial"/>
                <a:ea typeface="Arial"/>
                <a:cs typeface="Arial"/>
              </a:rPr>
              <a:t>적격 제품 여정 지원</a:t>
            </a:r>
          </a:p>
        </p:txBody>
      </p:sp>
      <p:sp>
        <p:nvSpPr>
          <p:cNvPr id="26" name="Rounded Rectangle 25">
            <a:extLst>
              <a:ext uri="{FF2B5EF4-FFF2-40B4-BE49-F238E27FC236}">
                <a16:creationId xmlns:a16="http://schemas.microsoft.com/office/drawing/2014/main" id="{4D844F47-EE14-4D5F-9DAF-FEE0319A67EE}"/>
              </a:ext>
            </a:extLst>
          </p:cNvPr>
          <p:cNvSpPr>
            <a:spLocks noGrp="1"/>
          </p:cNvSpPr>
          <p:nvPr/>
        </p:nvSpPr>
        <p:spPr>
          <a:xfrm>
            <a:off x="4572000" y="2240280"/>
            <a:ext cx="3383280" cy="3154680"/>
          </a:xfrm>
          <a:prstGeom prst="roundRect">
            <a:avLst/>
          </a:prstGeom>
          <a:solidFill>
            <a:srgbClr val="FFFFFF"/>
          </a:solidFill>
          <a:ln w="12700">
            <a:solidFill>
              <a:srgbClr val="DD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ounded Rectangle 26">
            <a:extLst>
              <a:ext uri="{FF2B5EF4-FFF2-40B4-BE49-F238E27FC236}">
                <a16:creationId xmlns:a16="http://schemas.microsoft.com/office/drawing/2014/main" id="{A7D2FB23-6739-4A65-8718-3D467845A377}"/>
              </a:ext>
            </a:extLst>
          </p:cNvPr>
          <p:cNvSpPr>
            <a:spLocks noGrp="1"/>
          </p:cNvSpPr>
          <p:nvPr/>
        </p:nvSpPr>
        <p:spPr>
          <a:xfrm>
            <a:off x="4782312" y="2468880"/>
            <a:ext cx="1115568" cy="320040"/>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9F64005F-023C-4889-B3D6-FF2DC70E2764}"/>
              </a:ext>
            </a:extLst>
          </p:cNvPr>
          <p:cNvSpPr>
            <a:spLocks noGrp="1"/>
          </p:cNvSpPr>
          <p:nvPr/>
        </p:nvSpPr>
        <p:spPr>
          <a:xfrm>
            <a:off x="4937760" y="2521405"/>
            <a:ext cx="1115568" cy="285750"/>
          </a:xfrm>
          <a:prstGeom prst="rect">
            <a:avLst/>
          </a:prstGeom>
          <a:noFill/>
        </p:spPr>
        <p:txBody>
          <a:bodyPr wrap="square" lIns="0" tIns="0" rIns="0" bIns="0" anchor="t">
            <a:noAutofit/>
          </a:bodyPr>
          <a:lstStyle/>
          <a:p>
            <a:pPr algn="l">
              <a:buNone/>
              <a:defRPr sz="1275" b="1">
                <a:solidFill>
                  <a:srgbClr val="FFFFFF"/>
                </a:solidFill>
                <a:latin typeface="Arial"/>
                <a:ea typeface="Arial"/>
                <a:cs typeface="Arial"/>
              </a:defRPr>
            </a:pPr>
            <a:r>
              <a:rPr sz="1275" b="1" dirty="0">
                <a:solidFill>
                  <a:srgbClr val="FFFFFF"/>
                </a:solidFill>
                <a:latin typeface="Arial"/>
                <a:ea typeface="Arial"/>
                <a:cs typeface="Arial"/>
              </a:rPr>
              <a:t>순서</a:t>
            </a:r>
          </a:p>
        </p:txBody>
      </p:sp>
      <p:sp>
        <p:nvSpPr>
          <p:cNvPr id="29" name="TextBox 28">
            <a:extLst>
              <a:ext uri="{FF2B5EF4-FFF2-40B4-BE49-F238E27FC236}">
                <a16:creationId xmlns:a16="http://schemas.microsoft.com/office/drawing/2014/main" id="{A3F3E051-877A-4A5E-8E7D-95918191D67A}"/>
              </a:ext>
            </a:extLst>
          </p:cNvPr>
          <p:cNvSpPr>
            <a:spLocks noGrp="1"/>
          </p:cNvSpPr>
          <p:nvPr/>
        </p:nvSpPr>
        <p:spPr>
          <a:xfrm>
            <a:off x="4800600" y="2907792"/>
            <a:ext cx="2926080" cy="476250"/>
          </a:xfrm>
          <a:prstGeom prst="rect">
            <a:avLst/>
          </a:prstGeom>
          <a:noFill/>
        </p:spPr>
        <p:txBody>
          <a:bodyPr wrap="square" lIns="0" tIns="0" rIns="0" bIns="0" anchor="t">
            <a:noAutofit/>
          </a:bodyPr>
          <a:lstStyle/>
          <a:p>
            <a:pPr algn="l">
              <a:defRPr sz="1725" b="1">
                <a:solidFill>
                  <a:srgbClr val="071323"/>
                </a:solidFill>
                <a:latin typeface="Arial"/>
                <a:ea typeface="Arial"/>
                <a:cs typeface="Arial"/>
              </a:defRPr>
            </a:pPr>
            <a:r>
              <a:rPr sz="1725" b="1">
                <a:solidFill>
                  <a:srgbClr val="071323"/>
                </a:solidFill>
                <a:latin typeface="Arial"/>
                <a:ea typeface="Arial"/>
                <a:cs typeface="Arial"/>
              </a:rPr>
              <a:t>기반에서 활성화까지</a:t>
            </a:r>
          </a:p>
        </p:txBody>
      </p:sp>
      <p:sp>
        <p:nvSpPr>
          <p:cNvPr id="30" name="Oval 29">
            <a:extLst>
              <a:ext uri="{FF2B5EF4-FFF2-40B4-BE49-F238E27FC236}">
                <a16:creationId xmlns:a16="http://schemas.microsoft.com/office/drawing/2014/main" id="{5CF04BAB-E286-4DA6-AE65-789EA3FC1029}"/>
              </a:ext>
            </a:extLst>
          </p:cNvPr>
          <p:cNvSpPr>
            <a:spLocks noGrp="1"/>
          </p:cNvSpPr>
          <p:nvPr/>
        </p:nvSpPr>
        <p:spPr>
          <a:xfrm>
            <a:off x="4828032" y="3474720"/>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28EA496-6415-49BB-BB6D-403637A562C1}"/>
              </a:ext>
            </a:extLst>
          </p:cNvPr>
          <p:cNvSpPr>
            <a:spLocks noGrp="1"/>
          </p:cNvSpPr>
          <p:nvPr/>
        </p:nvSpPr>
        <p:spPr>
          <a:xfrm>
            <a:off x="4828032" y="3561588"/>
            <a:ext cx="82296" cy="32918"/>
          </a:xfrm>
          <a:prstGeom prst="rect">
            <a:avLst/>
          </a:prstGeom>
          <a:noFill/>
        </p:spPr>
        <p:txBody>
          <a:bodyPr wrap="square">
            <a:spAutoFit/>
          </a:bodyPr>
          <a:lstStyle/>
          <a:p>
            <a:pPr algn="ctr">
              <a:buNone/>
            </a:pPr>
            <a:endParaRPr/>
          </a:p>
        </p:txBody>
      </p:sp>
      <p:sp>
        <p:nvSpPr>
          <p:cNvPr id="32" name="TextBox 31">
            <a:extLst>
              <a:ext uri="{FF2B5EF4-FFF2-40B4-BE49-F238E27FC236}">
                <a16:creationId xmlns:a16="http://schemas.microsoft.com/office/drawing/2014/main" id="{D6252CBE-62EF-4318-B7AB-23151EE8F75D}"/>
              </a:ext>
            </a:extLst>
          </p:cNvPr>
          <p:cNvSpPr>
            <a:spLocks noGrp="1"/>
          </p:cNvSpPr>
          <p:nvPr/>
        </p:nvSpPr>
        <p:spPr>
          <a:xfrm>
            <a:off x="4992624" y="3429000"/>
            <a:ext cx="2761488" cy="371475"/>
          </a:xfrm>
          <a:prstGeom prst="rect">
            <a:avLst/>
          </a:prstGeom>
          <a:noFill/>
        </p:spPr>
        <p:txBody>
          <a:bodyPr wrap="square" lIns="0" tIns="0" rIns="0" bIns="0" anchor="t">
            <a:noAutofit/>
          </a:bodyPr>
          <a:lstStyle/>
          <a:p>
            <a:pPr algn="l">
              <a:defRPr sz="1350" b="0">
                <a:solidFill>
                  <a:srgbClr val="071323"/>
                </a:solidFill>
                <a:latin typeface="Arial"/>
                <a:ea typeface="Arial"/>
                <a:cs typeface="Arial"/>
              </a:defRPr>
            </a:pPr>
            <a:r>
              <a:rPr sz="1350" b="0">
                <a:solidFill>
                  <a:srgbClr val="071323"/>
                </a:solidFill>
                <a:latin typeface="Arial"/>
                <a:ea typeface="Arial"/>
                <a:cs typeface="Arial"/>
              </a:rPr>
              <a:t>1개월 차: 셋업과 베이스라인</a:t>
            </a:r>
          </a:p>
        </p:txBody>
      </p:sp>
      <p:sp>
        <p:nvSpPr>
          <p:cNvPr id="33" name="Oval 32">
            <a:extLst>
              <a:ext uri="{FF2B5EF4-FFF2-40B4-BE49-F238E27FC236}">
                <a16:creationId xmlns:a16="http://schemas.microsoft.com/office/drawing/2014/main" id="{72E10A25-A307-4986-BC51-AF805CBA80BB}"/>
              </a:ext>
            </a:extLst>
          </p:cNvPr>
          <p:cNvSpPr>
            <a:spLocks noGrp="1"/>
          </p:cNvSpPr>
          <p:nvPr/>
        </p:nvSpPr>
        <p:spPr>
          <a:xfrm>
            <a:off x="4828032" y="3895344"/>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EA1BD075-618F-4059-AA6D-F894799A8AE9}"/>
              </a:ext>
            </a:extLst>
          </p:cNvPr>
          <p:cNvSpPr>
            <a:spLocks noGrp="1"/>
          </p:cNvSpPr>
          <p:nvPr/>
        </p:nvSpPr>
        <p:spPr>
          <a:xfrm>
            <a:off x="4828032" y="3982211"/>
            <a:ext cx="82296" cy="32918"/>
          </a:xfrm>
          <a:prstGeom prst="rect">
            <a:avLst/>
          </a:prstGeom>
          <a:noFill/>
        </p:spPr>
        <p:txBody>
          <a:bodyPr wrap="square">
            <a:spAutoFit/>
          </a:bodyPr>
          <a:lstStyle/>
          <a:p>
            <a:pPr algn="ctr">
              <a:buNone/>
            </a:pPr>
            <a:endParaRPr/>
          </a:p>
        </p:txBody>
      </p:sp>
      <p:sp>
        <p:nvSpPr>
          <p:cNvPr id="35" name="TextBox 34">
            <a:extLst>
              <a:ext uri="{FF2B5EF4-FFF2-40B4-BE49-F238E27FC236}">
                <a16:creationId xmlns:a16="http://schemas.microsoft.com/office/drawing/2014/main" id="{E561AAB0-B7DD-4C43-B89D-52258B013928}"/>
              </a:ext>
            </a:extLst>
          </p:cNvPr>
          <p:cNvSpPr>
            <a:spLocks noGrp="1"/>
          </p:cNvSpPr>
          <p:nvPr/>
        </p:nvSpPr>
        <p:spPr>
          <a:xfrm>
            <a:off x="4992624" y="3849624"/>
            <a:ext cx="2761488" cy="371475"/>
          </a:xfrm>
          <a:prstGeom prst="rect">
            <a:avLst/>
          </a:prstGeom>
          <a:noFill/>
        </p:spPr>
        <p:txBody>
          <a:bodyPr wrap="square" lIns="0" tIns="0" rIns="0" bIns="0" anchor="t">
            <a:noAutofit/>
          </a:bodyPr>
          <a:lstStyle/>
          <a:p>
            <a:pPr algn="l">
              <a:defRPr sz="1350" b="0">
                <a:solidFill>
                  <a:srgbClr val="071323"/>
                </a:solidFill>
                <a:latin typeface="Arial"/>
                <a:ea typeface="Arial"/>
                <a:cs typeface="Arial"/>
              </a:defRPr>
            </a:pPr>
            <a:r>
              <a:rPr sz="1350" b="0">
                <a:solidFill>
                  <a:srgbClr val="071323"/>
                </a:solidFill>
                <a:latin typeface="Arial"/>
                <a:ea typeface="Arial"/>
                <a:cs typeface="Arial"/>
              </a:rPr>
              <a:t>2개월 차: 전문가 주도 교육</a:t>
            </a:r>
          </a:p>
        </p:txBody>
      </p:sp>
      <p:sp>
        <p:nvSpPr>
          <p:cNvPr id="36" name="Oval 35">
            <a:extLst>
              <a:ext uri="{FF2B5EF4-FFF2-40B4-BE49-F238E27FC236}">
                <a16:creationId xmlns:a16="http://schemas.microsoft.com/office/drawing/2014/main" id="{C1EE8CF9-C488-4B5B-BB3D-EED1E10D5A39}"/>
              </a:ext>
            </a:extLst>
          </p:cNvPr>
          <p:cNvSpPr>
            <a:spLocks noGrp="1"/>
          </p:cNvSpPr>
          <p:nvPr/>
        </p:nvSpPr>
        <p:spPr>
          <a:xfrm>
            <a:off x="4828032" y="4315968"/>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604D9A7B-44C0-4BAE-9795-2467CEA0575E}"/>
              </a:ext>
            </a:extLst>
          </p:cNvPr>
          <p:cNvSpPr>
            <a:spLocks noGrp="1"/>
          </p:cNvSpPr>
          <p:nvPr/>
        </p:nvSpPr>
        <p:spPr>
          <a:xfrm>
            <a:off x="4828032" y="4402836"/>
            <a:ext cx="82296" cy="32918"/>
          </a:xfrm>
          <a:prstGeom prst="rect">
            <a:avLst/>
          </a:prstGeom>
          <a:noFill/>
        </p:spPr>
        <p:txBody>
          <a:bodyPr wrap="square">
            <a:spAutoFit/>
          </a:bodyPr>
          <a:lstStyle/>
          <a:p>
            <a:pPr algn="ctr">
              <a:buNone/>
            </a:pPr>
            <a:endParaRPr/>
          </a:p>
        </p:txBody>
      </p:sp>
      <p:sp>
        <p:nvSpPr>
          <p:cNvPr id="38" name="TextBox 37">
            <a:extLst>
              <a:ext uri="{FF2B5EF4-FFF2-40B4-BE49-F238E27FC236}">
                <a16:creationId xmlns:a16="http://schemas.microsoft.com/office/drawing/2014/main" id="{0AB02C09-1FAA-4135-B8A5-E113C7E10861}"/>
              </a:ext>
            </a:extLst>
          </p:cNvPr>
          <p:cNvSpPr>
            <a:spLocks noGrp="1"/>
          </p:cNvSpPr>
          <p:nvPr/>
        </p:nvSpPr>
        <p:spPr>
          <a:xfrm>
            <a:off x="4992624" y="4270248"/>
            <a:ext cx="2761488" cy="371475"/>
          </a:xfrm>
          <a:prstGeom prst="rect">
            <a:avLst/>
          </a:prstGeom>
          <a:noFill/>
        </p:spPr>
        <p:txBody>
          <a:bodyPr wrap="square" lIns="0" tIns="0" rIns="0" bIns="0" anchor="t">
            <a:noAutofit/>
          </a:bodyPr>
          <a:lstStyle/>
          <a:p>
            <a:pPr algn="l">
              <a:defRPr sz="1350" b="0">
                <a:solidFill>
                  <a:srgbClr val="071323"/>
                </a:solidFill>
                <a:latin typeface="Arial"/>
                <a:ea typeface="Arial"/>
                <a:cs typeface="Arial"/>
              </a:defRPr>
            </a:pPr>
            <a:r>
              <a:rPr sz="1350" b="0">
                <a:solidFill>
                  <a:srgbClr val="071323"/>
                </a:solidFill>
                <a:latin typeface="Arial"/>
                <a:ea typeface="Arial"/>
                <a:cs typeface="Arial"/>
              </a:rPr>
              <a:t>3개월 차: 활성화와 리텐션</a:t>
            </a:r>
          </a:p>
        </p:txBody>
      </p:sp>
      <p:sp>
        <p:nvSpPr>
          <p:cNvPr id="39" name="Rounded Rectangle 38">
            <a:extLst>
              <a:ext uri="{FF2B5EF4-FFF2-40B4-BE49-F238E27FC236}">
                <a16:creationId xmlns:a16="http://schemas.microsoft.com/office/drawing/2014/main" id="{31FF845E-DEC5-49ED-A62E-56067D86C188}"/>
              </a:ext>
            </a:extLst>
          </p:cNvPr>
          <p:cNvSpPr>
            <a:spLocks noGrp="1"/>
          </p:cNvSpPr>
          <p:nvPr/>
        </p:nvSpPr>
        <p:spPr>
          <a:xfrm>
            <a:off x="8366760" y="2240280"/>
            <a:ext cx="3383280" cy="3154680"/>
          </a:xfrm>
          <a:prstGeom prst="roundRect">
            <a:avLst/>
          </a:prstGeom>
          <a:solidFill>
            <a:srgbClr val="FFFFFF"/>
          </a:solidFill>
          <a:ln w="12700">
            <a:solidFill>
              <a:srgbClr val="DD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Rounded Rectangle 39">
            <a:extLst>
              <a:ext uri="{FF2B5EF4-FFF2-40B4-BE49-F238E27FC236}">
                <a16:creationId xmlns:a16="http://schemas.microsoft.com/office/drawing/2014/main" id="{55528051-797E-44AD-B7C7-F1A5621E229B}"/>
              </a:ext>
            </a:extLst>
          </p:cNvPr>
          <p:cNvSpPr>
            <a:spLocks noGrp="1"/>
          </p:cNvSpPr>
          <p:nvPr/>
        </p:nvSpPr>
        <p:spPr>
          <a:xfrm>
            <a:off x="8577072" y="2468880"/>
            <a:ext cx="1115568" cy="320040"/>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13E50FB3-2E4F-4D51-AD46-5D4DACD674E3}"/>
              </a:ext>
            </a:extLst>
          </p:cNvPr>
          <p:cNvSpPr>
            <a:spLocks noGrp="1"/>
          </p:cNvSpPr>
          <p:nvPr/>
        </p:nvSpPr>
        <p:spPr>
          <a:xfrm>
            <a:off x="8668512" y="2521405"/>
            <a:ext cx="1115568" cy="285750"/>
          </a:xfrm>
          <a:prstGeom prst="rect">
            <a:avLst/>
          </a:prstGeom>
          <a:noFill/>
        </p:spPr>
        <p:txBody>
          <a:bodyPr wrap="square" lIns="0" tIns="0" rIns="0" bIns="0" anchor="t">
            <a:noAutofit/>
          </a:bodyPr>
          <a:lstStyle/>
          <a:p>
            <a:pPr algn="l">
              <a:buNone/>
              <a:defRPr sz="1275" b="1">
                <a:solidFill>
                  <a:srgbClr val="FFFFFF"/>
                </a:solidFill>
                <a:latin typeface="Arial"/>
                <a:ea typeface="Arial"/>
                <a:cs typeface="Arial"/>
              </a:defRPr>
            </a:pPr>
            <a:r>
              <a:rPr sz="1275" b="1" dirty="0">
                <a:solidFill>
                  <a:srgbClr val="FFFFFF"/>
                </a:solidFill>
                <a:latin typeface="Arial"/>
                <a:ea typeface="Arial"/>
                <a:cs typeface="Arial"/>
              </a:rPr>
              <a:t>투자</a:t>
            </a:r>
          </a:p>
        </p:txBody>
      </p:sp>
      <p:sp>
        <p:nvSpPr>
          <p:cNvPr id="42" name="TextBox 41">
            <a:extLst>
              <a:ext uri="{FF2B5EF4-FFF2-40B4-BE49-F238E27FC236}">
                <a16:creationId xmlns:a16="http://schemas.microsoft.com/office/drawing/2014/main" id="{C547BEA8-B68E-45D3-937A-AA5F1ACC862F}"/>
              </a:ext>
            </a:extLst>
          </p:cNvPr>
          <p:cNvSpPr>
            <a:spLocks noGrp="1"/>
          </p:cNvSpPr>
          <p:nvPr/>
        </p:nvSpPr>
        <p:spPr>
          <a:xfrm>
            <a:off x="8595360" y="2907792"/>
            <a:ext cx="2926080" cy="476250"/>
          </a:xfrm>
          <a:prstGeom prst="rect">
            <a:avLst/>
          </a:prstGeom>
          <a:noFill/>
        </p:spPr>
        <p:txBody>
          <a:bodyPr wrap="square" lIns="0" tIns="0" rIns="0" bIns="0" anchor="t">
            <a:noAutofit/>
          </a:bodyPr>
          <a:lstStyle/>
          <a:p>
            <a:pPr algn="l">
              <a:defRPr sz="1725" b="1">
                <a:solidFill>
                  <a:srgbClr val="071323"/>
                </a:solidFill>
                <a:latin typeface="Arial"/>
                <a:ea typeface="Arial"/>
                <a:cs typeface="Arial"/>
              </a:defRPr>
            </a:pPr>
            <a:r>
              <a:rPr sz="1725" b="1">
                <a:solidFill>
                  <a:srgbClr val="071323"/>
                </a:solidFill>
                <a:latin typeface="Arial"/>
                <a:ea typeface="Arial"/>
                <a:cs typeface="Arial"/>
              </a:rPr>
              <a:t>총 한도 $50,000</a:t>
            </a:r>
          </a:p>
        </p:txBody>
      </p:sp>
      <p:sp>
        <p:nvSpPr>
          <p:cNvPr id="43" name="Oval 42">
            <a:extLst>
              <a:ext uri="{FF2B5EF4-FFF2-40B4-BE49-F238E27FC236}">
                <a16:creationId xmlns:a16="http://schemas.microsoft.com/office/drawing/2014/main" id="{91DE5D1D-9440-470F-B7A4-AEA18E33AE2E}"/>
              </a:ext>
            </a:extLst>
          </p:cNvPr>
          <p:cNvSpPr>
            <a:spLocks noGrp="1"/>
          </p:cNvSpPr>
          <p:nvPr/>
        </p:nvSpPr>
        <p:spPr>
          <a:xfrm>
            <a:off x="8622792" y="3474720"/>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53921EEF-0AE1-446C-BD68-74FC0CE98DF8}"/>
              </a:ext>
            </a:extLst>
          </p:cNvPr>
          <p:cNvSpPr>
            <a:spLocks noGrp="1"/>
          </p:cNvSpPr>
          <p:nvPr/>
        </p:nvSpPr>
        <p:spPr>
          <a:xfrm>
            <a:off x="8622792" y="3561588"/>
            <a:ext cx="82296" cy="32918"/>
          </a:xfrm>
          <a:prstGeom prst="rect">
            <a:avLst/>
          </a:prstGeom>
          <a:noFill/>
        </p:spPr>
        <p:txBody>
          <a:bodyPr wrap="square">
            <a:spAutoFit/>
          </a:bodyPr>
          <a:lstStyle/>
          <a:p>
            <a:pPr algn="ctr">
              <a:buNone/>
            </a:pPr>
            <a:endParaRPr/>
          </a:p>
        </p:txBody>
      </p:sp>
      <p:sp>
        <p:nvSpPr>
          <p:cNvPr id="45" name="TextBox 44">
            <a:extLst>
              <a:ext uri="{FF2B5EF4-FFF2-40B4-BE49-F238E27FC236}">
                <a16:creationId xmlns:a16="http://schemas.microsoft.com/office/drawing/2014/main" id="{D7FFDA5B-5E5A-4378-90E1-173A83F663E2}"/>
              </a:ext>
            </a:extLst>
          </p:cNvPr>
          <p:cNvSpPr>
            <a:spLocks noGrp="1"/>
          </p:cNvSpPr>
          <p:nvPr/>
        </p:nvSpPr>
        <p:spPr>
          <a:xfrm>
            <a:off x="8787384" y="3429000"/>
            <a:ext cx="2761488" cy="371475"/>
          </a:xfrm>
          <a:prstGeom prst="rect">
            <a:avLst/>
          </a:prstGeom>
          <a:noFill/>
        </p:spPr>
        <p:txBody>
          <a:bodyPr wrap="square" lIns="0" tIns="0" rIns="0" bIns="0" anchor="t">
            <a:noAutofit/>
          </a:bodyPr>
          <a:lstStyle/>
          <a:p>
            <a:pPr algn="l">
              <a:defRPr sz="1350" b="0">
                <a:solidFill>
                  <a:srgbClr val="071323"/>
                </a:solidFill>
                <a:latin typeface="Arial"/>
                <a:ea typeface="Arial"/>
                <a:cs typeface="Arial"/>
              </a:defRPr>
            </a:pPr>
            <a:r>
              <a:rPr sz="1350" b="0">
                <a:solidFill>
                  <a:srgbClr val="071323"/>
                </a:solidFill>
                <a:latin typeface="Arial"/>
                <a:ea typeface="Arial"/>
                <a:cs typeface="Arial"/>
              </a:rPr>
              <a:t>기본 실행 $35,000</a:t>
            </a:r>
          </a:p>
        </p:txBody>
      </p:sp>
      <p:sp>
        <p:nvSpPr>
          <p:cNvPr id="46" name="Oval 45">
            <a:extLst>
              <a:ext uri="{FF2B5EF4-FFF2-40B4-BE49-F238E27FC236}">
                <a16:creationId xmlns:a16="http://schemas.microsoft.com/office/drawing/2014/main" id="{71ECF32A-3AC3-43B1-B521-3EB02D23DB99}"/>
              </a:ext>
            </a:extLst>
          </p:cNvPr>
          <p:cNvSpPr>
            <a:spLocks noGrp="1"/>
          </p:cNvSpPr>
          <p:nvPr/>
        </p:nvSpPr>
        <p:spPr>
          <a:xfrm>
            <a:off x="8622792" y="3895344"/>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EE7230AB-3D10-4549-9E83-FDE36345F025}"/>
              </a:ext>
            </a:extLst>
          </p:cNvPr>
          <p:cNvSpPr>
            <a:spLocks noGrp="1"/>
          </p:cNvSpPr>
          <p:nvPr/>
        </p:nvSpPr>
        <p:spPr>
          <a:xfrm>
            <a:off x="8622792" y="3982211"/>
            <a:ext cx="82296" cy="32918"/>
          </a:xfrm>
          <a:prstGeom prst="rect">
            <a:avLst/>
          </a:prstGeom>
          <a:noFill/>
        </p:spPr>
        <p:txBody>
          <a:bodyPr wrap="square">
            <a:spAutoFit/>
          </a:bodyPr>
          <a:lstStyle/>
          <a:p>
            <a:pPr algn="ctr">
              <a:buNone/>
            </a:pPr>
            <a:endParaRPr/>
          </a:p>
        </p:txBody>
      </p:sp>
      <p:sp>
        <p:nvSpPr>
          <p:cNvPr id="48" name="TextBox 47">
            <a:extLst>
              <a:ext uri="{FF2B5EF4-FFF2-40B4-BE49-F238E27FC236}">
                <a16:creationId xmlns:a16="http://schemas.microsoft.com/office/drawing/2014/main" id="{3F6012F1-BC8E-44D4-ADAD-F04DC7331047}"/>
              </a:ext>
            </a:extLst>
          </p:cNvPr>
          <p:cNvSpPr>
            <a:spLocks noGrp="1"/>
          </p:cNvSpPr>
          <p:nvPr/>
        </p:nvSpPr>
        <p:spPr>
          <a:xfrm>
            <a:off x="8787384" y="3849624"/>
            <a:ext cx="2761488" cy="371475"/>
          </a:xfrm>
          <a:prstGeom prst="rect">
            <a:avLst/>
          </a:prstGeom>
          <a:noFill/>
        </p:spPr>
        <p:txBody>
          <a:bodyPr wrap="square" lIns="0" tIns="0" rIns="0" bIns="0" anchor="t">
            <a:noAutofit/>
          </a:bodyPr>
          <a:lstStyle/>
          <a:p>
            <a:pPr algn="l">
              <a:defRPr sz="1350" b="0">
                <a:solidFill>
                  <a:srgbClr val="071323"/>
                </a:solidFill>
                <a:latin typeface="Arial"/>
                <a:ea typeface="Arial"/>
                <a:cs typeface="Arial"/>
              </a:defRPr>
            </a:pPr>
            <a:r>
              <a:rPr sz="1350" b="0">
                <a:solidFill>
                  <a:srgbClr val="071323"/>
                </a:solidFill>
                <a:latin typeface="Arial"/>
                <a:ea typeface="Arial"/>
                <a:cs typeface="Arial"/>
              </a:rPr>
              <a:t>통제형 활성화 풀 $15,000</a:t>
            </a:r>
          </a:p>
        </p:txBody>
      </p:sp>
      <p:sp>
        <p:nvSpPr>
          <p:cNvPr id="49" name="Oval 48">
            <a:extLst>
              <a:ext uri="{FF2B5EF4-FFF2-40B4-BE49-F238E27FC236}">
                <a16:creationId xmlns:a16="http://schemas.microsoft.com/office/drawing/2014/main" id="{519BF68C-4BBB-4E6F-976D-BD95F5E1B998}"/>
              </a:ext>
            </a:extLst>
          </p:cNvPr>
          <p:cNvSpPr>
            <a:spLocks noGrp="1"/>
          </p:cNvSpPr>
          <p:nvPr/>
        </p:nvSpPr>
        <p:spPr>
          <a:xfrm>
            <a:off x="8622792" y="4315968"/>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C0804C0D-5D6E-4225-A382-E7A7FE59D542}"/>
              </a:ext>
            </a:extLst>
          </p:cNvPr>
          <p:cNvSpPr>
            <a:spLocks noGrp="1"/>
          </p:cNvSpPr>
          <p:nvPr/>
        </p:nvSpPr>
        <p:spPr>
          <a:xfrm>
            <a:off x="8622792" y="4402836"/>
            <a:ext cx="82296" cy="32918"/>
          </a:xfrm>
          <a:prstGeom prst="rect">
            <a:avLst/>
          </a:prstGeom>
          <a:noFill/>
        </p:spPr>
        <p:txBody>
          <a:bodyPr wrap="square">
            <a:spAutoFit/>
          </a:bodyPr>
          <a:lstStyle/>
          <a:p>
            <a:pPr algn="ctr">
              <a:buNone/>
            </a:pPr>
            <a:endParaRPr/>
          </a:p>
        </p:txBody>
      </p:sp>
      <p:sp>
        <p:nvSpPr>
          <p:cNvPr id="51" name="TextBox 50">
            <a:extLst>
              <a:ext uri="{FF2B5EF4-FFF2-40B4-BE49-F238E27FC236}">
                <a16:creationId xmlns:a16="http://schemas.microsoft.com/office/drawing/2014/main" id="{4F038CF1-E910-4669-9F92-9107F1E65854}"/>
              </a:ext>
            </a:extLst>
          </p:cNvPr>
          <p:cNvSpPr>
            <a:spLocks noGrp="1"/>
          </p:cNvSpPr>
          <p:nvPr/>
        </p:nvSpPr>
        <p:spPr>
          <a:xfrm>
            <a:off x="8787384" y="4270248"/>
            <a:ext cx="2761488" cy="371475"/>
          </a:xfrm>
          <a:prstGeom prst="rect">
            <a:avLst/>
          </a:prstGeom>
          <a:noFill/>
        </p:spPr>
        <p:txBody>
          <a:bodyPr wrap="square" lIns="0" tIns="0" rIns="0" bIns="0" anchor="t">
            <a:noAutofit/>
          </a:bodyPr>
          <a:lstStyle/>
          <a:p>
            <a:pPr algn="l">
              <a:defRPr sz="1350" b="0">
                <a:solidFill>
                  <a:srgbClr val="071323"/>
                </a:solidFill>
                <a:latin typeface="Arial"/>
                <a:ea typeface="Arial"/>
                <a:cs typeface="Arial"/>
              </a:defRPr>
            </a:pPr>
            <a:r>
              <a:rPr sz="1350" b="0">
                <a:solidFill>
                  <a:srgbClr val="071323"/>
                </a:solidFill>
                <a:latin typeface="Arial"/>
                <a:ea typeface="Arial"/>
                <a:cs typeface="Arial"/>
              </a:rPr>
              <a:t>리저브는 승인 시에만 해제</a:t>
            </a:r>
          </a:p>
        </p:txBody>
      </p:sp>
      <p:sp>
        <p:nvSpPr>
          <p:cNvPr id="52" name="TextBox 51">
            <a:extLst>
              <a:ext uri="{FF2B5EF4-FFF2-40B4-BE49-F238E27FC236}">
                <a16:creationId xmlns:a16="http://schemas.microsoft.com/office/drawing/2014/main" id="{B4667DF9-E047-4F1F-912F-08A4AE8429A8}"/>
              </a:ext>
            </a:extLst>
          </p:cNvPr>
          <p:cNvSpPr>
            <a:spLocks noGrp="1"/>
          </p:cNvSpPr>
          <p:nvPr/>
        </p:nvSpPr>
        <p:spPr>
          <a:xfrm>
            <a:off x="1000125" y="5724525"/>
            <a:ext cx="10144125" cy="495300"/>
          </a:xfrm>
          <a:prstGeom prst="rect">
            <a:avLst/>
          </a:prstGeom>
          <a:noFill/>
        </p:spPr>
        <p:txBody>
          <a:bodyPr wrap="square" lIns="0" tIns="0" rIns="0" bIns="0" anchor="t">
            <a:noAutofit/>
          </a:bodyPr>
          <a:lstStyle/>
          <a:p>
            <a:pPr algn="l">
              <a:buNone/>
              <a:defRPr sz="1425" b="1">
                <a:solidFill>
                  <a:srgbClr val="0B39FF"/>
                </a:solidFill>
                <a:latin typeface="Arial"/>
                <a:ea typeface="Arial"/>
                <a:cs typeface="Arial"/>
              </a:defRPr>
            </a:pPr>
            <a:r>
              <a:rPr sz="1425" b="1">
                <a:solidFill>
                  <a:srgbClr val="0B39FF"/>
                </a:solidFill>
                <a:latin typeface="Arial"/>
                <a:ea typeface="Arial"/>
                <a:cs typeface="Arial"/>
              </a:rPr>
              <a:t>요청 의사결정: 범위·예산 승인, 캠페인 마일스톤·적격성·의사결정 담당자 확정.</a:t>
            </a:r>
          </a:p>
        </p:txBody>
      </p:sp>
    </p:spTree>
    <p:extLst>
      <p:ext uri="{BB962C8B-B14F-4D97-AF65-F5344CB8AC3E}">
        <p14:creationId xmlns:p14="http://schemas.microsoft.com/office/powerpoint/2010/main" val="102927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89F546-BACF-4414-B052-6CE18A52B5F0}"/>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6EBF76DE-DE07-44A6-81C0-082E21521C52}"/>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ADADD08E-270E-4D4E-A42E-DEBCF1206CBC}"/>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62"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4C108909-0F83-45DB-A841-256A8251775B}"/>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C530D2AD-0A37-47E1-ABDF-B90B9C0B8552}"/>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4EE4435F-AA27-4E7B-AF4A-D5D0E139963C}"/>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03</a:t>
            </a:r>
          </a:p>
        </p:txBody>
      </p:sp>
      <p:sp>
        <p:nvSpPr>
          <p:cNvPr id="10" name="TextBox 9">
            <a:extLst>
              <a:ext uri="{FF2B5EF4-FFF2-40B4-BE49-F238E27FC236}">
                <a16:creationId xmlns:a16="http://schemas.microsoft.com/office/drawing/2014/main" id="{74C4092D-BB39-402F-BBCD-9917A78368C2}"/>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한국 기회와 우선 오디언스</a:t>
            </a:r>
          </a:p>
        </p:txBody>
      </p:sp>
      <p:sp>
        <p:nvSpPr>
          <p:cNvPr id="11" name="Rectangle 10">
            <a:extLst>
              <a:ext uri="{FF2B5EF4-FFF2-40B4-BE49-F238E27FC236}">
                <a16:creationId xmlns:a16="http://schemas.microsoft.com/office/drawing/2014/main" id="{0AF6E792-D664-40D9-ACF2-FE4AAF29B622}"/>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subtitle">
            <a:extLst>
              <a:ext uri="{FF2B5EF4-FFF2-40B4-BE49-F238E27FC236}">
                <a16:creationId xmlns:a16="http://schemas.microsoft.com/office/drawing/2014/main" id="{C0A94ED2-DF07-4F80-A8B4-520D42EA9114}"/>
              </a:ext>
            </a:extLst>
          </p:cNvPr>
          <p:cNvSpPr>
            <a:spLocks noGrp="1"/>
          </p:cNvSpPr>
          <p:nvPr/>
        </p:nvSpPr>
        <p:spPr>
          <a:xfrm>
            <a:off x="962025" y="1514475"/>
            <a:ext cx="10163175" cy="476250"/>
          </a:xfrm>
          <a:prstGeom prst="rect">
            <a:avLst/>
          </a:prstGeom>
          <a:noFill/>
          <a:ln w="0">
            <a:noFill/>
          </a:ln>
        </p:spPr>
        <p:txBody>
          <a:bodyPr wrap="square" lIns="0" tIns="0" rIns="0" bIns="0" anchor="t">
            <a:noAutofit/>
          </a:bodyPr>
          <a:lstStyle/>
          <a:p>
            <a:pPr algn="l">
              <a:defRPr sz="1575">
                <a:solidFill>
                  <a:srgbClr val="334155"/>
                </a:solidFill>
                <a:latin typeface="Arial"/>
                <a:ea typeface="Arial"/>
                <a:cs typeface="Arial"/>
              </a:defRPr>
            </a:pPr>
            <a:r>
              <a:rPr sz="1575">
                <a:solidFill>
                  <a:srgbClr val="334155"/>
                </a:solidFill>
                <a:latin typeface="Arial"/>
                <a:ea typeface="Arial"/>
                <a:cs typeface="Arial"/>
              </a:rPr>
              <a:t>한국어 교육과 신뢰할 수 있는 배포가 지속적인 공급자 관심을 만드는지 검증합니다.</a:t>
            </a:r>
          </a:p>
        </p:txBody>
      </p:sp>
      <p:graphicFrame>
        <p:nvGraphicFramePr>
          <p:cNvPr id="69" name="표 68"/>
          <p:cNvGraphicFramePr/>
          <p:nvPr/>
        </p:nvGraphicFramePr>
        <p:xfrm>
          <a:off x="952500" y="2047875"/>
          <a:ext cx="10287000" cy="3076575"/>
        </p:xfrm>
        <a:graphic>
          <a:graphicData uri="http://schemas.openxmlformats.org/drawingml/2006/table">
            <a:tbl>
              <a:tblPr/>
              <a:tblGrid>
                <a:gridCol w="1524000">
                  <a:extLst>
                    <a:ext uri="{9D8B030D-6E8A-4147-A177-3AD203B41FA5}">
                      <a16:colId xmlns:a16="http://schemas.microsoft.com/office/drawing/2014/main" val="20000"/>
                    </a:ext>
                  </a:extLst>
                </a:gridCol>
                <a:gridCol w="3286125">
                  <a:extLst>
                    <a:ext uri="{9D8B030D-6E8A-4147-A177-3AD203B41FA5}">
                      <a16:colId xmlns:a16="http://schemas.microsoft.com/office/drawing/2014/main" val="20001"/>
                    </a:ext>
                  </a:extLst>
                </a:gridCol>
                <a:gridCol w="5476875">
                  <a:extLst>
                    <a:ext uri="{9D8B030D-6E8A-4147-A177-3AD203B41FA5}">
                      <a16:colId xmlns:a16="http://schemas.microsoft.com/office/drawing/2014/main" val="20002"/>
                    </a:ext>
                  </a:extLst>
                </a:gridCol>
              </a:tblGrid>
              <a:tr h="428625">
                <a:tc>
                  <a:txBody>
                    <a:bodyPr/>
                    <a:lstStyle/>
                    <a:p>
                      <a:r>
                        <a:rPr sz="1500" b="1">
                          <a:solidFill>
                            <a:srgbClr val="FFFFFF"/>
                          </a:solidFill>
                          <a:latin typeface="Arial"/>
                          <a:ea typeface="Arial"/>
                          <a:cs typeface="Arial"/>
                        </a:rPr>
                        <a:t>우선순위</a:t>
                      </a:r>
                    </a:p>
                  </a:txBody>
                  <a:tcPr anchor="ctr">
                    <a:solidFill>
                      <a:srgbClr val="0B39FF"/>
                    </a:solidFill>
                  </a:tcPr>
                </a:tc>
                <a:tc>
                  <a:txBody>
                    <a:bodyPr/>
                    <a:lstStyle/>
                    <a:p>
                      <a:r>
                        <a:rPr sz="1500" b="1">
                          <a:solidFill>
                            <a:srgbClr val="FFFFFF"/>
                          </a:solidFill>
                          <a:latin typeface="Arial"/>
                          <a:ea typeface="Arial"/>
                          <a:cs typeface="Arial"/>
                        </a:rPr>
                        <a:t>오디언스</a:t>
                      </a:r>
                    </a:p>
                  </a:txBody>
                  <a:tcPr anchor="ctr">
                    <a:solidFill>
                      <a:srgbClr val="0B39FF"/>
                    </a:solidFill>
                  </a:tcPr>
                </a:tc>
                <a:tc>
                  <a:txBody>
                    <a:bodyPr/>
                    <a:lstStyle/>
                    <a:p>
                      <a:r>
                        <a:rPr sz="1500" b="1">
                          <a:solidFill>
                            <a:srgbClr val="FFFFFF"/>
                          </a:solidFill>
                          <a:latin typeface="Arial"/>
                          <a:ea typeface="Arial"/>
                          <a:cs typeface="Arial"/>
                        </a:rPr>
                        <a:t>핵심 메시지와 다음 단계</a:t>
                      </a:r>
                    </a:p>
                  </a:txBody>
                  <a:tcPr anchor="ctr">
                    <a:solidFill>
                      <a:srgbClr val="0B39FF"/>
                    </a:solidFill>
                  </a:tcPr>
                </a:tc>
                <a:extLst>
                  <a:ext uri="{0D108BD9-81ED-4DB2-BD59-A6C34878D82A}">
                    <a16:rowId xmlns:a16="http://schemas.microsoft.com/office/drawing/2014/main" val="10000"/>
                  </a:ext>
                </a:extLst>
              </a:tr>
              <a:tr h="876300">
                <a:tc>
                  <a:txBody>
                    <a:bodyPr/>
                    <a:lstStyle/>
                    <a:p>
                      <a:r>
                        <a:rPr sz="1500" b="0">
                          <a:solidFill>
                            <a:srgbClr val="334155"/>
                          </a:solidFill>
                          <a:latin typeface="Arial"/>
                          <a:ea typeface="Arial"/>
                          <a:cs typeface="Arial"/>
                        </a:rPr>
                        <a:t>1순위</a:t>
                      </a:r>
                    </a:p>
                  </a:txBody>
                  <a:tcPr anchor="ctr">
                    <a:solidFill>
                      <a:srgbClr val="FFFFFF"/>
                    </a:solidFill>
                  </a:tcPr>
                </a:tc>
                <a:tc>
                  <a:txBody>
                    <a:bodyPr/>
                    <a:lstStyle/>
                    <a:p>
                      <a:r>
                        <a:rPr sz="1500" b="0">
                          <a:solidFill>
                            <a:srgbClr val="334155"/>
                          </a:solidFill>
                          <a:latin typeface="Arial"/>
                          <a:ea typeface="Arial"/>
                          <a:cs typeface="Arial"/>
                        </a:rPr>
                        <a:t>경험 있는 스테이블코인 / DeFi 공급자</a:t>
                      </a:r>
                    </a:p>
                  </a:txBody>
                  <a:tcPr anchor="ctr">
                    <a:solidFill>
                      <a:srgbClr val="FFFFFF"/>
                    </a:solidFill>
                  </a:tcPr>
                </a:tc>
                <a:tc>
                  <a:txBody>
                    <a:bodyPr/>
                    <a:lstStyle/>
                    <a:p>
                      <a:r>
                        <a:rPr sz="1500" b="0">
                          <a:solidFill>
                            <a:srgbClr val="334155"/>
                          </a:solidFill>
                          <a:latin typeface="Arial"/>
                          <a:ea typeface="Arial"/>
                          <a:cs typeface="Arial"/>
                        </a:rPr>
                        <a:t>수익 원천, USD3 vs sUSD3, 출구 조건; 한국어 FAQ로 유도.</a:t>
                      </a:r>
                    </a:p>
                  </a:txBody>
                  <a:tcPr anchor="ctr">
                    <a:solidFill>
                      <a:srgbClr val="FFFFFF"/>
                    </a:solidFill>
                  </a:tcPr>
                </a:tc>
                <a:extLst>
                  <a:ext uri="{0D108BD9-81ED-4DB2-BD59-A6C34878D82A}">
                    <a16:rowId xmlns:a16="http://schemas.microsoft.com/office/drawing/2014/main" val="10001"/>
                  </a:ext>
                </a:extLst>
              </a:tr>
              <a:tr h="876300">
                <a:tc>
                  <a:txBody>
                    <a:bodyPr/>
                    <a:lstStyle/>
                    <a:p>
                      <a:r>
                        <a:rPr sz="1500" b="0">
                          <a:solidFill>
                            <a:srgbClr val="334155"/>
                          </a:solidFill>
                          <a:latin typeface="Arial"/>
                          <a:ea typeface="Arial"/>
                          <a:cs typeface="Arial"/>
                        </a:rPr>
                        <a:t>2순위</a:t>
                      </a:r>
                    </a:p>
                  </a:txBody>
                  <a:tcPr anchor="ctr">
                    <a:solidFill>
                      <a:srgbClr val="F0F5FF"/>
                    </a:solidFill>
                  </a:tcPr>
                </a:tc>
                <a:tc>
                  <a:txBody>
                    <a:bodyPr/>
                    <a:lstStyle/>
                    <a:p>
                      <a:r>
                        <a:rPr sz="1500" b="0">
                          <a:solidFill>
                            <a:srgbClr val="334155"/>
                          </a:solidFill>
                          <a:latin typeface="Arial"/>
                          <a:ea typeface="Arial"/>
                          <a:cs typeface="Arial"/>
                        </a:rPr>
                        <a:t>펀드, 대형 LP, 트레이더, 빌더</a:t>
                      </a:r>
                    </a:p>
                  </a:txBody>
                  <a:tcPr anchor="ctr">
                    <a:solidFill>
                      <a:srgbClr val="F0F5FF"/>
                    </a:solidFill>
                  </a:tcPr>
                </a:tc>
                <a:tc>
                  <a:txBody>
                    <a:bodyPr/>
                    <a:lstStyle/>
                    <a:p>
                      <a:r>
                        <a:rPr sz="1500" b="0">
                          <a:solidFill>
                            <a:srgbClr val="334155"/>
                          </a:solidFill>
                          <a:latin typeface="Arial"/>
                          <a:ea typeface="Arial"/>
                          <a:cs typeface="Arial"/>
                        </a:rPr>
                        <a:t>신용 구조, 리스크 통제, 승인된 팀 주도 토론.</a:t>
                      </a:r>
                    </a:p>
                  </a:txBody>
                  <a:tcPr anchor="ctr">
                    <a:solidFill>
                      <a:srgbClr val="F0F5FF"/>
                    </a:solidFill>
                  </a:tcPr>
                </a:tc>
                <a:extLst>
                  <a:ext uri="{0D108BD9-81ED-4DB2-BD59-A6C34878D82A}">
                    <a16:rowId xmlns:a16="http://schemas.microsoft.com/office/drawing/2014/main" val="10002"/>
                  </a:ext>
                </a:extLst>
              </a:tr>
              <a:tr h="895350">
                <a:tc>
                  <a:txBody>
                    <a:bodyPr/>
                    <a:lstStyle/>
                    <a:p>
                      <a:r>
                        <a:rPr sz="1500" b="0">
                          <a:solidFill>
                            <a:srgbClr val="334155"/>
                          </a:solidFill>
                          <a:latin typeface="Arial"/>
                          <a:ea typeface="Arial"/>
                          <a:cs typeface="Arial"/>
                        </a:rPr>
                        <a:t>인지도</a:t>
                      </a:r>
                    </a:p>
                  </a:txBody>
                  <a:tcPr anchor="ctr">
                    <a:solidFill>
                      <a:srgbClr val="FFFFFF"/>
                    </a:solidFill>
                  </a:tcPr>
                </a:tc>
                <a:tc>
                  <a:txBody>
                    <a:bodyPr/>
                    <a:lstStyle/>
                    <a:p>
                      <a:r>
                        <a:rPr sz="1500" b="0">
                          <a:solidFill>
                            <a:srgbClr val="334155"/>
                          </a:solidFill>
                          <a:latin typeface="Arial"/>
                          <a:ea typeface="Arial"/>
                          <a:cs typeface="Arial"/>
                        </a:rPr>
                        <a:t>더 넓은 Web3·인센티브 관심 사용자</a:t>
                      </a:r>
                    </a:p>
                  </a:txBody>
                  <a:tcPr anchor="ctr">
                    <a:solidFill>
                      <a:srgbClr val="FFFFFF"/>
                    </a:solidFill>
                  </a:tcPr>
                </a:tc>
                <a:tc>
                  <a:txBody>
                    <a:bodyPr/>
                    <a:lstStyle/>
                    <a:p>
                      <a:r>
                        <a:rPr sz="1500" b="0">
                          <a:solidFill>
                            <a:srgbClr val="334155"/>
                          </a:solidFill>
                          <a:latin typeface="Arial"/>
                          <a:ea typeface="Arial"/>
                          <a:cs typeface="Arial"/>
                        </a:rPr>
                        <a:t>교육 우선; 참여 전 적격성과 현행 프로그램 조건 설명.</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6" name="funnel">
            <a:extLst>
              <a:ext uri="{FF2B5EF4-FFF2-40B4-BE49-F238E27FC236}">
                <a16:creationId xmlns:a16="http://schemas.microsoft.com/office/drawing/2014/main" id="{6A2C2167-19E9-4A65-B010-36188935CEE4}"/>
              </a:ext>
            </a:extLst>
          </p:cNvPr>
          <p:cNvSpPr>
            <a:spLocks noGrp="1"/>
          </p:cNvSpPr>
          <p:nvPr/>
        </p:nvSpPr>
        <p:spPr>
          <a:xfrm>
            <a:off x="962025" y="5391150"/>
            <a:ext cx="10239375" cy="533400"/>
          </a:xfrm>
          <a:prstGeom prst="rect">
            <a:avLst/>
          </a:prstGeom>
          <a:noFill/>
          <a:ln w="0">
            <a:noFill/>
          </a:ln>
        </p:spPr>
        <p:txBody>
          <a:bodyPr wrap="square" lIns="0" tIns="0" rIns="0" bIns="0" anchor="t">
            <a:noAutofit/>
          </a:bodyPr>
          <a:lstStyle/>
          <a:p>
            <a:pPr algn="l">
              <a:defRPr sz="1575" b="1">
                <a:solidFill>
                  <a:srgbClr val="0B39FF"/>
                </a:solidFill>
                <a:latin typeface="Arial"/>
                <a:ea typeface="Arial"/>
                <a:cs typeface="Arial"/>
              </a:defRPr>
            </a:pPr>
            <a:r>
              <a:rPr sz="1575" b="1">
                <a:solidFill>
                  <a:srgbClr val="0B39FF"/>
                </a:solidFill>
                <a:latin typeface="Arial"/>
                <a:ea typeface="Arial"/>
                <a:cs typeface="Arial"/>
              </a:rPr>
              <a:t>관련 크리에이터 → 한국어 FAQ·커뮤니티 → 전문가 교육 → 승인·적격 제품 여정</a:t>
            </a:r>
          </a:p>
        </p:txBody>
      </p:sp>
      <p:sp>
        <p:nvSpPr>
          <p:cNvPr id="57" name="scope">
            <a:extLst>
              <a:ext uri="{FF2B5EF4-FFF2-40B4-BE49-F238E27FC236}">
                <a16:creationId xmlns:a16="http://schemas.microsoft.com/office/drawing/2014/main" id="{4BDECEE3-3598-4206-8F2B-ADFB230929D9}"/>
              </a:ext>
            </a:extLst>
          </p:cNvPr>
          <p:cNvSpPr>
            <a:spLocks noGrp="1"/>
          </p:cNvSpPr>
          <p:nvPr/>
        </p:nvSpPr>
        <p:spPr>
          <a:xfrm>
            <a:off x="962025" y="6048375"/>
            <a:ext cx="10239375" cy="2857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시장 진출 가설이며 입증된 수요를 주장하지 않습니다. 차입자 획득은 본 캠페인 범위 밖입니다.</a:t>
            </a:r>
          </a:p>
        </p:txBody>
      </p:sp>
    </p:spTree>
    <p:extLst>
      <p:ext uri="{BB962C8B-B14F-4D97-AF65-F5344CB8AC3E}">
        <p14:creationId xmlns:p14="http://schemas.microsoft.com/office/powerpoint/2010/main" val="102927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89F546-BACF-4414-B052-6CE18A52B5F0}"/>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6EBF76DE-DE07-44A6-81C0-082E21521C52}"/>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ADADD08E-270E-4D4E-A42E-DEBCF1206CBC}"/>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62"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4C108909-0F83-45DB-A841-256A8251775B}"/>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C530D2AD-0A37-47E1-ABDF-B90B9C0B8552}"/>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4EE4435F-AA27-4E7B-AF4A-D5D0E139963C}"/>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04</a:t>
            </a:r>
          </a:p>
        </p:txBody>
      </p:sp>
      <p:sp>
        <p:nvSpPr>
          <p:cNvPr id="10" name="TextBox 9">
            <a:extLst>
              <a:ext uri="{FF2B5EF4-FFF2-40B4-BE49-F238E27FC236}">
                <a16:creationId xmlns:a16="http://schemas.microsoft.com/office/drawing/2014/main" id="{74C4092D-BB39-402F-BBCD-9917A78368C2}"/>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제품 구조, 리스크, 인센티브</a:t>
            </a:r>
          </a:p>
        </p:txBody>
      </p:sp>
      <p:sp>
        <p:nvSpPr>
          <p:cNvPr id="11" name="Rectangle 10">
            <a:extLst>
              <a:ext uri="{FF2B5EF4-FFF2-40B4-BE49-F238E27FC236}">
                <a16:creationId xmlns:a16="http://schemas.microsoft.com/office/drawing/2014/main" id="{0AF6E792-D664-40D9-ACF2-FE4AAF29B622}"/>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subtitle">
            <a:extLst>
              <a:ext uri="{FF2B5EF4-FFF2-40B4-BE49-F238E27FC236}">
                <a16:creationId xmlns:a16="http://schemas.microsoft.com/office/drawing/2014/main" id="{B3F4A1E4-F69D-4C63-B951-E497B55B1534}"/>
              </a:ext>
            </a:extLst>
          </p:cNvPr>
          <p:cNvSpPr>
            <a:spLocks noGrp="1"/>
          </p:cNvSpPr>
          <p:nvPr/>
        </p:nvSpPr>
        <p:spPr>
          <a:xfrm>
            <a:off x="962025" y="1514475"/>
            <a:ext cx="10191750" cy="495300"/>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3Jane은 온체인 공급자와 신용 기반 수익을 연결합니다. 활성화 전에 신용 노출, 손실 배분, 출구를 설명합니다.</a:t>
            </a:r>
          </a:p>
        </p:txBody>
      </p:sp>
      <p:graphicFrame>
        <p:nvGraphicFramePr>
          <p:cNvPr id="69" name="표 68"/>
          <p:cNvGraphicFramePr/>
          <p:nvPr/>
        </p:nvGraphicFramePr>
        <p:xfrm>
          <a:off x="952500" y="2047875"/>
          <a:ext cx="10287000" cy="2400300"/>
        </p:xfrm>
        <a:graphic>
          <a:graphicData uri="http://schemas.openxmlformats.org/drawingml/2006/table">
            <a:tbl>
              <a:tblPr/>
              <a:tblGrid>
                <a:gridCol w="142875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5619750">
                  <a:extLst>
                    <a:ext uri="{9D8B030D-6E8A-4147-A177-3AD203B41FA5}">
                      <a16:colId xmlns:a16="http://schemas.microsoft.com/office/drawing/2014/main" val="20002"/>
                    </a:ext>
                  </a:extLst>
                </a:gridCol>
              </a:tblGrid>
              <a:tr h="419100">
                <a:tc>
                  <a:txBody>
                    <a:bodyPr/>
                    <a:lstStyle/>
                    <a:p>
                      <a:r>
                        <a:rPr sz="1500" b="1">
                          <a:solidFill>
                            <a:srgbClr val="FFFFFF"/>
                          </a:solidFill>
                          <a:latin typeface="Arial"/>
                          <a:ea typeface="Arial"/>
                          <a:cs typeface="Arial"/>
                        </a:rPr>
                        <a:t>제품</a:t>
                      </a:r>
                    </a:p>
                  </a:txBody>
                  <a:tcPr anchor="ctr">
                    <a:solidFill>
                      <a:srgbClr val="0B39FF"/>
                    </a:solidFill>
                  </a:tcPr>
                </a:tc>
                <a:tc>
                  <a:txBody>
                    <a:bodyPr/>
                    <a:lstStyle/>
                    <a:p>
                      <a:r>
                        <a:rPr sz="1500" b="1">
                          <a:solidFill>
                            <a:srgbClr val="FFFFFF"/>
                          </a:solidFill>
                          <a:latin typeface="Arial"/>
                          <a:ea typeface="Arial"/>
                          <a:cs typeface="Arial"/>
                        </a:rPr>
                        <a:t>신용 구조 내 위치</a:t>
                      </a:r>
                    </a:p>
                  </a:txBody>
                  <a:tcPr anchor="ctr">
                    <a:solidFill>
                      <a:srgbClr val="0B39FF"/>
                    </a:solidFill>
                  </a:tcPr>
                </a:tc>
                <a:tc>
                  <a:txBody>
                    <a:bodyPr/>
                    <a:lstStyle/>
                    <a:p>
                      <a:r>
                        <a:rPr sz="1500" b="1">
                          <a:solidFill>
                            <a:srgbClr val="FFFFFF"/>
                          </a:solidFill>
                          <a:latin typeface="Arial"/>
                          <a:ea typeface="Arial"/>
                          <a:cs typeface="Arial"/>
                        </a:rPr>
                        <a:t>필수 커뮤니케이션</a:t>
                      </a:r>
                    </a:p>
                  </a:txBody>
                  <a:tcPr anchor="ctr">
                    <a:solidFill>
                      <a:srgbClr val="0B39FF"/>
                    </a:solidFill>
                  </a:tcPr>
                </a:tc>
                <a:extLst>
                  <a:ext uri="{0D108BD9-81ED-4DB2-BD59-A6C34878D82A}">
                    <a16:rowId xmlns:a16="http://schemas.microsoft.com/office/drawing/2014/main" val="10000"/>
                  </a:ext>
                </a:extLst>
              </a:tr>
              <a:tr h="990600">
                <a:tc>
                  <a:txBody>
                    <a:bodyPr/>
                    <a:lstStyle/>
                    <a:p>
                      <a:r>
                        <a:rPr sz="1500" b="0">
                          <a:solidFill>
                            <a:srgbClr val="334155"/>
                          </a:solidFill>
                          <a:latin typeface="Arial"/>
                          <a:ea typeface="Arial"/>
                          <a:cs typeface="Arial"/>
                        </a:rPr>
                        <a:t>USD3</a:t>
                      </a:r>
                    </a:p>
                  </a:txBody>
                  <a:tcPr anchor="ctr">
                    <a:solidFill>
                      <a:srgbClr val="FFFFFF"/>
                    </a:solidFill>
                  </a:tcPr>
                </a:tc>
                <a:tc>
                  <a:txBody>
                    <a:bodyPr/>
                    <a:lstStyle/>
                    <a:p>
                      <a:r>
                        <a:rPr sz="1500" b="0">
                          <a:solidFill>
                            <a:srgbClr val="334155"/>
                          </a:solidFill>
                          <a:latin typeface="Arial"/>
                          <a:ea typeface="Arial"/>
                          <a:cs typeface="Arial"/>
                        </a:rPr>
                        <a:t>시니어 노출</a:t>
                      </a:r>
                    </a:p>
                  </a:txBody>
                  <a:tcPr anchor="ctr">
                    <a:solidFill>
                      <a:srgbClr val="FFFFFF"/>
                    </a:solidFill>
                  </a:tcPr>
                </a:tc>
                <a:tc>
                  <a:txBody>
                    <a:bodyPr/>
                    <a:lstStyle/>
                    <a:p>
                      <a:r>
                        <a:rPr sz="1500" b="0">
                          <a:solidFill>
                            <a:srgbClr val="334155"/>
                          </a:solidFill>
                          <a:latin typeface="Arial"/>
                          <a:ea typeface="Arial"/>
                          <a:cs typeface="Arial"/>
                        </a:rPr>
                        <a:t>구조적 보호가 원금·수익을 보장하지 않습니다. 상환은 가용 유동성과 현행 조건에 따릅니다.</a:t>
                      </a:r>
                    </a:p>
                  </a:txBody>
                  <a:tcPr anchor="ctr">
                    <a:solidFill>
                      <a:srgbClr val="FFFFFF"/>
                    </a:solidFill>
                  </a:tcPr>
                </a:tc>
                <a:extLst>
                  <a:ext uri="{0D108BD9-81ED-4DB2-BD59-A6C34878D82A}">
                    <a16:rowId xmlns:a16="http://schemas.microsoft.com/office/drawing/2014/main" val="10001"/>
                  </a:ext>
                </a:extLst>
              </a:tr>
              <a:tr h="990600">
                <a:tc>
                  <a:txBody>
                    <a:bodyPr/>
                    <a:lstStyle/>
                    <a:p>
                      <a:r>
                        <a:rPr sz="1500" b="0">
                          <a:solidFill>
                            <a:srgbClr val="334155"/>
                          </a:solidFill>
                          <a:latin typeface="Arial"/>
                          <a:ea typeface="Arial"/>
                          <a:cs typeface="Arial"/>
                        </a:rPr>
                        <a:t>sUSD3</a:t>
                      </a:r>
                    </a:p>
                  </a:txBody>
                  <a:tcPr anchor="ctr">
                    <a:solidFill>
                      <a:srgbClr val="F0F5FF"/>
                    </a:solidFill>
                  </a:tcPr>
                </a:tc>
                <a:tc>
                  <a:txBody>
                    <a:bodyPr/>
                    <a:lstStyle/>
                    <a:p>
                      <a:r>
                        <a:rPr sz="1500" b="0">
                          <a:solidFill>
                            <a:srgbClr val="334155"/>
                          </a:solidFill>
                          <a:latin typeface="Arial"/>
                          <a:ea typeface="Arial"/>
                          <a:cs typeface="Arial"/>
                        </a:rPr>
                        <a:t>주니어·후순위 선손실 노출</a:t>
                      </a:r>
                    </a:p>
                  </a:txBody>
                  <a:tcPr anchor="ctr">
                    <a:solidFill>
                      <a:srgbClr val="F0F5FF"/>
                    </a:solidFill>
                  </a:tcPr>
                </a:tc>
                <a:tc>
                  <a:txBody>
                    <a:bodyPr/>
                    <a:lstStyle/>
                    <a:p>
                      <a:r>
                        <a:rPr sz="1500" b="0">
                          <a:solidFill>
                            <a:srgbClr val="334155"/>
                          </a:solidFill>
                          <a:latin typeface="Arial"/>
                          <a:ea typeface="Arial"/>
                          <a:cs typeface="Arial"/>
                        </a:rPr>
                        <a:t>손실 위험이 더 큰 레버리지 노출. 쿨다운과 현행 출금 조건을 설명합니다.</a:t>
                      </a:r>
                    </a:p>
                  </a:txBody>
                  <a:tcPr anchor="ctr">
                    <a:solidFill>
                      <a:srgbClr val="F0F5FF"/>
                    </a:solidFill>
                  </a:tcPr>
                </a:tc>
                <a:extLst>
                  <a:ext uri="{0D108BD9-81ED-4DB2-BD59-A6C34878D82A}">
                    <a16:rowId xmlns:a16="http://schemas.microsoft.com/office/drawing/2014/main" val="10002"/>
                  </a:ext>
                </a:extLst>
              </a:tr>
            </a:tbl>
          </a:graphicData>
        </a:graphic>
      </p:graphicFrame>
      <p:sp>
        <p:nvSpPr>
          <p:cNvPr id="56" name="shared-risk">
            <a:extLst>
              <a:ext uri="{FF2B5EF4-FFF2-40B4-BE49-F238E27FC236}">
                <a16:creationId xmlns:a16="http://schemas.microsoft.com/office/drawing/2014/main" id="{43386EF6-1FF4-41FC-8780-317DBD34D230}"/>
              </a:ext>
            </a:extLst>
          </p:cNvPr>
          <p:cNvSpPr>
            <a:spLocks noGrp="1"/>
          </p:cNvSpPr>
          <p:nvPr/>
        </p:nvSpPr>
        <p:spPr>
          <a:xfrm>
            <a:off x="962025" y="4686300"/>
            <a:ext cx="10239375" cy="571500"/>
          </a:xfrm>
          <a:prstGeom prst="rect">
            <a:avLst/>
          </a:prstGeom>
          <a:noFill/>
          <a:ln w="0">
            <a:noFill/>
          </a:ln>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공통: 변동 수익; 차입자/디폴트, 풀, 유동성, 스마트컨트랙트 리스크.
날짜·승인된 수익률만 사용. 수익 보장·은행 예금 비유 금지.</a:t>
            </a:r>
          </a:p>
          <a:p>
            <a:pPr algn="l">
              <a:defRPr sz="1500" b="1">
                <a:solidFill>
                  <a:srgbClr val="071323"/>
                </a:solidFill>
                <a:latin typeface="Arial"/>
                <a:ea typeface="Arial"/>
                <a:cs typeface="Arial"/>
              </a:defRPr>
            </a:pPr>
            <a:r>
              <a:rPr sz="1500" b="1">
                <a:solidFill>
                  <a:srgbClr val="071323"/>
                </a:solidFill>
                <a:latin typeface="Arial"/>
                <a:ea typeface="Arial"/>
                <a:cs typeface="Arial"/>
              </a:rPr>
              <a:t/>
            </a:r>
          </a:p>
        </p:txBody>
      </p:sp>
      <p:sp>
        <p:nvSpPr>
          <p:cNvPr id="57" name="incentives">
            <a:extLst>
              <a:ext uri="{FF2B5EF4-FFF2-40B4-BE49-F238E27FC236}">
                <a16:creationId xmlns:a16="http://schemas.microsoft.com/office/drawing/2014/main" id="{1FBD7BE0-91E4-448B-9D38-9D4FACA6C1A0}"/>
              </a:ext>
            </a:extLst>
          </p:cNvPr>
          <p:cNvSpPr>
            <a:spLocks noGrp="1"/>
          </p:cNvSpPr>
          <p:nvPr/>
        </p:nvSpPr>
        <p:spPr>
          <a:xfrm>
            <a:off x="962025" y="5505450"/>
            <a:ext cx="10239375" cy="685800"/>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프로토콜 인센티브는 제공·적격·3Jane 승인된 경우에만. JANE 유동성 마이닝은 공개 정보이나 한국 배분·토큰 가치·양도일·KOL 토큰 보상은 가정하지 않음.</a:t>
            </a:r>
          </a:p>
        </p:txBody>
      </p:sp>
    </p:spTree>
    <p:extLst>
      <p:ext uri="{BB962C8B-B14F-4D97-AF65-F5344CB8AC3E}">
        <p14:creationId xmlns:p14="http://schemas.microsoft.com/office/powerpoint/2010/main" val="102927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89F546-BACF-4414-B052-6CE18A52B5F0}"/>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6EBF76DE-DE07-44A6-81C0-082E21521C52}"/>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ADADD08E-270E-4D4E-A42E-DEBCF1206CBC}"/>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61"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4C108909-0F83-45DB-A841-256A8251775B}"/>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C530D2AD-0A37-47E1-ABDF-B90B9C0B8552}"/>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4EE4435F-AA27-4E7B-AF4A-D5D0E139963C}"/>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05</a:t>
            </a:r>
          </a:p>
        </p:txBody>
      </p:sp>
      <p:sp>
        <p:nvSpPr>
          <p:cNvPr id="10" name="TextBox 9">
            <a:extLst>
              <a:ext uri="{FF2B5EF4-FFF2-40B4-BE49-F238E27FC236}">
                <a16:creationId xmlns:a16="http://schemas.microsoft.com/office/drawing/2014/main" id="{74C4092D-BB39-402F-BBCD-9917A78368C2}"/>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3개월 로드맵</a:t>
            </a:r>
          </a:p>
        </p:txBody>
      </p:sp>
      <p:sp>
        <p:nvSpPr>
          <p:cNvPr id="11" name="Rectangle 10">
            <a:extLst>
              <a:ext uri="{FF2B5EF4-FFF2-40B4-BE49-F238E27FC236}">
                <a16:creationId xmlns:a16="http://schemas.microsoft.com/office/drawing/2014/main" id="{0AF6E792-D664-40D9-ACF2-FE4AAF29B622}"/>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subtitle">
            <a:extLst>
              <a:ext uri="{FF2B5EF4-FFF2-40B4-BE49-F238E27FC236}">
                <a16:creationId xmlns:a16="http://schemas.microsoft.com/office/drawing/2014/main" id="{FC3A2C30-2211-4EDC-8CE3-3983911799A3}"/>
              </a:ext>
            </a:extLst>
          </p:cNvPr>
          <p:cNvSpPr>
            <a:spLocks noGrp="1"/>
          </p:cNvSpPr>
          <p:nvPr/>
        </p:nvSpPr>
        <p:spPr>
          <a:xfrm>
            <a:off x="962025" y="1514475"/>
            <a:ext cx="10191750" cy="428625"/>
          </a:xfrm>
          <a:prstGeom prst="rect">
            <a:avLst/>
          </a:prstGeom>
          <a:noFill/>
          <a:ln w="0">
            <a:noFill/>
          </a:ln>
        </p:spPr>
        <p:txBody>
          <a:bodyPr wrap="square" lIns="0" tIns="0" rIns="0" bIns="0" anchor="t">
            <a:noAutofit/>
          </a:bodyPr>
          <a:lstStyle/>
          <a:p>
            <a:pPr algn="l">
              <a:defRPr sz="1575">
                <a:solidFill>
                  <a:srgbClr val="334155"/>
                </a:solidFill>
                <a:latin typeface="Arial"/>
                <a:ea typeface="Arial"/>
                <a:cs typeface="Arial"/>
              </a:defRPr>
            </a:pPr>
            <a:r>
              <a:rPr sz="1575">
                <a:solidFill>
                  <a:srgbClr val="334155"/>
                </a:solidFill>
                <a:latin typeface="Arial"/>
                <a:ea typeface="Arial"/>
                <a:cs typeface="Arial"/>
              </a:rPr>
              <a:t>학습과 제품 준비도에 맞춰 실행을 배열하고, 첫 2주 후 목표를 재검토합니다.</a:t>
            </a:r>
          </a:p>
        </p:txBody>
      </p:sp>
      <p:graphicFrame>
        <p:nvGraphicFramePr>
          <p:cNvPr id="68" name="표 67"/>
          <p:cNvGraphicFramePr/>
          <p:nvPr/>
        </p:nvGraphicFramePr>
        <p:xfrm>
          <a:off x="952500" y="2047875"/>
          <a:ext cx="10287000" cy="3381375"/>
        </p:xfrm>
        <a:graphic>
          <a:graphicData uri="http://schemas.openxmlformats.org/drawingml/2006/table">
            <a:tbl>
              <a:tblPr/>
              <a:tblGrid>
                <a:gridCol w="142875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gridCol w="2952750">
                  <a:extLst>
                    <a:ext uri="{9D8B030D-6E8A-4147-A177-3AD203B41FA5}">
                      <a16:colId xmlns:a16="http://schemas.microsoft.com/office/drawing/2014/main" val="20003"/>
                    </a:ext>
                  </a:extLst>
                </a:gridCol>
              </a:tblGrid>
              <a:tr h="447675">
                <a:tc>
                  <a:txBody>
                    <a:bodyPr/>
                    <a:lstStyle/>
                    <a:p>
                      <a:r>
                        <a:rPr sz="1425" b="1">
                          <a:solidFill>
                            <a:srgbClr val="FFFFFF"/>
                          </a:solidFill>
                          <a:latin typeface="Arial"/>
                          <a:ea typeface="Arial"/>
                          <a:cs typeface="Arial"/>
                        </a:rPr>
                        <a:t>단계</a:t>
                      </a:r>
                    </a:p>
                  </a:txBody>
                  <a:tcPr anchor="ctr">
                    <a:solidFill>
                      <a:srgbClr val="0B39FF"/>
                    </a:solidFill>
                  </a:tcPr>
                </a:tc>
                <a:tc>
                  <a:txBody>
                    <a:bodyPr/>
                    <a:lstStyle/>
                    <a:p>
                      <a:r>
                        <a:rPr sz="1425" b="1">
                          <a:solidFill>
                            <a:srgbClr val="FFFFFF"/>
                          </a:solidFill>
                          <a:latin typeface="Arial"/>
                          <a:ea typeface="Arial"/>
                          <a:cs typeface="Arial"/>
                        </a:rPr>
                        <a:t>1개월 차 | 기반</a:t>
                      </a:r>
                    </a:p>
                  </a:txBody>
                  <a:tcPr anchor="ctr">
                    <a:solidFill>
                      <a:srgbClr val="0B39FF"/>
                    </a:solidFill>
                  </a:tcPr>
                </a:tc>
                <a:tc>
                  <a:txBody>
                    <a:bodyPr/>
                    <a:lstStyle/>
                    <a:p>
                      <a:r>
                        <a:rPr sz="1425" b="1">
                          <a:solidFill>
                            <a:srgbClr val="FFFFFF"/>
                          </a:solidFill>
                          <a:latin typeface="Arial"/>
                          <a:ea typeface="Arial"/>
                          <a:cs typeface="Arial"/>
                        </a:rPr>
                        <a:t>2개월 차 | 교육</a:t>
                      </a:r>
                    </a:p>
                  </a:txBody>
                  <a:tcPr anchor="ctr">
                    <a:solidFill>
                      <a:srgbClr val="0B39FF"/>
                    </a:solidFill>
                  </a:tcPr>
                </a:tc>
                <a:tc>
                  <a:txBody>
                    <a:bodyPr/>
                    <a:lstStyle/>
                    <a:p>
                      <a:r>
                        <a:rPr sz="1425" b="1">
                          <a:solidFill>
                            <a:srgbClr val="FFFFFF"/>
                          </a:solidFill>
                          <a:latin typeface="Arial"/>
                          <a:ea typeface="Arial"/>
                          <a:cs typeface="Arial"/>
                        </a:rPr>
                        <a:t>3개월 차 | 활성화</a:t>
                      </a:r>
                    </a:p>
                  </a:txBody>
                  <a:tcPr anchor="ctr">
                    <a:solidFill>
                      <a:srgbClr val="0B39FF"/>
                    </a:solidFill>
                  </a:tcPr>
                </a:tc>
                <a:extLst>
                  <a:ext uri="{0D108BD9-81ED-4DB2-BD59-A6C34878D82A}">
                    <a16:rowId xmlns:a16="http://schemas.microsoft.com/office/drawing/2014/main" val="10000"/>
                  </a:ext>
                </a:extLst>
              </a:tr>
              <a:tr h="1733550">
                <a:tc>
                  <a:txBody>
                    <a:bodyPr/>
                    <a:lstStyle/>
                    <a:p>
                      <a:r>
                        <a:rPr sz="1425" b="0">
                          <a:solidFill>
                            <a:srgbClr val="334155"/>
                          </a:solidFill>
                          <a:latin typeface="Arial"/>
                          <a:ea typeface="Arial"/>
                          <a:cs typeface="Arial"/>
                        </a:rPr>
                        <a:t>실행</a:t>
                      </a:r>
                    </a:p>
                  </a:txBody>
                  <a:tcPr anchor="ctr">
                    <a:solidFill>
                      <a:srgbClr val="FFFFFF"/>
                    </a:solidFill>
                  </a:tcPr>
                </a:tc>
                <a:tc>
                  <a:txBody>
                    <a:bodyPr/>
                    <a:lstStyle/>
                    <a:p>
                      <a:r>
                        <a:rPr sz="1425" b="0">
                          <a:solidFill>
                            <a:srgbClr val="334155"/>
                          </a:solidFill>
                          <a:latin typeface="Arial"/>
                          <a:ea typeface="Arial"/>
                          <a:cs typeface="Arial"/>
                        </a:rPr>
                        <a:t>공식 Telegram + FAQ
승인된 제품/리스크 카피
트래킹 베이스라인
보도 + 첫 KOL 웨이브</a:t>
                      </a:r>
                    </a:p>
                    <a:p>
                      <a:r>
                        <a:rPr sz="1425" b="0">
                          <a:solidFill>
                            <a:srgbClr val="334155"/>
                          </a:solidFill>
                          <a:latin typeface="Arial"/>
                          <a:ea typeface="Arial"/>
                          <a:cs typeface="Arial"/>
                        </a:rPr>
                        <a:t/>
                      </a:r>
                    </a:p>
                    <a:p>
                      <a:r>
                        <a:rPr sz="1425" b="0">
                          <a:solidFill>
                            <a:srgbClr val="334155"/>
                          </a:solidFill>
                          <a:latin typeface="Arial"/>
                          <a:ea typeface="Arial"/>
                          <a:cs typeface="Arial"/>
                        </a:rPr>
                        <a:t/>
                      </a:r>
                    </a:p>
                    <a:p>
                      <a:r>
                        <a:rPr sz="1425" b="0">
                          <a:solidFill>
                            <a:srgbClr val="334155"/>
                          </a:solidFill>
                          <a:latin typeface="Arial"/>
                          <a:ea typeface="Arial"/>
                          <a:cs typeface="Arial"/>
                        </a:rPr>
                        <a:t/>
                      </a:r>
                    </a:p>
                  </a:txBody>
                  <a:tcPr anchor="ctr">
                    <a:solidFill>
                      <a:srgbClr val="FFFFFF"/>
                    </a:solidFill>
                  </a:tcPr>
                </a:tc>
                <a:tc>
                  <a:txBody>
                    <a:bodyPr/>
                    <a:lstStyle/>
                    <a:p>
                      <a:r>
                        <a:rPr sz="1425" b="0">
                          <a:solidFill>
                            <a:srgbClr val="334155"/>
                          </a:solidFill>
                          <a:latin typeface="Arial"/>
                          <a:ea typeface="Arial"/>
                          <a:cs typeface="Arial"/>
                        </a:rPr>
                        <a:t>AMA 2회 + 한국어 요약
UGC 프로그램 (2–4주)
피처 인터뷰
두 번째 KOL 웨이브</a:t>
                      </a:r>
                    </a:p>
                    <a:p>
                      <a:r>
                        <a:rPr sz="1425" b="0">
                          <a:solidFill>
                            <a:srgbClr val="334155"/>
                          </a:solidFill>
                          <a:latin typeface="Arial"/>
                          <a:ea typeface="Arial"/>
                          <a:cs typeface="Arial"/>
                        </a:rPr>
                        <a:t/>
                      </a:r>
                    </a:p>
                    <a:p>
                      <a:r>
                        <a:rPr sz="1425" b="0">
                          <a:solidFill>
                            <a:srgbClr val="334155"/>
                          </a:solidFill>
                          <a:latin typeface="Arial"/>
                          <a:ea typeface="Arial"/>
                          <a:cs typeface="Arial"/>
                        </a:rPr>
                        <a:t/>
                      </a:r>
                    </a:p>
                    <a:p>
                      <a:r>
                        <a:rPr sz="1425" b="0">
                          <a:solidFill>
                            <a:srgbClr val="334155"/>
                          </a:solidFill>
                          <a:latin typeface="Arial"/>
                          <a:ea typeface="Arial"/>
                          <a:cs typeface="Arial"/>
                        </a:rPr>
                        <a:t/>
                      </a:r>
                    </a:p>
                  </a:txBody>
                  <a:tcPr anchor="ctr">
                    <a:solidFill>
                      <a:srgbClr val="FFFFFF"/>
                    </a:solidFill>
                  </a:tcPr>
                </a:tc>
                <a:tc>
                  <a:txBody>
                    <a:bodyPr/>
                    <a:lstStyle/>
                    <a:p>
                      <a:r>
                        <a:rPr sz="1425" b="0">
                          <a:solidFill>
                            <a:srgbClr val="334155"/>
                          </a:solidFill>
                          <a:latin typeface="Arial"/>
                          <a:ea typeface="Arial"/>
                          <a:cs typeface="Arial"/>
                        </a:rPr>
                        <a:t>밋업 또는 디너
영상 출연
검증된 콘텐츠 증폭
동의한 리드 후속</a:t>
                      </a:r>
                    </a:p>
                    <a:p>
                      <a:r>
                        <a:rPr sz="1425" b="0">
                          <a:solidFill>
                            <a:srgbClr val="334155"/>
                          </a:solidFill>
                          <a:latin typeface="Arial"/>
                          <a:ea typeface="Arial"/>
                          <a:cs typeface="Arial"/>
                        </a:rPr>
                        <a:t/>
                      </a:r>
                    </a:p>
                    <a:p>
                      <a:r>
                        <a:rPr sz="1425" b="0">
                          <a:solidFill>
                            <a:srgbClr val="334155"/>
                          </a:solidFill>
                          <a:latin typeface="Arial"/>
                          <a:ea typeface="Arial"/>
                          <a:cs typeface="Arial"/>
                        </a:rPr>
                        <a:t/>
                      </a:r>
                    </a:p>
                    <a:p>
                      <a:r>
                        <a:rPr sz="1425" b="0">
                          <a:solidFill>
                            <a:srgbClr val="334155"/>
                          </a:solidFill>
                          <a:latin typeface="Arial"/>
                          <a:ea typeface="Arial"/>
                          <a:cs typeface="Arial"/>
                        </a:rPr>
                        <a:t/>
                      </a:r>
                    </a:p>
                  </a:txBody>
                  <a:tcPr anchor="ctr">
                    <a:solidFill>
                      <a:srgbClr val="FFFFFF"/>
                    </a:solidFill>
                  </a:tcPr>
                </a:tc>
                <a:extLst>
                  <a:ext uri="{0D108BD9-81ED-4DB2-BD59-A6C34878D82A}">
                    <a16:rowId xmlns:a16="http://schemas.microsoft.com/office/drawing/2014/main" val="10001"/>
                  </a:ext>
                </a:extLst>
              </a:tr>
              <a:tr h="1200150">
                <a:tc>
                  <a:txBody>
                    <a:bodyPr/>
                    <a:lstStyle/>
                    <a:p>
                      <a:r>
                        <a:rPr sz="1425" b="0">
                          <a:solidFill>
                            <a:srgbClr val="334155"/>
                          </a:solidFill>
                          <a:latin typeface="Arial"/>
                          <a:ea typeface="Arial"/>
                          <a:cs typeface="Arial"/>
                        </a:rPr>
                        <a:t>의사결정 게이트</a:t>
                      </a:r>
                    </a:p>
                  </a:txBody>
                  <a:tcPr anchor="ctr">
                    <a:solidFill>
                      <a:srgbClr val="F0F5FF"/>
                    </a:solidFill>
                  </a:tcPr>
                </a:tc>
                <a:tc>
                  <a:txBody>
                    <a:bodyPr/>
                    <a:lstStyle/>
                    <a:p>
                      <a:r>
                        <a:rPr sz="1425" b="0">
                          <a:solidFill>
                            <a:srgbClr val="334155"/>
                          </a:solidFill>
                          <a:latin typeface="Arial"/>
                          <a:ea typeface="Arial"/>
                          <a:cs typeface="Arial"/>
                        </a:rPr>
                        <a:t>2주 후 베이스라인 확정 및 기획 목표 재설정.</a:t>
                      </a:r>
                    </a:p>
                  </a:txBody>
                  <a:tcPr anchor="ctr">
                    <a:solidFill>
                      <a:srgbClr val="F0F5FF"/>
                    </a:solidFill>
                  </a:tcPr>
                </a:tc>
                <a:tc>
                  <a:txBody>
                    <a:bodyPr/>
                    <a:lstStyle/>
                    <a:p>
                      <a:r>
                        <a:rPr sz="1425" b="0">
                          <a:solidFill>
                            <a:srgbClr val="334155"/>
                          </a:solidFill>
                          <a:latin typeface="Arial"/>
                          <a:ea typeface="Arial"/>
                          <a:cs typeface="Arial"/>
                        </a:rPr>
                        <a:t>채널 품질, 콘텐츠 정확성, 적격 행동당 비용 검토.</a:t>
                      </a:r>
                    </a:p>
                  </a:txBody>
                  <a:tcPr anchor="ctr">
                    <a:solidFill>
                      <a:srgbClr val="F0F5FF"/>
                    </a:solidFill>
                  </a:tcPr>
                </a:tc>
                <a:tc>
                  <a:txBody>
                    <a:bodyPr/>
                    <a:lstStyle/>
                    <a:p>
                      <a:r>
                        <a:rPr sz="1425" b="0">
                          <a:solidFill>
                            <a:srgbClr val="334155"/>
                          </a:solidFill>
                          <a:latin typeface="Arial"/>
                          <a:ea typeface="Arial"/>
                          <a:cs typeface="Arial"/>
                        </a:rPr>
                        <a:t>준비된 경우에만 적격 제품 여정 활성화; 지속 계획 합의.</a:t>
                      </a:r>
                    </a:p>
                  </a:txBody>
                  <a:tcPr anchor="ctr">
                    <a:solidFill>
                      <a:srgbClr val="F0F5FF"/>
                    </a:solidFill>
                  </a:tcPr>
                </a:tc>
                <a:extLst>
                  <a:ext uri="{0D108BD9-81ED-4DB2-BD59-A6C34878D82A}">
                    <a16:rowId xmlns:a16="http://schemas.microsoft.com/office/drawing/2014/main" val="10002"/>
                  </a:ext>
                </a:extLst>
              </a:tr>
            </a:tbl>
          </a:graphicData>
        </a:graphic>
      </p:graphicFrame>
      <p:sp>
        <p:nvSpPr>
          <p:cNvPr id="56" name="cadence">
            <a:extLst>
              <a:ext uri="{FF2B5EF4-FFF2-40B4-BE49-F238E27FC236}">
                <a16:creationId xmlns:a16="http://schemas.microsoft.com/office/drawing/2014/main" id="{96278C07-E605-4DA6-A26F-3CEF73510240}"/>
              </a:ext>
            </a:extLst>
          </p:cNvPr>
          <p:cNvSpPr>
            <a:spLocks noGrp="1"/>
          </p:cNvSpPr>
          <p:nvPr/>
        </p:nvSpPr>
        <p:spPr>
          <a:xfrm>
            <a:off x="962025" y="5724525"/>
            <a:ext cx="10191750" cy="523875"/>
          </a:xfrm>
          <a:prstGeom prst="rect">
            <a:avLst/>
          </a:prstGeom>
          <a:noFill/>
          <a:ln w="0">
            <a:noFill/>
          </a:ln>
        </p:spPr>
        <p:txBody>
          <a:bodyPr wrap="square" lIns="0" tIns="0" rIns="0" bIns="0" anchor="t">
            <a:noAutofit/>
          </a:bodyPr>
          <a:lstStyle/>
          <a:p>
            <a:pPr algn="l">
              <a:defRPr sz="1500" b="1">
                <a:solidFill>
                  <a:srgbClr val="0B39FF"/>
                </a:solidFill>
                <a:latin typeface="Arial"/>
                <a:ea typeface="Arial"/>
                <a:cs typeface="Arial"/>
              </a:defRPr>
            </a:pPr>
            <a:r>
              <a:rPr sz="1500" b="1">
                <a:solidFill>
                  <a:srgbClr val="0B39FF"/>
                </a:solidFill>
                <a:latin typeface="Arial"/>
                <a:ea typeface="Arial"/>
                <a:cs typeface="Arial"/>
              </a:rPr>
              <a:t>주간 대시보드  •  격주 최적화  •  월간 리뷰
캠페인 종료 후 영업일 10일 이내 최종 보고서</a:t>
            </a:r>
          </a:p>
          <a:p>
            <a:pPr algn="l">
              <a:defRPr sz="1500" b="1">
                <a:solidFill>
                  <a:srgbClr val="0B39FF"/>
                </a:solidFill>
                <a:latin typeface="Arial"/>
                <a:ea typeface="Arial"/>
                <a:cs typeface="Arial"/>
              </a:defRPr>
            </a:pPr>
            <a:r>
              <a:rPr sz="1500" b="1">
                <a:solidFill>
                  <a:srgbClr val="0B39FF"/>
                </a:solidFill>
                <a:latin typeface="Arial"/>
                <a:ea typeface="Arial"/>
                <a:cs typeface="Arial"/>
              </a:rPr>
              <a:t/>
            </a:r>
          </a:p>
        </p:txBody>
      </p:sp>
    </p:spTree>
    <p:extLst>
      <p:ext uri="{BB962C8B-B14F-4D97-AF65-F5344CB8AC3E}">
        <p14:creationId xmlns:p14="http://schemas.microsoft.com/office/powerpoint/2010/main" val="102927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4FECE8-FDF4-4F0B-9720-61D86E049264}"/>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149F04FB-7B3F-462A-82C6-5F6942DAFFAA}"/>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D8CE367A-FBDA-4939-8051-571EADEDC6D4}"/>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3"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75760D8D-A8BD-487B-B466-09E3201928F2}"/>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9BC2BA49-FE12-40AF-BB11-172B3359CA5E}"/>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212805B9-FD47-4B33-B276-F2F2E02D7A7B}"/>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06</a:t>
            </a:r>
          </a:p>
        </p:txBody>
      </p:sp>
      <p:sp>
        <p:nvSpPr>
          <p:cNvPr id="10" name="TextBox 9">
            <a:extLst>
              <a:ext uri="{FF2B5EF4-FFF2-40B4-BE49-F238E27FC236}">
                <a16:creationId xmlns:a16="http://schemas.microsoft.com/office/drawing/2014/main" id="{E5392B42-CE63-43DC-9877-65B52580C919}"/>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dirty="0">
                <a:solidFill>
                  <a:srgbClr val="071323"/>
                </a:solidFill>
                <a:latin typeface="Arial"/>
                <a:ea typeface="Arial"/>
                <a:cs typeface="Arial"/>
              </a:rPr>
              <a:t>01. Telegram 커뮤니티 기반 | $4,000</a:t>
            </a:r>
            <a:r>
              <a:rPr lang="en-US" sz="2400" b="1" dirty="0">
                <a:solidFill>
                  <a:srgbClr val="071323"/>
                </a:solidFill>
                <a:latin typeface="Arial"/>
                <a:ea typeface="Arial"/>
                <a:cs typeface="Arial"/>
              </a:rPr>
              <a:t/>
            </a:r>
            <a:r>
              <a:rPr lang="en-US" altLang="ko-KR" sz="2400" b="1" dirty="0">
                <a:solidFill>
                  <a:srgbClr val="071323"/>
                </a:solidFill>
                <a:latin typeface="Arial"/>
                <a:ea typeface="Arial"/>
                <a:cs typeface="Arial"/>
              </a:rPr>
              <a:t/>
            </a:r>
            <a:r>
              <a:rPr lang="ko-KR" altLang="en-US" sz="2400" b="1" dirty="0">
                <a:solidFill>
                  <a:srgbClr val="071323"/>
                </a:solidFill>
                <a:latin typeface="Arial"/>
                <a:ea typeface="Arial"/>
                <a:cs typeface="Arial"/>
              </a:rPr>
              <a:t/>
            </a:r>
            <a:r>
              <a:rPr sz="2400" b="1" dirty="0">
                <a:solidFill>
                  <a:srgbClr val="071323"/>
                </a:solidFill>
                <a:latin typeface="Arial"/>
                <a:ea typeface="Arial"/>
                <a:cs typeface="Arial"/>
              </a:rPr>
              <a:t/>
            </a:r>
          </a:p>
        </p:txBody>
      </p:sp>
      <p:sp>
        <p:nvSpPr>
          <p:cNvPr id="11" name="Rectangle 10">
            <a:extLst>
              <a:ext uri="{FF2B5EF4-FFF2-40B4-BE49-F238E27FC236}">
                <a16:creationId xmlns:a16="http://schemas.microsoft.com/office/drawing/2014/main" id="{D26A9B8F-365E-4655-970A-AAEBE79DA220}"/>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3AF15A7-A4FD-453F-BD60-39B0C3EBDCED}"/>
              </a:ext>
            </a:extLst>
          </p:cNvPr>
          <p:cNvSpPr>
            <a:spLocks noGrp="1"/>
          </p:cNvSpPr>
          <p:nvPr/>
        </p:nvSpPr>
        <p:spPr>
          <a:xfrm>
            <a:off x="1005840" y="1481328"/>
            <a:ext cx="10149840" cy="475488"/>
          </a:xfrm>
          <a:prstGeom prst="rect">
            <a:avLst/>
          </a:prstGeom>
          <a:noFill/>
        </p:spPr>
        <p:txBody>
          <a:bodyPr wrap="square" lIns="0" tIns="0" rIns="0" bIns="0" anchor="t">
            <a:noAutofit/>
          </a:bodyPr>
          <a:lstStyle/>
          <a:p>
            <a:pPr algn="l">
              <a:lnSpc>
                <a:spcPct val="110000"/>
              </a:lnSpc>
              <a:buNone/>
              <a:defRPr sz="1575">
                <a:solidFill>
                  <a:srgbClr val="334155"/>
                </a:solidFill>
                <a:latin typeface="Arial"/>
                <a:ea typeface="Arial"/>
                <a:cs typeface="Arial"/>
              </a:defRPr>
            </a:pPr>
            <a:r>
              <a:rPr sz="1575" b="0">
                <a:solidFill>
                  <a:srgbClr val="334155"/>
                </a:solidFill>
                <a:latin typeface="Arial"/>
                <a:ea typeface="Arial"/>
                <a:cs typeface="Arial"/>
              </a:rPr>
              <a:t>온보딩·교육·모더레이션을 지원하는 공식 한국어 공지·채팅 채널을 개설합니다.</a:t>
            </a:r>
          </a:p>
        </p:txBody>
      </p:sp>
      <p:sp>
        <p:nvSpPr>
          <p:cNvPr id="13" name="Rounded Rectangle 12">
            <a:extLst>
              <a:ext uri="{FF2B5EF4-FFF2-40B4-BE49-F238E27FC236}">
                <a16:creationId xmlns:a16="http://schemas.microsoft.com/office/drawing/2014/main" id="{1A7CBF10-694B-490A-9335-346591F180E5}"/>
              </a:ext>
            </a:extLst>
          </p:cNvPr>
          <p:cNvSpPr>
            <a:spLocks noGrp="1"/>
          </p:cNvSpPr>
          <p:nvPr/>
        </p:nvSpPr>
        <p:spPr>
          <a:xfrm>
            <a:off x="914400" y="2176272"/>
            <a:ext cx="1508760" cy="320040"/>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FC3C7B11-E1E4-4B52-922B-78B902673088}"/>
              </a:ext>
            </a:extLst>
          </p:cNvPr>
          <p:cNvSpPr>
            <a:spLocks noGrp="1"/>
          </p:cNvSpPr>
          <p:nvPr/>
        </p:nvSpPr>
        <p:spPr>
          <a:xfrm>
            <a:off x="914400" y="2217420"/>
            <a:ext cx="1508760" cy="274320"/>
          </a:xfrm>
          <a:prstGeom prst="rect">
            <a:avLst/>
          </a:prstGeom>
          <a:noFill/>
        </p:spPr>
        <p:txBody>
          <a:bodyPr wrap="square">
            <a:spAutoFit/>
          </a:bodyPr>
          <a:lstStyle/>
          <a:p>
            <a:pPr algn="ctr">
              <a:buNone/>
            </a:pPr>
            <a:r>
              <a:rPr sz="1200" b="1">
                <a:solidFill>
                  <a:srgbClr val="FFFFFF"/>
                </a:solidFill>
                <a:latin typeface="Arial"/>
                <a:ea typeface="Arial"/>
                <a:cs typeface="Arial"/>
              </a:rPr>
              <a:t>실행 범위</a:t>
            </a:r>
          </a:p>
        </p:txBody>
      </p:sp>
      <p:sp>
        <p:nvSpPr>
          <p:cNvPr id="15" name="Rounded Rectangle 14">
            <a:extLst>
              <a:ext uri="{FF2B5EF4-FFF2-40B4-BE49-F238E27FC236}">
                <a16:creationId xmlns:a16="http://schemas.microsoft.com/office/drawing/2014/main" id="{0C097ACF-41AD-4BD5-840B-8F303A4E8290}"/>
              </a:ext>
            </a:extLst>
          </p:cNvPr>
          <p:cNvSpPr>
            <a:spLocks noGrp="1"/>
          </p:cNvSpPr>
          <p:nvPr/>
        </p:nvSpPr>
        <p:spPr>
          <a:xfrm>
            <a:off x="914400" y="2697480"/>
            <a:ext cx="4892040" cy="1005840"/>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Oval 15">
            <a:extLst>
              <a:ext uri="{FF2B5EF4-FFF2-40B4-BE49-F238E27FC236}">
                <a16:creationId xmlns:a16="http://schemas.microsoft.com/office/drawing/2014/main" id="{C0837C33-4413-45F7-97C0-907390EB2334}"/>
              </a:ext>
            </a:extLst>
          </p:cNvPr>
          <p:cNvSpPr>
            <a:spLocks noGrp="1"/>
          </p:cNvSpPr>
          <p:nvPr/>
        </p:nvSpPr>
        <p:spPr>
          <a:xfrm>
            <a:off x="1078992" y="286207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E2EEE60-EF62-422B-98C1-493C2DCB46B0}"/>
              </a:ext>
            </a:extLst>
          </p:cNvPr>
          <p:cNvSpPr>
            <a:spLocks noGrp="1"/>
          </p:cNvSpPr>
          <p:nvPr/>
        </p:nvSpPr>
        <p:spPr>
          <a:xfrm>
            <a:off x="1078992" y="288226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TG</a:t>
            </a:r>
          </a:p>
        </p:txBody>
      </p:sp>
      <p:sp>
        <p:nvSpPr>
          <p:cNvPr id="18" name="TextBox 17">
            <a:extLst>
              <a:ext uri="{FF2B5EF4-FFF2-40B4-BE49-F238E27FC236}">
                <a16:creationId xmlns:a16="http://schemas.microsoft.com/office/drawing/2014/main" id="{4E9FAB12-BD75-4BE5-9E07-68EAB4ED7066}"/>
              </a:ext>
            </a:extLst>
          </p:cNvPr>
          <p:cNvSpPr>
            <a:spLocks noGrp="1"/>
          </p:cNvSpPr>
          <p:nvPr/>
        </p:nvSpPr>
        <p:spPr>
          <a:xfrm>
            <a:off x="1572768" y="2843784"/>
            <a:ext cx="408736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dirty="0">
                <a:solidFill>
                  <a:srgbClr val="071323"/>
                </a:solidFill>
                <a:latin typeface="Arial"/>
                <a:ea typeface="Arial"/>
                <a:cs typeface="Arial"/>
              </a:rPr>
              <a:t>공식 채널 2개 론칭</a:t>
            </a:r>
          </a:p>
        </p:txBody>
      </p:sp>
      <p:sp>
        <p:nvSpPr>
          <p:cNvPr id="19" name="TextBox 18">
            <a:extLst>
              <a:ext uri="{FF2B5EF4-FFF2-40B4-BE49-F238E27FC236}">
                <a16:creationId xmlns:a16="http://schemas.microsoft.com/office/drawing/2014/main" id="{3BF17814-E152-427F-8647-71493A1FD07E}"/>
              </a:ext>
            </a:extLst>
          </p:cNvPr>
          <p:cNvSpPr>
            <a:spLocks noGrp="1"/>
          </p:cNvSpPr>
          <p:nvPr/>
        </p:nvSpPr>
        <p:spPr>
          <a:xfrm>
            <a:off x="1572768" y="3136392"/>
            <a:ext cx="4087368" cy="493776"/>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명확한 규칙, 고정 온보딩, 캠페인 캘린더가 있는 공지·채팅 채널.</a:t>
            </a:r>
          </a:p>
        </p:txBody>
      </p:sp>
      <p:sp>
        <p:nvSpPr>
          <p:cNvPr id="20" name="Rounded Rectangle 19">
            <a:extLst>
              <a:ext uri="{FF2B5EF4-FFF2-40B4-BE49-F238E27FC236}">
                <a16:creationId xmlns:a16="http://schemas.microsoft.com/office/drawing/2014/main" id="{6B93F7B2-9074-4A54-8D05-428FE2F97F95}"/>
              </a:ext>
            </a:extLst>
          </p:cNvPr>
          <p:cNvSpPr>
            <a:spLocks noGrp="1"/>
          </p:cNvSpPr>
          <p:nvPr/>
        </p:nvSpPr>
        <p:spPr>
          <a:xfrm>
            <a:off x="6172200" y="2697480"/>
            <a:ext cx="4892040" cy="1005840"/>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Oval 20">
            <a:extLst>
              <a:ext uri="{FF2B5EF4-FFF2-40B4-BE49-F238E27FC236}">
                <a16:creationId xmlns:a16="http://schemas.microsoft.com/office/drawing/2014/main" id="{60CEFDEA-EE23-42FE-8469-E203E82A5065}"/>
              </a:ext>
            </a:extLst>
          </p:cNvPr>
          <p:cNvSpPr>
            <a:spLocks noGrp="1"/>
          </p:cNvSpPr>
          <p:nvPr/>
        </p:nvSpPr>
        <p:spPr>
          <a:xfrm>
            <a:off x="6336792" y="286207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D5D7DD2-89B1-477D-B8C4-771A95C650C2}"/>
              </a:ext>
            </a:extLst>
          </p:cNvPr>
          <p:cNvSpPr>
            <a:spLocks noGrp="1"/>
          </p:cNvSpPr>
          <p:nvPr/>
        </p:nvSpPr>
        <p:spPr>
          <a:xfrm>
            <a:off x="6336792" y="288226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RW</a:t>
            </a:r>
          </a:p>
        </p:txBody>
      </p:sp>
      <p:sp>
        <p:nvSpPr>
          <p:cNvPr id="23" name="TextBox 22">
            <a:extLst>
              <a:ext uri="{FF2B5EF4-FFF2-40B4-BE49-F238E27FC236}">
                <a16:creationId xmlns:a16="http://schemas.microsoft.com/office/drawing/2014/main" id="{130AFEAE-5DFF-492F-B8DB-E694D9A61270}"/>
              </a:ext>
            </a:extLst>
          </p:cNvPr>
          <p:cNvSpPr>
            <a:spLocks noGrp="1"/>
          </p:cNvSpPr>
          <p:nvPr/>
        </p:nvSpPr>
        <p:spPr>
          <a:xfrm>
            <a:off x="6830568" y="2843784"/>
            <a:ext cx="408736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입장 이벤트 | $1,000</a:t>
            </a:r>
          </a:p>
        </p:txBody>
      </p:sp>
      <p:sp>
        <p:nvSpPr>
          <p:cNvPr id="24" name="TextBox 23">
            <a:extLst>
              <a:ext uri="{FF2B5EF4-FFF2-40B4-BE49-F238E27FC236}">
                <a16:creationId xmlns:a16="http://schemas.microsoft.com/office/drawing/2014/main" id="{4B3168F3-043F-42BB-9CC4-ED3454517BC8}"/>
              </a:ext>
            </a:extLst>
          </p:cNvPr>
          <p:cNvSpPr>
            <a:spLocks noGrp="1"/>
          </p:cNvSpPr>
          <p:nvPr/>
        </p:nvSpPr>
        <p:spPr>
          <a:xfrm>
            <a:off x="6830568" y="3136392"/>
            <a:ext cx="4087368" cy="493776"/>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투명한 커피 쿠폰 또는 소액 USDT 추첨. 예치 요건·토큰 권리 없음.</a:t>
            </a:r>
          </a:p>
        </p:txBody>
      </p:sp>
      <p:sp>
        <p:nvSpPr>
          <p:cNvPr id="25" name="Rounded Rectangle 24">
            <a:extLst>
              <a:ext uri="{FF2B5EF4-FFF2-40B4-BE49-F238E27FC236}">
                <a16:creationId xmlns:a16="http://schemas.microsoft.com/office/drawing/2014/main" id="{4BD8DB8A-74FB-4640-A15A-A0D5CA0F6F44}"/>
              </a:ext>
            </a:extLst>
          </p:cNvPr>
          <p:cNvSpPr>
            <a:spLocks noGrp="1"/>
          </p:cNvSpPr>
          <p:nvPr/>
        </p:nvSpPr>
        <p:spPr>
          <a:xfrm>
            <a:off x="914400" y="4023360"/>
            <a:ext cx="4892040" cy="1005840"/>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Oval 25">
            <a:extLst>
              <a:ext uri="{FF2B5EF4-FFF2-40B4-BE49-F238E27FC236}">
                <a16:creationId xmlns:a16="http://schemas.microsoft.com/office/drawing/2014/main" id="{BD7BAE5F-FC88-479E-80D0-EE6EA506789C}"/>
              </a:ext>
            </a:extLst>
          </p:cNvPr>
          <p:cNvSpPr>
            <a:spLocks noGrp="1"/>
          </p:cNvSpPr>
          <p:nvPr/>
        </p:nvSpPr>
        <p:spPr>
          <a:xfrm>
            <a:off x="1078992" y="418795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5C021A4-2638-4B86-8D40-9F9A7647B53A}"/>
              </a:ext>
            </a:extLst>
          </p:cNvPr>
          <p:cNvSpPr>
            <a:spLocks noGrp="1"/>
          </p:cNvSpPr>
          <p:nvPr/>
        </p:nvSpPr>
        <p:spPr>
          <a:xfrm>
            <a:off x="1078992" y="420814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QA</a:t>
            </a:r>
          </a:p>
        </p:txBody>
      </p:sp>
      <p:sp>
        <p:nvSpPr>
          <p:cNvPr id="28" name="TextBox 27">
            <a:extLst>
              <a:ext uri="{FF2B5EF4-FFF2-40B4-BE49-F238E27FC236}">
                <a16:creationId xmlns:a16="http://schemas.microsoft.com/office/drawing/2014/main" id="{B9C9E58E-1296-45A1-B1EF-A8820C8F5F33}"/>
              </a:ext>
            </a:extLst>
          </p:cNvPr>
          <p:cNvSpPr>
            <a:spLocks noGrp="1"/>
          </p:cNvSpPr>
          <p:nvPr/>
        </p:nvSpPr>
        <p:spPr>
          <a:xfrm>
            <a:off x="1572768" y="4169664"/>
            <a:ext cx="408736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한국어 업데이트·FAQ 유지</a:t>
            </a:r>
          </a:p>
        </p:txBody>
      </p:sp>
      <p:sp>
        <p:nvSpPr>
          <p:cNvPr id="29" name="TextBox 28">
            <a:extLst>
              <a:ext uri="{FF2B5EF4-FFF2-40B4-BE49-F238E27FC236}">
                <a16:creationId xmlns:a16="http://schemas.microsoft.com/office/drawing/2014/main" id="{526D950C-4F78-4F97-A2BF-E692C7A0558A}"/>
              </a:ext>
            </a:extLst>
          </p:cNvPr>
          <p:cNvSpPr>
            <a:spLocks noGrp="1"/>
          </p:cNvSpPr>
          <p:nvPr/>
        </p:nvSpPr>
        <p:spPr>
          <a:xfrm>
            <a:off x="1572768" y="4462272"/>
            <a:ext cx="4087368" cy="493776"/>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USD3, sUSD3, 리스크, 출구, 승인된 프로토콜 인센티브 설명; 제품 변경 후 갱신.</a:t>
            </a:r>
          </a:p>
        </p:txBody>
      </p:sp>
      <p:sp>
        <p:nvSpPr>
          <p:cNvPr id="30" name="Rounded Rectangle 29">
            <a:extLst>
              <a:ext uri="{FF2B5EF4-FFF2-40B4-BE49-F238E27FC236}">
                <a16:creationId xmlns:a16="http://schemas.microsoft.com/office/drawing/2014/main" id="{78ED4B5B-C250-4068-9FB6-A7F956CF077E}"/>
              </a:ext>
            </a:extLst>
          </p:cNvPr>
          <p:cNvSpPr>
            <a:spLocks noGrp="1"/>
          </p:cNvSpPr>
          <p:nvPr/>
        </p:nvSpPr>
        <p:spPr>
          <a:xfrm>
            <a:off x="6172200" y="4023360"/>
            <a:ext cx="4892040" cy="1005840"/>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Oval 30">
            <a:extLst>
              <a:ext uri="{FF2B5EF4-FFF2-40B4-BE49-F238E27FC236}">
                <a16:creationId xmlns:a16="http://schemas.microsoft.com/office/drawing/2014/main" id="{DE886E6C-3800-4D9F-9B5F-B7A4F156A532}"/>
              </a:ext>
            </a:extLst>
          </p:cNvPr>
          <p:cNvSpPr>
            <a:spLocks noGrp="1"/>
          </p:cNvSpPr>
          <p:nvPr/>
        </p:nvSpPr>
        <p:spPr>
          <a:xfrm>
            <a:off x="6336792" y="418795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2E62FB7-C890-45BF-8631-065A86CBDDF8}"/>
              </a:ext>
            </a:extLst>
          </p:cNvPr>
          <p:cNvSpPr>
            <a:spLocks noGrp="1"/>
          </p:cNvSpPr>
          <p:nvPr/>
        </p:nvSpPr>
        <p:spPr>
          <a:xfrm>
            <a:off x="6336792" y="420814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MOD</a:t>
            </a:r>
          </a:p>
        </p:txBody>
      </p:sp>
      <p:sp>
        <p:nvSpPr>
          <p:cNvPr id="33" name="TextBox 32">
            <a:extLst>
              <a:ext uri="{FF2B5EF4-FFF2-40B4-BE49-F238E27FC236}">
                <a16:creationId xmlns:a16="http://schemas.microsoft.com/office/drawing/2014/main" id="{5849E119-EF74-41F3-BD84-C1BC6B2B3925}"/>
              </a:ext>
            </a:extLst>
          </p:cNvPr>
          <p:cNvSpPr>
            <a:spLocks noGrp="1"/>
          </p:cNvSpPr>
          <p:nvPr/>
        </p:nvSpPr>
        <p:spPr>
          <a:xfrm>
            <a:off x="6830568" y="4169664"/>
            <a:ext cx="408736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모더레이터 1명 | $3,000</a:t>
            </a:r>
          </a:p>
        </p:txBody>
      </p:sp>
      <p:sp>
        <p:nvSpPr>
          <p:cNvPr id="34" name="TextBox 33">
            <a:extLst>
              <a:ext uri="{FF2B5EF4-FFF2-40B4-BE49-F238E27FC236}">
                <a16:creationId xmlns:a16="http://schemas.microsoft.com/office/drawing/2014/main" id="{6ECE3DD9-007C-46DC-9C92-CF8F06C4C866}"/>
              </a:ext>
            </a:extLst>
          </p:cNvPr>
          <p:cNvSpPr>
            <a:spLocks noGrp="1"/>
          </p:cNvSpPr>
          <p:nvPr/>
        </p:nvSpPr>
        <p:spPr>
          <a:xfrm>
            <a:off x="6830568" y="4462272"/>
            <a:ext cx="4087368" cy="493776"/>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3개월간 월 $1,000. 서비스 시간·에스컬레이션 규칙은 킥오프에서 합의.</a:t>
            </a:r>
          </a:p>
        </p:txBody>
      </p:sp>
      <p:sp>
        <p:nvSpPr>
          <p:cNvPr id="35" name="Rounded Rectangle 34">
            <a:extLst>
              <a:ext uri="{FF2B5EF4-FFF2-40B4-BE49-F238E27FC236}">
                <a16:creationId xmlns:a16="http://schemas.microsoft.com/office/drawing/2014/main" id="{DA911B95-CF0D-4641-A9FC-29B0CAC5BFC2}"/>
              </a:ext>
            </a:extLst>
          </p:cNvPr>
          <p:cNvSpPr>
            <a:spLocks noGrp="1"/>
          </p:cNvSpPr>
          <p:nvPr/>
        </p:nvSpPr>
        <p:spPr>
          <a:xfrm>
            <a:off x="914400" y="5596128"/>
            <a:ext cx="1737360" cy="292608"/>
          </a:xfrm>
          <a:prstGeom prst="roundRect">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5A5132D4-B8DE-4F2B-90F8-13F8554E39AF}"/>
              </a:ext>
            </a:extLst>
          </p:cNvPr>
          <p:cNvSpPr>
            <a:spLocks noGrp="1"/>
          </p:cNvSpPr>
          <p:nvPr/>
        </p:nvSpPr>
        <p:spPr>
          <a:xfrm>
            <a:off x="914400" y="5637276"/>
            <a:ext cx="1737360" cy="274320"/>
          </a:xfrm>
          <a:prstGeom prst="rect">
            <a:avLst/>
          </a:prstGeom>
          <a:noFill/>
        </p:spPr>
        <p:txBody>
          <a:bodyPr wrap="square" lIns="0" tIns="0" rIns="0" bIns="0" anchor="t">
            <a:noAutofit/>
          </a:bodyPr>
          <a:lstStyle/>
          <a:p>
            <a:pPr algn="l">
              <a:buNone/>
              <a:defRPr sz="1200" b="1">
                <a:solidFill>
                  <a:srgbClr val="0B39FF"/>
                </a:solidFill>
                <a:latin typeface="Arial"/>
                <a:ea typeface="Arial"/>
                <a:cs typeface="Arial"/>
              </a:defRPr>
            </a:pPr>
            <a:r>
              <a:rPr sz="1200" b="1">
                <a:solidFill>
                  <a:srgbClr val="0B39FF"/>
                </a:solidFill>
                <a:latin typeface="Arial"/>
                <a:ea typeface="Arial"/>
                <a:cs typeface="Arial"/>
              </a:rPr>
              <a:t>핵심 온보딩</a:t>
            </a:r>
          </a:p>
        </p:txBody>
      </p:sp>
      <p:sp>
        <p:nvSpPr>
          <p:cNvPr id="37" name="TextBox 36">
            <a:extLst>
              <a:ext uri="{FF2B5EF4-FFF2-40B4-BE49-F238E27FC236}">
                <a16:creationId xmlns:a16="http://schemas.microsoft.com/office/drawing/2014/main" id="{A5A0A927-E058-4D54-8D3D-591816F0B388}"/>
              </a:ext>
            </a:extLst>
          </p:cNvPr>
          <p:cNvSpPr>
            <a:spLocks noGrp="1"/>
          </p:cNvSpPr>
          <p:nvPr/>
        </p:nvSpPr>
        <p:spPr>
          <a:xfrm>
            <a:off x="2790825" y="5524500"/>
            <a:ext cx="8286750" cy="523875"/>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제품은 무엇인가? 수익은 어디서 오는가? 손실 원인은? 출금은 어떻게 되는가?</a:t>
            </a:r>
          </a:p>
        </p:txBody>
      </p:sp>
      <p:pic>
        <p:nvPicPr>
          <p:cNvPr id="6" name="그림 5">
            <a:extLst>
              <a:ext uri="{FF2B5EF4-FFF2-40B4-BE49-F238E27FC236}">
                <a16:creationId xmlns:a16="http://schemas.microsoft.com/office/drawing/2014/main" id="{7A488CA7-6836-5F73-A0D1-4E417A21DF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5426" y="674162"/>
            <a:ext cx="777240" cy="706582"/>
          </a:xfrm>
          <a:prstGeom prst="rect">
            <a:avLst/>
          </a:prstGeom>
        </p:spPr>
      </p:pic>
    </p:spTree>
    <p:extLst>
      <p:ext uri="{BB962C8B-B14F-4D97-AF65-F5344CB8AC3E}">
        <p14:creationId xmlns:p14="http://schemas.microsoft.com/office/powerpoint/2010/main" val="1941466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9D5C77-5208-4711-B0B6-757B9E885661}"/>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FF6686B1-C68E-46A3-B213-27EF81810F1F}"/>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AF4D4355-4011-444E-8055-AD56D9349AD8}"/>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6"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800D740B-4CD6-46CE-B015-444AE350DF05}"/>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DA583768-7EB9-4842-9423-9ADFD8A0C606}"/>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5A401E70-987C-44F2-A1C8-BBDE706A72EB}"/>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07</a:t>
            </a:r>
          </a:p>
        </p:txBody>
      </p:sp>
      <p:sp>
        <p:nvSpPr>
          <p:cNvPr id="10" name="TextBox 9">
            <a:extLst>
              <a:ext uri="{FF2B5EF4-FFF2-40B4-BE49-F238E27FC236}">
                <a16:creationId xmlns:a16="http://schemas.microsoft.com/office/drawing/2014/main" id="{7C90644A-0C58-46E4-9949-40BACACC3677}"/>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02. KOL 교육 및 AMA | 최대 $6,000</a:t>
            </a:r>
          </a:p>
        </p:txBody>
      </p:sp>
      <p:sp>
        <p:nvSpPr>
          <p:cNvPr id="11" name="Rectangle 10">
            <a:extLst>
              <a:ext uri="{FF2B5EF4-FFF2-40B4-BE49-F238E27FC236}">
                <a16:creationId xmlns:a16="http://schemas.microsoft.com/office/drawing/2014/main" id="{D07DCC79-CD03-43A3-8720-EC16B44BA200}"/>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BE88236-3636-408B-AFE1-50AA0C93AA27}"/>
              </a:ext>
            </a:extLst>
          </p:cNvPr>
          <p:cNvSpPr>
            <a:spLocks noGrp="1"/>
          </p:cNvSpPr>
          <p:nvPr/>
        </p:nvSpPr>
        <p:spPr>
          <a:xfrm>
            <a:off x="1005840" y="1481328"/>
            <a:ext cx="10058400" cy="457200"/>
          </a:xfrm>
          <a:prstGeom prst="rect">
            <a:avLst/>
          </a:prstGeom>
          <a:noFill/>
        </p:spPr>
        <p:txBody>
          <a:bodyPr wrap="square" lIns="0" tIns="0" rIns="0" bIns="0" anchor="t">
            <a:noAutofit/>
          </a:bodyPr>
          <a:lstStyle/>
          <a:p>
            <a:pPr algn="l">
              <a:lnSpc>
                <a:spcPct val="110000"/>
              </a:lnSpc>
              <a:buNone/>
              <a:defRPr sz="1575">
                <a:solidFill>
                  <a:srgbClr val="334155"/>
                </a:solidFill>
                <a:latin typeface="Arial"/>
                <a:ea typeface="Arial"/>
                <a:cs typeface="Arial"/>
              </a:defRPr>
            </a:pPr>
            <a:r>
              <a:rPr sz="1575" b="0">
                <a:solidFill>
                  <a:srgbClr val="334155"/>
                </a:solidFill>
                <a:latin typeface="Arial"/>
                <a:ea typeface="Arial"/>
                <a:cs typeface="Arial"/>
              </a:rPr>
              <a:t>준비·호스팅·제작을 포함해 전문가 주도 세션 2회와 한국어 요약 2건을 제공합니다.</a:t>
            </a:r>
          </a:p>
        </p:txBody>
      </p:sp>
      <p:sp>
        <p:nvSpPr>
          <p:cNvPr id="13" name="Rounded Rectangle 12">
            <a:extLst>
              <a:ext uri="{FF2B5EF4-FFF2-40B4-BE49-F238E27FC236}">
                <a16:creationId xmlns:a16="http://schemas.microsoft.com/office/drawing/2014/main" id="{B156506D-291E-432F-AF7F-89D3D99D06B3}"/>
              </a:ext>
            </a:extLst>
          </p:cNvPr>
          <p:cNvSpPr>
            <a:spLocks noGrp="1"/>
          </p:cNvSpPr>
          <p:nvPr/>
        </p:nvSpPr>
        <p:spPr>
          <a:xfrm>
            <a:off x="960120" y="2240280"/>
            <a:ext cx="3154680" cy="731520"/>
          </a:xfrm>
          <a:prstGeom prst="roundRect">
            <a:avLst/>
          </a:prstGeom>
          <a:solidFill>
            <a:srgbClr val="FFFFFF"/>
          </a:solidFill>
          <a:ln w="12700">
            <a:solidFill>
              <a:srgbClr val="DD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F811CD4D-B2C1-429C-9F1F-B3730AB2F692}"/>
              </a:ext>
            </a:extLst>
          </p:cNvPr>
          <p:cNvSpPr>
            <a:spLocks noGrp="1"/>
          </p:cNvSpPr>
          <p:nvPr/>
        </p:nvSpPr>
        <p:spPr>
          <a:xfrm>
            <a:off x="1143000" y="2377440"/>
            <a:ext cx="2743200" cy="331470"/>
          </a:xfrm>
          <a:prstGeom prst="rect">
            <a:avLst/>
          </a:prstGeom>
          <a:noFill/>
        </p:spPr>
        <p:txBody>
          <a:bodyPr wrap="square" lIns="0" tIns="0" rIns="0" bIns="0" anchor="t">
            <a:noAutofit/>
          </a:bodyPr>
          <a:lstStyle/>
          <a:p>
            <a:pPr algn="l">
              <a:buNone/>
              <a:defRPr sz="1575" b="1">
                <a:solidFill>
                  <a:srgbClr val="071323"/>
                </a:solidFill>
                <a:latin typeface="Arial"/>
                <a:ea typeface="Arial"/>
                <a:cs typeface="Arial"/>
              </a:defRPr>
            </a:pPr>
            <a:r>
              <a:rPr sz="1575" b="1">
                <a:solidFill>
                  <a:srgbClr val="071323"/>
                </a:solidFill>
                <a:latin typeface="Arial"/>
                <a:ea typeface="Arial"/>
                <a:cs typeface="Arial"/>
              </a:rPr>
              <a:t>DeFi 리서치 크리에이터</a:t>
            </a:r>
          </a:p>
        </p:txBody>
      </p:sp>
      <p:sp>
        <p:nvSpPr>
          <p:cNvPr id="15" name="TextBox 14">
            <a:extLst>
              <a:ext uri="{FF2B5EF4-FFF2-40B4-BE49-F238E27FC236}">
                <a16:creationId xmlns:a16="http://schemas.microsoft.com/office/drawing/2014/main" id="{4528807B-E9B7-4096-93E0-31E499CEC67E}"/>
              </a:ext>
            </a:extLst>
          </p:cNvPr>
          <p:cNvSpPr>
            <a:spLocks noGrp="1"/>
          </p:cNvSpPr>
          <p:nvPr/>
        </p:nvSpPr>
        <p:spPr>
          <a:xfrm>
            <a:off x="1143000" y="2633472"/>
            <a:ext cx="2743200" cy="285750"/>
          </a:xfrm>
          <a:prstGeom prst="rect">
            <a:avLst/>
          </a:prstGeom>
          <a:noFill/>
        </p:spPr>
        <p:txBody>
          <a:bodyPr wrap="square" lIns="0" tIns="0" rIns="0" bIns="0" anchor="t">
            <a:noAutofit/>
          </a:bodyPr>
          <a:lstStyle/>
          <a:p>
            <a:pPr algn="l">
              <a:buNone/>
              <a:defRPr sz="1275">
                <a:solidFill>
                  <a:srgbClr val="0B39FF"/>
                </a:solidFill>
                <a:latin typeface="Arial"/>
                <a:ea typeface="Arial"/>
                <a:cs typeface="Arial"/>
              </a:defRPr>
            </a:pPr>
            <a:r>
              <a:rPr sz="1275" b="1">
                <a:solidFill>
                  <a:srgbClr val="0B39FF"/>
                </a:solidFill>
                <a:latin typeface="Arial"/>
                <a:ea typeface="Arial"/>
                <a:cs typeface="Arial"/>
              </a:rPr>
              <a:t>신용과 리스크</a:t>
            </a:r>
          </a:p>
        </p:txBody>
      </p:sp>
      <p:sp>
        <p:nvSpPr>
          <p:cNvPr id="16" name="Rounded Rectangle 15">
            <a:extLst>
              <a:ext uri="{FF2B5EF4-FFF2-40B4-BE49-F238E27FC236}">
                <a16:creationId xmlns:a16="http://schemas.microsoft.com/office/drawing/2014/main" id="{E1720923-9C07-4BCA-B0C9-9846A47ACAFB}"/>
              </a:ext>
            </a:extLst>
          </p:cNvPr>
          <p:cNvSpPr>
            <a:spLocks noGrp="1"/>
          </p:cNvSpPr>
          <p:nvPr/>
        </p:nvSpPr>
        <p:spPr>
          <a:xfrm>
            <a:off x="4572000" y="2240280"/>
            <a:ext cx="3154680" cy="731520"/>
          </a:xfrm>
          <a:prstGeom prst="roundRect">
            <a:avLst/>
          </a:prstGeom>
          <a:solidFill>
            <a:srgbClr val="FFFFFF"/>
          </a:solidFill>
          <a:ln w="12700">
            <a:solidFill>
              <a:srgbClr val="DD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3086312-1FF7-4B98-9144-AC4D8084C1C3}"/>
              </a:ext>
            </a:extLst>
          </p:cNvPr>
          <p:cNvSpPr>
            <a:spLocks noGrp="1"/>
          </p:cNvSpPr>
          <p:nvPr/>
        </p:nvSpPr>
        <p:spPr>
          <a:xfrm>
            <a:off x="4754880" y="2377440"/>
            <a:ext cx="2743200" cy="331470"/>
          </a:xfrm>
          <a:prstGeom prst="rect">
            <a:avLst/>
          </a:prstGeom>
          <a:noFill/>
        </p:spPr>
        <p:txBody>
          <a:bodyPr wrap="square" lIns="0" tIns="0" rIns="0" bIns="0" anchor="t">
            <a:noAutofit/>
          </a:bodyPr>
          <a:lstStyle/>
          <a:p>
            <a:pPr algn="l">
              <a:buNone/>
              <a:defRPr sz="1575" b="1">
                <a:solidFill>
                  <a:srgbClr val="071323"/>
                </a:solidFill>
                <a:latin typeface="Arial"/>
                <a:ea typeface="Arial"/>
                <a:cs typeface="Arial"/>
              </a:defRPr>
            </a:pPr>
            <a:r>
              <a:rPr sz="1575" b="1">
                <a:solidFill>
                  <a:srgbClr val="071323"/>
                </a:solidFill>
                <a:latin typeface="Arial"/>
                <a:ea typeface="Arial"/>
                <a:cs typeface="Arial"/>
              </a:rPr>
              <a:t>Web3 교육자</a:t>
            </a:r>
          </a:p>
        </p:txBody>
      </p:sp>
      <p:sp>
        <p:nvSpPr>
          <p:cNvPr id="18" name="TextBox 17">
            <a:extLst>
              <a:ext uri="{FF2B5EF4-FFF2-40B4-BE49-F238E27FC236}">
                <a16:creationId xmlns:a16="http://schemas.microsoft.com/office/drawing/2014/main" id="{3A10CDDB-F5D5-4294-ABB6-B438EA5BF47D}"/>
              </a:ext>
            </a:extLst>
          </p:cNvPr>
          <p:cNvSpPr>
            <a:spLocks noGrp="1"/>
          </p:cNvSpPr>
          <p:nvPr/>
        </p:nvSpPr>
        <p:spPr>
          <a:xfrm>
            <a:off x="4754880" y="2633472"/>
            <a:ext cx="2743200" cy="285750"/>
          </a:xfrm>
          <a:prstGeom prst="rect">
            <a:avLst/>
          </a:prstGeom>
          <a:noFill/>
        </p:spPr>
        <p:txBody>
          <a:bodyPr wrap="square" lIns="0" tIns="0" rIns="0" bIns="0" anchor="t">
            <a:noAutofit/>
          </a:bodyPr>
          <a:lstStyle/>
          <a:p>
            <a:pPr algn="l">
              <a:buNone/>
              <a:defRPr sz="1275">
                <a:solidFill>
                  <a:srgbClr val="0B39FF"/>
                </a:solidFill>
                <a:latin typeface="Arial"/>
                <a:ea typeface="Arial"/>
                <a:cs typeface="Arial"/>
              </a:defRPr>
            </a:pPr>
            <a:r>
              <a:rPr sz="1275" b="1">
                <a:solidFill>
                  <a:srgbClr val="0B39FF"/>
                </a:solidFill>
                <a:latin typeface="Arial"/>
                <a:ea typeface="Arial"/>
                <a:cs typeface="Arial"/>
              </a:rPr>
              <a:t>프로토콜 교육</a:t>
            </a:r>
          </a:p>
        </p:txBody>
      </p:sp>
      <p:sp>
        <p:nvSpPr>
          <p:cNvPr id="19" name="Rounded Rectangle 18">
            <a:extLst>
              <a:ext uri="{FF2B5EF4-FFF2-40B4-BE49-F238E27FC236}">
                <a16:creationId xmlns:a16="http://schemas.microsoft.com/office/drawing/2014/main" id="{F02DFC94-75A4-4AA2-ACA5-0F33FF2BB79C}"/>
              </a:ext>
            </a:extLst>
          </p:cNvPr>
          <p:cNvSpPr>
            <a:spLocks noGrp="1"/>
          </p:cNvSpPr>
          <p:nvPr/>
        </p:nvSpPr>
        <p:spPr>
          <a:xfrm>
            <a:off x="8183880" y="2240280"/>
            <a:ext cx="3154680" cy="731520"/>
          </a:xfrm>
          <a:prstGeom prst="roundRect">
            <a:avLst/>
          </a:prstGeom>
          <a:solidFill>
            <a:srgbClr val="FFFFFF"/>
          </a:solidFill>
          <a:ln w="12700">
            <a:solidFill>
              <a:srgbClr val="DD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BA339438-C08B-429C-AF40-BA71444C8277}"/>
              </a:ext>
            </a:extLst>
          </p:cNvPr>
          <p:cNvSpPr>
            <a:spLocks noGrp="1"/>
          </p:cNvSpPr>
          <p:nvPr/>
        </p:nvSpPr>
        <p:spPr>
          <a:xfrm>
            <a:off x="8366760" y="2377440"/>
            <a:ext cx="2743200" cy="331470"/>
          </a:xfrm>
          <a:prstGeom prst="rect">
            <a:avLst/>
          </a:prstGeom>
          <a:noFill/>
        </p:spPr>
        <p:txBody>
          <a:bodyPr wrap="square" lIns="0" tIns="0" rIns="0" bIns="0" anchor="t">
            <a:noAutofit/>
          </a:bodyPr>
          <a:lstStyle/>
          <a:p>
            <a:pPr algn="l">
              <a:buNone/>
              <a:defRPr sz="1575" b="1">
                <a:solidFill>
                  <a:srgbClr val="071323"/>
                </a:solidFill>
                <a:latin typeface="Arial"/>
                <a:ea typeface="Arial"/>
                <a:cs typeface="Arial"/>
              </a:defRPr>
            </a:pPr>
            <a:r>
              <a:rPr sz="1575" b="1">
                <a:solidFill>
                  <a:srgbClr val="071323"/>
                </a:solidFill>
                <a:latin typeface="Arial"/>
                <a:ea typeface="Arial"/>
                <a:cs typeface="Arial"/>
              </a:rPr>
              <a:t>스테이블코인 전문가</a:t>
            </a:r>
          </a:p>
        </p:txBody>
      </p:sp>
      <p:sp>
        <p:nvSpPr>
          <p:cNvPr id="21" name="TextBox 20">
            <a:extLst>
              <a:ext uri="{FF2B5EF4-FFF2-40B4-BE49-F238E27FC236}">
                <a16:creationId xmlns:a16="http://schemas.microsoft.com/office/drawing/2014/main" id="{A730465A-35F4-4C65-B21C-FB090987E3B9}"/>
              </a:ext>
            </a:extLst>
          </p:cNvPr>
          <p:cNvSpPr>
            <a:spLocks noGrp="1"/>
          </p:cNvSpPr>
          <p:nvPr/>
        </p:nvSpPr>
        <p:spPr>
          <a:xfrm>
            <a:off x="8366760" y="2633472"/>
            <a:ext cx="2743200" cy="285750"/>
          </a:xfrm>
          <a:prstGeom prst="rect">
            <a:avLst/>
          </a:prstGeom>
          <a:noFill/>
        </p:spPr>
        <p:txBody>
          <a:bodyPr wrap="square" lIns="0" tIns="0" rIns="0" bIns="0" anchor="t">
            <a:noAutofit/>
          </a:bodyPr>
          <a:lstStyle/>
          <a:p>
            <a:pPr algn="l">
              <a:buNone/>
              <a:defRPr sz="1275">
                <a:solidFill>
                  <a:srgbClr val="0B39FF"/>
                </a:solidFill>
                <a:latin typeface="Arial"/>
                <a:ea typeface="Arial"/>
                <a:cs typeface="Arial"/>
              </a:defRPr>
            </a:pPr>
            <a:r>
              <a:rPr sz="1275" b="1">
                <a:solidFill>
                  <a:srgbClr val="0B39FF"/>
                </a:solidFill>
                <a:latin typeface="Arial"/>
                <a:ea typeface="Arial"/>
                <a:cs typeface="Arial"/>
              </a:rPr>
              <a:t>USD3와 sUSD3</a:t>
            </a:r>
          </a:p>
        </p:txBody>
      </p:sp>
      <p:sp>
        <p:nvSpPr>
          <p:cNvPr id="22" name="Rounded Rectangle 21">
            <a:extLst>
              <a:ext uri="{FF2B5EF4-FFF2-40B4-BE49-F238E27FC236}">
                <a16:creationId xmlns:a16="http://schemas.microsoft.com/office/drawing/2014/main" id="{E2F8AE5E-5067-41F5-8487-62F4FD02D546}"/>
              </a:ext>
            </a:extLst>
          </p:cNvPr>
          <p:cNvSpPr>
            <a:spLocks noGrp="1"/>
          </p:cNvSpPr>
          <p:nvPr/>
        </p:nvSpPr>
        <p:spPr>
          <a:xfrm>
            <a:off x="960120" y="3474720"/>
            <a:ext cx="960120" cy="320040"/>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F155E5A9-FC02-4F0E-9246-B43D7E9078F8}"/>
              </a:ext>
            </a:extLst>
          </p:cNvPr>
          <p:cNvSpPr>
            <a:spLocks noGrp="1"/>
          </p:cNvSpPr>
          <p:nvPr/>
        </p:nvSpPr>
        <p:spPr>
          <a:xfrm>
            <a:off x="960120" y="3515868"/>
            <a:ext cx="960120" cy="274320"/>
          </a:xfrm>
          <a:prstGeom prst="rect">
            <a:avLst/>
          </a:prstGeom>
          <a:noFill/>
        </p:spPr>
        <p:txBody>
          <a:bodyPr wrap="square">
            <a:spAutoFit/>
          </a:bodyPr>
          <a:lstStyle/>
          <a:p>
            <a:pPr algn="ctr">
              <a:buNone/>
            </a:pPr>
            <a:r>
              <a:rPr sz="1200" b="1">
                <a:solidFill>
                  <a:srgbClr val="FFFFFF"/>
                </a:solidFill>
                <a:latin typeface="Arial"/>
                <a:ea typeface="Arial"/>
                <a:cs typeface="Arial"/>
              </a:rPr>
              <a:t>포맷</a:t>
            </a:r>
          </a:p>
        </p:txBody>
      </p:sp>
      <p:sp>
        <p:nvSpPr>
          <p:cNvPr id="24" name="Rounded Rectangle 23">
            <a:extLst>
              <a:ext uri="{FF2B5EF4-FFF2-40B4-BE49-F238E27FC236}">
                <a16:creationId xmlns:a16="http://schemas.microsoft.com/office/drawing/2014/main" id="{18B74588-0E6E-43C4-A6E2-90B485325791}"/>
              </a:ext>
            </a:extLst>
          </p:cNvPr>
          <p:cNvSpPr>
            <a:spLocks noGrp="1"/>
          </p:cNvSpPr>
          <p:nvPr/>
        </p:nvSpPr>
        <p:spPr>
          <a:xfrm>
            <a:off x="960120" y="3977639"/>
            <a:ext cx="3246120" cy="1005840"/>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Oval 24">
            <a:extLst>
              <a:ext uri="{FF2B5EF4-FFF2-40B4-BE49-F238E27FC236}">
                <a16:creationId xmlns:a16="http://schemas.microsoft.com/office/drawing/2014/main" id="{3A363BE2-D9ED-4F61-BCD5-D42B7F04970C}"/>
              </a:ext>
            </a:extLst>
          </p:cNvPr>
          <p:cNvSpPr>
            <a:spLocks noGrp="1"/>
          </p:cNvSpPr>
          <p:nvPr/>
        </p:nvSpPr>
        <p:spPr>
          <a:xfrm>
            <a:off x="1124712" y="4142231"/>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B699C41-24A1-4A0F-A477-898FB99718C3}"/>
              </a:ext>
            </a:extLst>
          </p:cNvPr>
          <p:cNvSpPr>
            <a:spLocks noGrp="1"/>
          </p:cNvSpPr>
          <p:nvPr/>
        </p:nvSpPr>
        <p:spPr>
          <a:xfrm>
            <a:off x="1124712" y="4162424"/>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AM</a:t>
            </a:r>
          </a:p>
        </p:txBody>
      </p:sp>
      <p:sp>
        <p:nvSpPr>
          <p:cNvPr id="27" name="TextBox 26">
            <a:extLst>
              <a:ext uri="{FF2B5EF4-FFF2-40B4-BE49-F238E27FC236}">
                <a16:creationId xmlns:a16="http://schemas.microsoft.com/office/drawing/2014/main" id="{28B17227-97B0-45C8-B1CD-6B9909A6A89C}"/>
              </a:ext>
            </a:extLst>
          </p:cNvPr>
          <p:cNvSpPr>
            <a:spLocks noGrp="1"/>
          </p:cNvSpPr>
          <p:nvPr/>
        </p:nvSpPr>
        <p:spPr>
          <a:xfrm>
            <a:off x="1618488" y="4123944"/>
            <a:ext cx="244144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전문가 세션 2회</a:t>
            </a:r>
          </a:p>
        </p:txBody>
      </p:sp>
      <p:sp>
        <p:nvSpPr>
          <p:cNvPr id="28" name="TextBox 27">
            <a:extLst>
              <a:ext uri="{FF2B5EF4-FFF2-40B4-BE49-F238E27FC236}">
                <a16:creationId xmlns:a16="http://schemas.microsoft.com/office/drawing/2014/main" id="{B5475758-50F4-4EA1-90EB-2C77516D65D2}"/>
              </a:ext>
            </a:extLst>
          </p:cNvPr>
          <p:cNvSpPr>
            <a:spLocks noGrp="1"/>
          </p:cNvSpPr>
          <p:nvPr/>
        </p:nvSpPr>
        <p:spPr>
          <a:xfrm>
            <a:off x="1618488" y="4416552"/>
            <a:ext cx="2441448" cy="67437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승인된 3Jane 대변인과 함께하는 X Space 또는 팟캐스트.</a:t>
            </a:r>
          </a:p>
        </p:txBody>
      </p:sp>
      <p:sp>
        <p:nvSpPr>
          <p:cNvPr id="29" name="Rounded Rectangle 28">
            <a:extLst>
              <a:ext uri="{FF2B5EF4-FFF2-40B4-BE49-F238E27FC236}">
                <a16:creationId xmlns:a16="http://schemas.microsoft.com/office/drawing/2014/main" id="{41FD57B2-5FDB-424D-92C5-40E6135CB900}"/>
              </a:ext>
            </a:extLst>
          </p:cNvPr>
          <p:cNvSpPr>
            <a:spLocks noGrp="1"/>
          </p:cNvSpPr>
          <p:nvPr/>
        </p:nvSpPr>
        <p:spPr>
          <a:xfrm>
            <a:off x="4663440" y="3977639"/>
            <a:ext cx="3246120" cy="1005840"/>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Oval 29">
            <a:extLst>
              <a:ext uri="{FF2B5EF4-FFF2-40B4-BE49-F238E27FC236}">
                <a16:creationId xmlns:a16="http://schemas.microsoft.com/office/drawing/2014/main" id="{38D02CCE-BCD4-475F-BC1E-173A79C2EEF2}"/>
              </a:ext>
            </a:extLst>
          </p:cNvPr>
          <p:cNvSpPr>
            <a:spLocks noGrp="1"/>
          </p:cNvSpPr>
          <p:nvPr/>
        </p:nvSpPr>
        <p:spPr>
          <a:xfrm>
            <a:off x="4828031" y="4142231"/>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5A510A1D-F7B8-40F1-952F-56CD77B17D40}"/>
              </a:ext>
            </a:extLst>
          </p:cNvPr>
          <p:cNvSpPr>
            <a:spLocks noGrp="1"/>
          </p:cNvSpPr>
          <p:nvPr/>
        </p:nvSpPr>
        <p:spPr>
          <a:xfrm>
            <a:off x="4828031" y="4162424"/>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RW</a:t>
            </a:r>
          </a:p>
        </p:txBody>
      </p:sp>
      <p:sp>
        <p:nvSpPr>
          <p:cNvPr id="32" name="TextBox 31">
            <a:extLst>
              <a:ext uri="{FF2B5EF4-FFF2-40B4-BE49-F238E27FC236}">
                <a16:creationId xmlns:a16="http://schemas.microsoft.com/office/drawing/2014/main" id="{985B31AC-6633-4F9C-90F8-F85DBCF19596}"/>
              </a:ext>
            </a:extLst>
          </p:cNvPr>
          <p:cNvSpPr>
            <a:spLocks noGrp="1"/>
          </p:cNvSpPr>
          <p:nvPr/>
        </p:nvSpPr>
        <p:spPr>
          <a:xfrm>
            <a:off x="5321807" y="4123944"/>
            <a:ext cx="244144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제품·리스크 아젠다</a:t>
            </a:r>
          </a:p>
        </p:txBody>
      </p:sp>
      <p:sp>
        <p:nvSpPr>
          <p:cNvPr id="33" name="TextBox 32">
            <a:extLst>
              <a:ext uri="{FF2B5EF4-FFF2-40B4-BE49-F238E27FC236}">
                <a16:creationId xmlns:a16="http://schemas.microsoft.com/office/drawing/2014/main" id="{93723BDE-2541-4321-81C0-C88DDDB84169}"/>
              </a:ext>
            </a:extLst>
          </p:cNvPr>
          <p:cNvSpPr>
            <a:spLocks noGrp="1"/>
          </p:cNvSpPr>
          <p:nvPr/>
        </p:nvSpPr>
        <p:spPr>
          <a:xfrm>
            <a:off x="5321807" y="4416552"/>
            <a:ext cx="2441448" cy="67437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수익 원천, 트랜치 차이, 적격성, 출구 조건.</a:t>
            </a:r>
          </a:p>
        </p:txBody>
      </p:sp>
      <p:sp>
        <p:nvSpPr>
          <p:cNvPr id="34" name="Rounded Rectangle 33">
            <a:extLst>
              <a:ext uri="{FF2B5EF4-FFF2-40B4-BE49-F238E27FC236}">
                <a16:creationId xmlns:a16="http://schemas.microsoft.com/office/drawing/2014/main" id="{F078255B-6DE0-4931-8E62-2304B63EAC3C}"/>
              </a:ext>
            </a:extLst>
          </p:cNvPr>
          <p:cNvSpPr>
            <a:spLocks noGrp="1"/>
          </p:cNvSpPr>
          <p:nvPr/>
        </p:nvSpPr>
        <p:spPr>
          <a:xfrm>
            <a:off x="8366760" y="3977639"/>
            <a:ext cx="3246120" cy="1005840"/>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Oval 34">
            <a:extLst>
              <a:ext uri="{FF2B5EF4-FFF2-40B4-BE49-F238E27FC236}">
                <a16:creationId xmlns:a16="http://schemas.microsoft.com/office/drawing/2014/main" id="{DE485F98-5B6B-4078-BB4C-8E78D8BF3847}"/>
              </a:ext>
            </a:extLst>
          </p:cNvPr>
          <p:cNvSpPr>
            <a:spLocks noGrp="1"/>
          </p:cNvSpPr>
          <p:nvPr/>
        </p:nvSpPr>
        <p:spPr>
          <a:xfrm>
            <a:off x="8531352" y="4142231"/>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5DCA65BA-3E7A-4FC7-A757-B172E95165E1}"/>
              </a:ext>
            </a:extLst>
          </p:cNvPr>
          <p:cNvSpPr>
            <a:spLocks noGrp="1"/>
          </p:cNvSpPr>
          <p:nvPr/>
        </p:nvSpPr>
        <p:spPr>
          <a:xfrm>
            <a:off x="8531352" y="4162424"/>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RE</a:t>
            </a:r>
          </a:p>
        </p:txBody>
      </p:sp>
      <p:sp>
        <p:nvSpPr>
          <p:cNvPr id="37" name="TextBox 36">
            <a:extLst>
              <a:ext uri="{FF2B5EF4-FFF2-40B4-BE49-F238E27FC236}">
                <a16:creationId xmlns:a16="http://schemas.microsoft.com/office/drawing/2014/main" id="{A47295A1-0179-41E4-9E9F-C9591848196A}"/>
              </a:ext>
            </a:extLst>
          </p:cNvPr>
          <p:cNvSpPr>
            <a:spLocks noGrp="1"/>
          </p:cNvSpPr>
          <p:nvPr/>
        </p:nvSpPr>
        <p:spPr>
          <a:xfrm>
            <a:off x="9025128" y="4123944"/>
            <a:ext cx="244144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한국어 요약 2건</a:t>
            </a:r>
          </a:p>
        </p:txBody>
      </p:sp>
      <p:sp>
        <p:nvSpPr>
          <p:cNvPr id="38" name="TextBox 37">
            <a:extLst>
              <a:ext uri="{FF2B5EF4-FFF2-40B4-BE49-F238E27FC236}">
                <a16:creationId xmlns:a16="http://schemas.microsoft.com/office/drawing/2014/main" id="{A03550CA-1226-4F08-81BF-6E3733DDB933}"/>
              </a:ext>
            </a:extLst>
          </p:cNvPr>
          <p:cNvSpPr>
            <a:spLocks noGrp="1"/>
          </p:cNvSpPr>
          <p:nvPr/>
        </p:nvSpPr>
        <p:spPr>
          <a:xfrm>
            <a:off x="9025128" y="4416552"/>
            <a:ext cx="2441448" cy="493776"/>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핵심 정리와 승인된 클립·발췌를 게시.</a:t>
            </a:r>
          </a:p>
        </p:txBody>
      </p:sp>
      <p:sp>
        <p:nvSpPr>
          <p:cNvPr id="39" name="Rounded Rectangle 38">
            <a:extLst>
              <a:ext uri="{FF2B5EF4-FFF2-40B4-BE49-F238E27FC236}">
                <a16:creationId xmlns:a16="http://schemas.microsoft.com/office/drawing/2014/main" id="{0E038133-8F14-4B94-AA37-8ADD64EF41F8}"/>
              </a:ext>
            </a:extLst>
          </p:cNvPr>
          <p:cNvSpPr>
            <a:spLocks noGrp="1"/>
          </p:cNvSpPr>
          <p:nvPr/>
        </p:nvSpPr>
        <p:spPr>
          <a:xfrm>
            <a:off x="960120" y="5440680"/>
            <a:ext cx="10332720" cy="576072"/>
          </a:xfrm>
          <a:prstGeom prst="roundRect">
            <a:avLst/>
          </a:prstGeom>
          <a:solidFill>
            <a:srgbClr val="F3F6FF"/>
          </a:solidFill>
          <a:ln w="12700">
            <a:solidFill>
              <a:srgbClr val="DD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13A209D3-7B0C-45CB-B747-2764EB07AE01}"/>
              </a:ext>
            </a:extLst>
          </p:cNvPr>
          <p:cNvSpPr>
            <a:spLocks noGrp="1"/>
          </p:cNvSpPr>
          <p:nvPr/>
        </p:nvSpPr>
        <p:spPr>
          <a:xfrm>
            <a:off x="1228725" y="5524500"/>
            <a:ext cx="9829800" cy="504825"/>
          </a:xfrm>
          <a:prstGeom prst="rect">
            <a:avLst/>
          </a:prstGeom>
          <a:noFill/>
        </p:spPr>
        <p:txBody>
          <a:bodyPr wrap="square" lIns="0" tIns="0" rIns="0" bIns="0" anchor="t">
            <a:noAutofit/>
          </a:bodyPr>
          <a:lstStyle/>
          <a:p>
            <a:pPr algn="l">
              <a:defRPr sz="1350" b="1">
                <a:solidFill>
                  <a:srgbClr val="0B39FF"/>
                </a:solidFill>
                <a:latin typeface="Arial"/>
                <a:ea typeface="Arial"/>
                <a:cs typeface="Arial"/>
              </a:defRPr>
            </a:pPr>
            <a:r>
              <a:rPr sz="1350" b="1">
                <a:solidFill>
                  <a:srgbClr val="0B39FF"/>
                </a:solidFill>
                <a:latin typeface="Arial"/>
                <a:ea typeface="Arial"/>
                <a:cs typeface="Arial"/>
              </a:rPr>
              <a:t>선택적 청중·요약 인센티브는 별도 승인된 증분 배분이 필요합니다.</a:t>
            </a:r>
          </a:p>
        </p:txBody>
      </p:sp>
    </p:spTree>
    <p:extLst>
      <p:ext uri="{BB962C8B-B14F-4D97-AF65-F5344CB8AC3E}">
        <p14:creationId xmlns:p14="http://schemas.microsoft.com/office/powerpoint/2010/main" val="2006050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984EDD-DCD7-4D57-BC85-F194E12649BC}"/>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0EBCF613-EB10-412F-855F-F0CC0C3741D6}"/>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703F8F24-F85E-4C5B-BE83-04D02827D0B4}"/>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62"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9FB11EF9-6439-4BC4-AF67-9D216F75E9D0}"/>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796AA692-80C7-4264-8F87-F4A2315A9F59}"/>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372E66FB-65AD-4C86-BB5F-10017967B963}"/>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08</a:t>
            </a:r>
          </a:p>
        </p:txBody>
      </p:sp>
      <p:sp>
        <p:nvSpPr>
          <p:cNvPr id="10" name="TextBox 9">
            <a:extLst>
              <a:ext uri="{FF2B5EF4-FFF2-40B4-BE49-F238E27FC236}">
                <a16:creationId xmlns:a16="http://schemas.microsoft.com/office/drawing/2014/main" id="{B9B37B2B-38DA-4E65-AF16-FBD986BF1A60}"/>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03. KOL 및 유료 배포 | $9,000</a:t>
            </a:r>
          </a:p>
        </p:txBody>
      </p:sp>
      <p:sp>
        <p:nvSpPr>
          <p:cNvPr id="11" name="Rectangle 10">
            <a:extLst>
              <a:ext uri="{FF2B5EF4-FFF2-40B4-BE49-F238E27FC236}">
                <a16:creationId xmlns:a16="http://schemas.microsoft.com/office/drawing/2014/main" id="{D5C04FDE-9AB7-4AAF-A7FE-619970EAC40C}"/>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95D87-9A2D-4234-A546-B56AD9BD83B8}"/>
              </a:ext>
            </a:extLst>
          </p:cNvPr>
          <p:cNvSpPr>
            <a:spLocks noGrp="1"/>
          </p:cNvSpPr>
          <p:nvPr/>
        </p:nvSpPr>
        <p:spPr>
          <a:xfrm>
            <a:off x="1005840" y="1481328"/>
            <a:ext cx="10149840" cy="619506"/>
          </a:xfrm>
          <a:prstGeom prst="rect">
            <a:avLst/>
          </a:prstGeom>
          <a:noFill/>
        </p:spPr>
        <p:txBody>
          <a:bodyPr wrap="square" lIns="0" tIns="0" rIns="0" bIns="0" anchor="t">
            <a:noAutofit/>
          </a:bodyPr>
          <a:lstStyle/>
          <a:p>
            <a:pPr algn="l">
              <a:lnSpc>
                <a:spcPct val="110000"/>
              </a:lnSpc>
              <a:buNone/>
              <a:defRPr sz="1575">
                <a:solidFill>
                  <a:srgbClr val="334155"/>
                </a:solidFill>
                <a:latin typeface="Arial"/>
                <a:ea typeface="Arial"/>
                <a:cs typeface="Arial"/>
              </a:defRPr>
            </a:pPr>
            <a:r>
              <a:rPr sz="1575" b="0">
                <a:solidFill>
                  <a:srgbClr val="334155"/>
                </a:solidFill>
                <a:latin typeface="Arial"/>
                <a:ea typeface="Arial"/>
                <a:cs typeface="Arial"/>
              </a:rPr>
              <a:t>사용자를 공식 한국어 교육·커뮤니티 채널로 유도하는 X·Telegram 게재 믹스를 구매합니다.</a:t>
            </a:r>
          </a:p>
        </p:txBody>
      </p:sp>
      <p:sp>
        <p:nvSpPr>
          <p:cNvPr id="13" name="Rounded Rectangle 12">
            <a:extLst>
              <a:ext uri="{FF2B5EF4-FFF2-40B4-BE49-F238E27FC236}">
                <a16:creationId xmlns:a16="http://schemas.microsoft.com/office/drawing/2014/main" id="{112C4544-5B01-4526-B517-E4BED066D7D2}"/>
              </a:ext>
            </a:extLst>
          </p:cNvPr>
          <p:cNvSpPr>
            <a:spLocks noGrp="1"/>
          </p:cNvSpPr>
          <p:nvPr/>
        </p:nvSpPr>
        <p:spPr>
          <a:xfrm>
            <a:off x="868680" y="2148840"/>
            <a:ext cx="1463040" cy="320040"/>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B30C6EE2-9759-4C5B-9441-BF9C8B4A6552}"/>
              </a:ext>
            </a:extLst>
          </p:cNvPr>
          <p:cNvSpPr>
            <a:spLocks noGrp="1"/>
          </p:cNvSpPr>
          <p:nvPr/>
        </p:nvSpPr>
        <p:spPr>
          <a:xfrm>
            <a:off x="868680" y="2189988"/>
            <a:ext cx="1463040" cy="480060"/>
          </a:xfrm>
          <a:prstGeom prst="rect">
            <a:avLst/>
          </a:prstGeom>
          <a:noFill/>
        </p:spPr>
        <p:txBody>
          <a:bodyPr wrap="square" lIns="0" tIns="0" rIns="0" bIns="0" anchor="t">
            <a:noAutofit/>
          </a:bodyPr>
          <a:lstStyle/>
          <a:p>
            <a:pPr algn="l">
              <a:buNone/>
              <a:defRPr sz="1275" b="1">
                <a:solidFill>
                  <a:srgbClr val="FFFFFF"/>
                </a:solidFill>
                <a:latin typeface="Arial"/>
                <a:ea typeface="Arial"/>
                <a:cs typeface="Arial"/>
              </a:defRPr>
            </a:pPr>
            <a:r>
              <a:rPr sz="1275" b="1">
                <a:solidFill>
                  <a:srgbClr val="FFFFFF"/>
                </a:solidFill>
                <a:latin typeface="Arial"/>
                <a:ea typeface="Arial"/>
                <a:cs typeface="Arial"/>
              </a:rPr>
              <a:t>구매 범위</a:t>
            </a:r>
          </a:p>
        </p:txBody>
      </p:sp>
      <p:sp>
        <p:nvSpPr>
          <p:cNvPr id="15" name="Rounded Rectangle 14">
            <a:extLst>
              <a:ext uri="{FF2B5EF4-FFF2-40B4-BE49-F238E27FC236}">
                <a16:creationId xmlns:a16="http://schemas.microsoft.com/office/drawing/2014/main" id="{21FEE65E-E3BF-46BD-AFA8-8B84DFFF8636}"/>
              </a:ext>
            </a:extLst>
          </p:cNvPr>
          <p:cNvSpPr>
            <a:spLocks noGrp="1"/>
          </p:cNvSpPr>
          <p:nvPr/>
        </p:nvSpPr>
        <p:spPr>
          <a:xfrm>
            <a:off x="868680" y="2606040"/>
            <a:ext cx="4389120" cy="2103120"/>
          </a:xfrm>
          <a:prstGeom prst="roundRect">
            <a:avLst/>
          </a:prstGeom>
          <a:solidFill>
            <a:srgbClr val="FFFFFF"/>
          </a:solidFill>
          <a:ln w="12700">
            <a:solidFill>
              <a:srgbClr val="DD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Oval 15">
            <a:extLst>
              <a:ext uri="{FF2B5EF4-FFF2-40B4-BE49-F238E27FC236}">
                <a16:creationId xmlns:a16="http://schemas.microsoft.com/office/drawing/2014/main" id="{C054A196-87FA-4A78-AA89-C6458B796CBA}"/>
              </a:ext>
            </a:extLst>
          </p:cNvPr>
          <p:cNvSpPr>
            <a:spLocks noGrp="1"/>
          </p:cNvSpPr>
          <p:nvPr/>
        </p:nvSpPr>
        <p:spPr>
          <a:xfrm>
            <a:off x="1097280" y="2944368"/>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72D11CD-C586-435C-86CE-32D25C4569D8}"/>
              </a:ext>
            </a:extLst>
          </p:cNvPr>
          <p:cNvSpPr>
            <a:spLocks noGrp="1"/>
          </p:cNvSpPr>
          <p:nvPr/>
        </p:nvSpPr>
        <p:spPr>
          <a:xfrm>
            <a:off x="1097280" y="3031236"/>
            <a:ext cx="82296" cy="32918"/>
          </a:xfrm>
          <a:prstGeom prst="rect">
            <a:avLst/>
          </a:prstGeom>
          <a:noFill/>
        </p:spPr>
        <p:txBody>
          <a:bodyPr wrap="square">
            <a:spAutoFit/>
          </a:bodyPr>
          <a:lstStyle/>
          <a:p>
            <a:pPr algn="ctr">
              <a:buNone/>
            </a:pPr>
            <a:endParaRPr/>
          </a:p>
        </p:txBody>
      </p:sp>
      <p:sp>
        <p:nvSpPr>
          <p:cNvPr id="18" name="TextBox 17">
            <a:extLst>
              <a:ext uri="{FF2B5EF4-FFF2-40B4-BE49-F238E27FC236}">
                <a16:creationId xmlns:a16="http://schemas.microsoft.com/office/drawing/2014/main" id="{94CADAC3-7F32-418B-9B2D-3B408465D2C4}"/>
              </a:ext>
            </a:extLst>
          </p:cNvPr>
          <p:cNvSpPr>
            <a:spLocks noGrp="1"/>
          </p:cNvSpPr>
          <p:nvPr/>
        </p:nvSpPr>
        <p:spPr>
          <a:xfrm>
            <a:off x="1261872" y="2898648"/>
            <a:ext cx="3771900" cy="409575"/>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양 채널 합산 게재 18–24건</a:t>
            </a:r>
          </a:p>
        </p:txBody>
      </p:sp>
      <p:sp>
        <p:nvSpPr>
          <p:cNvPr id="19" name="Oval 18">
            <a:extLst>
              <a:ext uri="{FF2B5EF4-FFF2-40B4-BE49-F238E27FC236}">
                <a16:creationId xmlns:a16="http://schemas.microsoft.com/office/drawing/2014/main" id="{D4A5AC21-DEA2-4DAC-9C33-89588055B8EF}"/>
              </a:ext>
            </a:extLst>
          </p:cNvPr>
          <p:cNvSpPr>
            <a:spLocks noGrp="1"/>
          </p:cNvSpPr>
          <p:nvPr/>
        </p:nvSpPr>
        <p:spPr>
          <a:xfrm>
            <a:off x="1097280" y="3328415"/>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7F7445EF-1087-45CC-915A-62E3B27846FE}"/>
              </a:ext>
            </a:extLst>
          </p:cNvPr>
          <p:cNvSpPr>
            <a:spLocks noGrp="1"/>
          </p:cNvSpPr>
          <p:nvPr/>
        </p:nvSpPr>
        <p:spPr>
          <a:xfrm>
            <a:off x="1097280" y="3415284"/>
            <a:ext cx="82296" cy="32918"/>
          </a:xfrm>
          <a:prstGeom prst="rect">
            <a:avLst/>
          </a:prstGeom>
          <a:noFill/>
        </p:spPr>
        <p:txBody>
          <a:bodyPr wrap="square">
            <a:spAutoFit/>
          </a:bodyPr>
          <a:lstStyle/>
          <a:p>
            <a:pPr algn="ctr">
              <a:buNone/>
            </a:pPr>
            <a:endParaRPr/>
          </a:p>
        </p:txBody>
      </p:sp>
      <p:sp>
        <p:nvSpPr>
          <p:cNvPr id="21" name="TextBox 20">
            <a:extLst>
              <a:ext uri="{FF2B5EF4-FFF2-40B4-BE49-F238E27FC236}">
                <a16:creationId xmlns:a16="http://schemas.microsoft.com/office/drawing/2014/main" id="{D684D04A-D2DD-46C8-8C94-6EEBC1E1F187}"/>
              </a:ext>
            </a:extLst>
          </p:cNvPr>
          <p:cNvSpPr>
            <a:spLocks noGrp="1"/>
          </p:cNvSpPr>
          <p:nvPr/>
        </p:nvSpPr>
        <p:spPr>
          <a:xfrm>
            <a:off x="1261872" y="3282696"/>
            <a:ext cx="3771900" cy="409575"/>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숏리스트: X 최대 6 + Telegram 최대 6</a:t>
            </a:r>
          </a:p>
        </p:txBody>
      </p:sp>
      <p:sp>
        <p:nvSpPr>
          <p:cNvPr id="22" name="Oval 21">
            <a:extLst>
              <a:ext uri="{FF2B5EF4-FFF2-40B4-BE49-F238E27FC236}">
                <a16:creationId xmlns:a16="http://schemas.microsoft.com/office/drawing/2014/main" id="{AA7A02AD-C841-445D-8AB1-82E0D48F25D2}"/>
              </a:ext>
            </a:extLst>
          </p:cNvPr>
          <p:cNvSpPr>
            <a:spLocks noGrp="1"/>
          </p:cNvSpPr>
          <p:nvPr/>
        </p:nvSpPr>
        <p:spPr>
          <a:xfrm>
            <a:off x="1097280" y="3712463"/>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A95EE8C-3851-475E-B984-155FBF16BAA4}"/>
              </a:ext>
            </a:extLst>
          </p:cNvPr>
          <p:cNvSpPr>
            <a:spLocks noGrp="1"/>
          </p:cNvSpPr>
          <p:nvPr/>
        </p:nvSpPr>
        <p:spPr>
          <a:xfrm>
            <a:off x="1097280" y="3799331"/>
            <a:ext cx="82296" cy="32918"/>
          </a:xfrm>
          <a:prstGeom prst="rect">
            <a:avLst/>
          </a:prstGeom>
          <a:noFill/>
        </p:spPr>
        <p:txBody>
          <a:bodyPr wrap="square">
            <a:spAutoFit/>
          </a:bodyPr>
          <a:lstStyle/>
          <a:p>
            <a:pPr algn="ctr">
              <a:buNone/>
            </a:pPr>
            <a:endParaRPr/>
          </a:p>
        </p:txBody>
      </p:sp>
      <p:sp>
        <p:nvSpPr>
          <p:cNvPr id="24" name="TextBox 23">
            <a:extLst>
              <a:ext uri="{FF2B5EF4-FFF2-40B4-BE49-F238E27FC236}">
                <a16:creationId xmlns:a16="http://schemas.microsoft.com/office/drawing/2014/main" id="{710F656B-4999-4B63-90F8-DAC6EB52F156}"/>
              </a:ext>
            </a:extLst>
          </p:cNvPr>
          <p:cNvSpPr>
            <a:spLocks noGrp="1"/>
          </p:cNvSpPr>
          <p:nvPr/>
        </p:nvSpPr>
        <p:spPr>
          <a:xfrm>
            <a:off x="1261872" y="3666744"/>
            <a:ext cx="3771900" cy="409575"/>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최종 믹스·물량은 파트너 견적에 따름</a:t>
            </a:r>
          </a:p>
        </p:txBody>
      </p:sp>
      <p:sp>
        <p:nvSpPr>
          <p:cNvPr id="25" name="Oval 24">
            <a:extLst>
              <a:ext uri="{FF2B5EF4-FFF2-40B4-BE49-F238E27FC236}">
                <a16:creationId xmlns:a16="http://schemas.microsoft.com/office/drawing/2014/main" id="{B7894E8E-71D0-4A90-B056-C66C11941D34}"/>
              </a:ext>
            </a:extLst>
          </p:cNvPr>
          <p:cNvSpPr>
            <a:spLocks noGrp="1"/>
          </p:cNvSpPr>
          <p:nvPr/>
        </p:nvSpPr>
        <p:spPr>
          <a:xfrm>
            <a:off x="1097280" y="4096511"/>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289936-9D3D-44AD-8E74-58A253D0BFD7}"/>
              </a:ext>
            </a:extLst>
          </p:cNvPr>
          <p:cNvSpPr>
            <a:spLocks noGrp="1"/>
          </p:cNvSpPr>
          <p:nvPr/>
        </p:nvSpPr>
        <p:spPr>
          <a:xfrm>
            <a:off x="1097280" y="4183379"/>
            <a:ext cx="82296" cy="32918"/>
          </a:xfrm>
          <a:prstGeom prst="rect">
            <a:avLst/>
          </a:prstGeom>
          <a:noFill/>
        </p:spPr>
        <p:txBody>
          <a:bodyPr wrap="square">
            <a:spAutoFit/>
          </a:bodyPr>
          <a:lstStyle/>
          <a:p>
            <a:pPr algn="ctr">
              <a:buNone/>
            </a:pPr>
            <a:endParaRPr/>
          </a:p>
        </p:txBody>
      </p:sp>
      <p:sp>
        <p:nvSpPr>
          <p:cNvPr id="27" name="TextBox 26">
            <a:extLst>
              <a:ext uri="{FF2B5EF4-FFF2-40B4-BE49-F238E27FC236}">
                <a16:creationId xmlns:a16="http://schemas.microsoft.com/office/drawing/2014/main" id="{CCE8439D-C219-4456-98B7-861C034F4AFB}"/>
              </a:ext>
            </a:extLst>
          </p:cNvPr>
          <p:cNvSpPr>
            <a:spLocks noGrp="1"/>
          </p:cNvSpPr>
          <p:nvPr/>
        </p:nvSpPr>
        <p:spPr>
          <a:xfrm>
            <a:off x="1261872" y="4050791"/>
            <a:ext cx="3771900" cy="409575"/>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현금 기준; 토큰 보상 가정 없음</a:t>
            </a:r>
          </a:p>
        </p:txBody>
      </p:sp>
      <p:sp>
        <p:nvSpPr>
          <p:cNvPr id="28" name="Rounded Rectangle 27">
            <a:extLst>
              <a:ext uri="{FF2B5EF4-FFF2-40B4-BE49-F238E27FC236}">
                <a16:creationId xmlns:a16="http://schemas.microsoft.com/office/drawing/2014/main" id="{DD61A103-1D69-40B6-8BA8-EE31E90474F8}"/>
              </a:ext>
            </a:extLst>
          </p:cNvPr>
          <p:cNvSpPr>
            <a:spLocks noGrp="1"/>
          </p:cNvSpPr>
          <p:nvPr/>
        </p:nvSpPr>
        <p:spPr>
          <a:xfrm>
            <a:off x="5623560" y="2148840"/>
            <a:ext cx="2029968" cy="320040"/>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6B0DF719-EB0A-49A9-9F2F-62AD1291E4A9}"/>
              </a:ext>
            </a:extLst>
          </p:cNvPr>
          <p:cNvSpPr>
            <a:spLocks noGrp="1"/>
          </p:cNvSpPr>
          <p:nvPr/>
        </p:nvSpPr>
        <p:spPr>
          <a:xfrm>
            <a:off x="5623560" y="2189988"/>
            <a:ext cx="2029968" cy="285750"/>
          </a:xfrm>
          <a:prstGeom prst="rect">
            <a:avLst/>
          </a:prstGeom>
          <a:noFill/>
        </p:spPr>
        <p:txBody>
          <a:bodyPr wrap="square" lIns="0" tIns="0" rIns="0" bIns="0" anchor="t">
            <a:noAutofit/>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채널 우선순위</a:t>
            </a:r>
          </a:p>
        </p:txBody>
      </p:sp>
      <p:sp>
        <p:nvSpPr>
          <p:cNvPr id="30" name="Rounded Rectangle 29">
            <a:extLst>
              <a:ext uri="{FF2B5EF4-FFF2-40B4-BE49-F238E27FC236}">
                <a16:creationId xmlns:a16="http://schemas.microsoft.com/office/drawing/2014/main" id="{F2E355FE-EB7E-413B-B6FD-B50A4459ACCE}"/>
              </a:ext>
            </a:extLst>
          </p:cNvPr>
          <p:cNvSpPr>
            <a:spLocks noGrp="1"/>
          </p:cNvSpPr>
          <p:nvPr/>
        </p:nvSpPr>
        <p:spPr>
          <a:xfrm>
            <a:off x="5623560" y="2606040"/>
            <a:ext cx="5669280" cy="2103120"/>
          </a:xfrm>
          <a:prstGeom prst="roundRect">
            <a:avLst/>
          </a:prstGeom>
          <a:solidFill>
            <a:srgbClr val="FFFFFF"/>
          </a:solidFill>
          <a:ln w="12700">
            <a:solidFill>
              <a:srgbClr val="DD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Oval 30">
            <a:extLst>
              <a:ext uri="{FF2B5EF4-FFF2-40B4-BE49-F238E27FC236}">
                <a16:creationId xmlns:a16="http://schemas.microsoft.com/office/drawing/2014/main" id="{B8453F1B-9818-4DA2-803A-7B6354282609}"/>
              </a:ext>
            </a:extLst>
          </p:cNvPr>
          <p:cNvSpPr>
            <a:spLocks noGrp="1"/>
          </p:cNvSpPr>
          <p:nvPr/>
        </p:nvSpPr>
        <p:spPr>
          <a:xfrm>
            <a:off x="5897880" y="2944368"/>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3EA0ED3A-5C26-45F1-97C7-59183401AE98}"/>
              </a:ext>
            </a:extLst>
          </p:cNvPr>
          <p:cNvSpPr>
            <a:spLocks noGrp="1"/>
          </p:cNvSpPr>
          <p:nvPr/>
        </p:nvSpPr>
        <p:spPr>
          <a:xfrm>
            <a:off x="5897880" y="3031236"/>
            <a:ext cx="82296" cy="32918"/>
          </a:xfrm>
          <a:prstGeom prst="rect">
            <a:avLst/>
          </a:prstGeom>
          <a:noFill/>
        </p:spPr>
        <p:txBody>
          <a:bodyPr wrap="square">
            <a:spAutoFit/>
          </a:bodyPr>
          <a:lstStyle/>
          <a:p>
            <a:pPr algn="ctr">
              <a:buNone/>
            </a:pPr>
            <a:endParaRPr/>
          </a:p>
        </p:txBody>
      </p:sp>
      <p:sp>
        <p:nvSpPr>
          <p:cNvPr id="33" name="TextBox 32">
            <a:extLst>
              <a:ext uri="{FF2B5EF4-FFF2-40B4-BE49-F238E27FC236}">
                <a16:creationId xmlns:a16="http://schemas.microsoft.com/office/drawing/2014/main" id="{939F686D-DC3B-4834-B129-37E4E76BFA26}"/>
              </a:ext>
            </a:extLst>
          </p:cNvPr>
          <p:cNvSpPr>
            <a:spLocks noGrp="1"/>
          </p:cNvSpPr>
          <p:nvPr/>
        </p:nvSpPr>
        <p:spPr>
          <a:xfrm>
            <a:off x="6062472" y="2898648"/>
            <a:ext cx="2121408" cy="292608"/>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DeFi 전략 KOL</a:t>
            </a:r>
          </a:p>
        </p:txBody>
      </p:sp>
      <p:sp>
        <p:nvSpPr>
          <p:cNvPr id="34" name="Oval 33">
            <a:extLst>
              <a:ext uri="{FF2B5EF4-FFF2-40B4-BE49-F238E27FC236}">
                <a16:creationId xmlns:a16="http://schemas.microsoft.com/office/drawing/2014/main" id="{AF3F2070-D0F8-4828-AD25-226B52FD1547}"/>
              </a:ext>
            </a:extLst>
          </p:cNvPr>
          <p:cNvSpPr>
            <a:spLocks noGrp="1"/>
          </p:cNvSpPr>
          <p:nvPr/>
        </p:nvSpPr>
        <p:spPr>
          <a:xfrm>
            <a:off x="5897880" y="3291839"/>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F67E7F84-E008-4281-B671-024A5435EE19}"/>
              </a:ext>
            </a:extLst>
          </p:cNvPr>
          <p:cNvSpPr>
            <a:spLocks noGrp="1"/>
          </p:cNvSpPr>
          <p:nvPr/>
        </p:nvSpPr>
        <p:spPr>
          <a:xfrm>
            <a:off x="5897880" y="3378708"/>
            <a:ext cx="82296" cy="32918"/>
          </a:xfrm>
          <a:prstGeom prst="rect">
            <a:avLst/>
          </a:prstGeom>
          <a:noFill/>
        </p:spPr>
        <p:txBody>
          <a:bodyPr wrap="square">
            <a:spAutoFit/>
          </a:bodyPr>
          <a:lstStyle/>
          <a:p>
            <a:pPr algn="ctr">
              <a:buNone/>
            </a:pPr>
            <a:endParaRPr/>
          </a:p>
        </p:txBody>
      </p:sp>
      <p:sp>
        <p:nvSpPr>
          <p:cNvPr id="36" name="TextBox 35">
            <a:extLst>
              <a:ext uri="{FF2B5EF4-FFF2-40B4-BE49-F238E27FC236}">
                <a16:creationId xmlns:a16="http://schemas.microsoft.com/office/drawing/2014/main" id="{39BAAE5E-2FC5-40FD-AD77-2505A92F2EA7}"/>
              </a:ext>
            </a:extLst>
          </p:cNvPr>
          <p:cNvSpPr>
            <a:spLocks noGrp="1"/>
          </p:cNvSpPr>
          <p:nvPr/>
        </p:nvSpPr>
        <p:spPr>
          <a:xfrm>
            <a:off x="6062472" y="3246120"/>
            <a:ext cx="2121408" cy="292608"/>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스테이블코인/RWA 애널리스트</a:t>
            </a:r>
          </a:p>
        </p:txBody>
      </p:sp>
      <p:sp>
        <p:nvSpPr>
          <p:cNvPr id="37" name="Oval 36">
            <a:extLst>
              <a:ext uri="{FF2B5EF4-FFF2-40B4-BE49-F238E27FC236}">
                <a16:creationId xmlns:a16="http://schemas.microsoft.com/office/drawing/2014/main" id="{55770598-E77F-4942-AFE1-0072A35F3238}"/>
              </a:ext>
            </a:extLst>
          </p:cNvPr>
          <p:cNvSpPr>
            <a:spLocks noGrp="1"/>
          </p:cNvSpPr>
          <p:nvPr/>
        </p:nvSpPr>
        <p:spPr>
          <a:xfrm>
            <a:off x="5897880" y="3639311"/>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CCD3AB4F-4C95-42C6-8EEE-0E905F3400BA}"/>
              </a:ext>
            </a:extLst>
          </p:cNvPr>
          <p:cNvSpPr>
            <a:spLocks noGrp="1"/>
          </p:cNvSpPr>
          <p:nvPr/>
        </p:nvSpPr>
        <p:spPr>
          <a:xfrm>
            <a:off x="5897880" y="3726179"/>
            <a:ext cx="82296" cy="32918"/>
          </a:xfrm>
          <a:prstGeom prst="rect">
            <a:avLst/>
          </a:prstGeom>
          <a:noFill/>
        </p:spPr>
        <p:txBody>
          <a:bodyPr wrap="square">
            <a:spAutoFit/>
          </a:bodyPr>
          <a:lstStyle/>
          <a:p>
            <a:pPr algn="ctr">
              <a:buNone/>
            </a:pPr>
            <a:endParaRPr/>
          </a:p>
        </p:txBody>
      </p:sp>
      <p:sp>
        <p:nvSpPr>
          <p:cNvPr id="39" name="TextBox 38">
            <a:extLst>
              <a:ext uri="{FF2B5EF4-FFF2-40B4-BE49-F238E27FC236}">
                <a16:creationId xmlns:a16="http://schemas.microsoft.com/office/drawing/2014/main" id="{84AC648A-EC14-4722-B380-5C36DEE43A24}"/>
              </a:ext>
            </a:extLst>
          </p:cNvPr>
          <p:cNvSpPr>
            <a:spLocks noGrp="1"/>
          </p:cNvSpPr>
          <p:nvPr/>
        </p:nvSpPr>
        <p:spPr>
          <a:xfrm>
            <a:off x="6062472" y="3593591"/>
            <a:ext cx="2121408" cy="29718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Web3 교육자</a:t>
            </a:r>
          </a:p>
        </p:txBody>
      </p:sp>
      <p:sp>
        <p:nvSpPr>
          <p:cNvPr id="40" name="Oval 39">
            <a:extLst>
              <a:ext uri="{FF2B5EF4-FFF2-40B4-BE49-F238E27FC236}">
                <a16:creationId xmlns:a16="http://schemas.microsoft.com/office/drawing/2014/main" id="{8B5C9F4D-997C-4C74-9EEF-04AA213553A9}"/>
              </a:ext>
            </a:extLst>
          </p:cNvPr>
          <p:cNvSpPr>
            <a:spLocks noGrp="1"/>
          </p:cNvSpPr>
          <p:nvPr/>
        </p:nvSpPr>
        <p:spPr>
          <a:xfrm>
            <a:off x="5897880" y="3986784"/>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81230C3B-FB56-49FD-88B4-DAA5E6382406}"/>
              </a:ext>
            </a:extLst>
          </p:cNvPr>
          <p:cNvSpPr>
            <a:spLocks noGrp="1"/>
          </p:cNvSpPr>
          <p:nvPr/>
        </p:nvSpPr>
        <p:spPr>
          <a:xfrm>
            <a:off x="5897880" y="4073652"/>
            <a:ext cx="82296" cy="32918"/>
          </a:xfrm>
          <a:prstGeom prst="rect">
            <a:avLst/>
          </a:prstGeom>
          <a:noFill/>
        </p:spPr>
        <p:txBody>
          <a:bodyPr wrap="square">
            <a:spAutoFit/>
          </a:bodyPr>
          <a:lstStyle/>
          <a:p>
            <a:pPr algn="ctr">
              <a:buNone/>
            </a:pPr>
            <a:endParaRPr/>
          </a:p>
        </p:txBody>
      </p:sp>
      <p:sp>
        <p:nvSpPr>
          <p:cNvPr id="42" name="TextBox 41">
            <a:extLst>
              <a:ext uri="{FF2B5EF4-FFF2-40B4-BE49-F238E27FC236}">
                <a16:creationId xmlns:a16="http://schemas.microsoft.com/office/drawing/2014/main" id="{424C5DD1-DC76-4D38-A43F-BF4C45B58F78}"/>
              </a:ext>
            </a:extLst>
          </p:cNvPr>
          <p:cNvSpPr>
            <a:spLocks noGrp="1"/>
          </p:cNvSpPr>
          <p:nvPr/>
        </p:nvSpPr>
        <p:spPr>
          <a:xfrm>
            <a:off x="6062472" y="3941064"/>
            <a:ext cx="2121408" cy="292608"/>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수익 전략 라이터</a:t>
            </a:r>
          </a:p>
        </p:txBody>
      </p:sp>
      <p:sp>
        <p:nvSpPr>
          <p:cNvPr id="43" name="Oval 42">
            <a:extLst>
              <a:ext uri="{FF2B5EF4-FFF2-40B4-BE49-F238E27FC236}">
                <a16:creationId xmlns:a16="http://schemas.microsoft.com/office/drawing/2014/main" id="{ECF3F5BD-FE73-4434-9756-B543F39B1C42}"/>
              </a:ext>
            </a:extLst>
          </p:cNvPr>
          <p:cNvSpPr>
            <a:spLocks noGrp="1"/>
          </p:cNvSpPr>
          <p:nvPr/>
        </p:nvSpPr>
        <p:spPr>
          <a:xfrm>
            <a:off x="8503920" y="2944368"/>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206F75B-2B3B-4239-A36A-214780D0911F}"/>
              </a:ext>
            </a:extLst>
          </p:cNvPr>
          <p:cNvSpPr>
            <a:spLocks noGrp="1"/>
          </p:cNvSpPr>
          <p:nvPr/>
        </p:nvSpPr>
        <p:spPr>
          <a:xfrm>
            <a:off x="8503920" y="3031236"/>
            <a:ext cx="82296" cy="32918"/>
          </a:xfrm>
          <a:prstGeom prst="rect">
            <a:avLst/>
          </a:prstGeom>
          <a:noFill/>
        </p:spPr>
        <p:txBody>
          <a:bodyPr wrap="square">
            <a:spAutoFit/>
          </a:bodyPr>
          <a:lstStyle/>
          <a:p>
            <a:pPr algn="ctr">
              <a:buNone/>
            </a:pPr>
            <a:endParaRPr/>
          </a:p>
        </p:txBody>
      </p:sp>
      <p:sp>
        <p:nvSpPr>
          <p:cNvPr id="45" name="TextBox 44">
            <a:extLst>
              <a:ext uri="{FF2B5EF4-FFF2-40B4-BE49-F238E27FC236}">
                <a16:creationId xmlns:a16="http://schemas.microsoft.com/office/drawing/2014/main" id="{BA37C50D-F00D-49AF-8B49-3EA90FC632E4}"/>
              </a:ext>
            </a:extLst>
          </p:cNvPr>
          <p:cNvSpPr>
            <a:spLocks noGrp="1"/>
          </p:cNvSpPr>
          <p:nvPr/>
        </p:nvSpPr>
        <p:spPr>
          <a:xfrm>
            <a:off x="8668512" y="2898648"/>
            <a:ext cx="2121408" cy="292608"/>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Telegram DeFi 채널</a:t>
            </a:r>
          </a:p>
        </p:txBody>
      </p:sp>
      <p:sp>
        <p:nvSpPr>
          <p:cNvPr id="46" name="Oval 45">
            <a:extLst>
              <a:ext uri="{FF2B5EF4-FFF2-40B4-BE49-F238E27FC236}">
                <a16:creationId xmlns:a16="http://schemas.microsoft.com/office/drawing/2014/main" id="{6864BAAF-8728-4492-9206-2959CAD4AAB3}"/>
              </a:ext>
            </a:extLst>
          </p:cNvPr>
          <p:cNvSpPr>
            <a:spLocks noGrp="1"/>
          </p:cNvSpPr>
          <p:nvPr/>
        </p:nvSpPr>
        <p:spPr>
          <a:xfrm>
            <a:off x="8503920" y="3291839"/>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07397E8-BF15-4ABA-B08F-FE78319DFEFE}"/>
              </a:ext>
            </a:extLst>
          </p:cNvPr>
          <p:cNvSpPr>
            <a:spLocks noGrp="1"/>
          </p:cNvSpPr>
          <p:nvPr/>
        </p:nvSpPr>
        <p:spPr>
          <a:xfrm>
            <a:off x="8503920" y="3378708"/>
            <a:ext cx="82296" cy="32918"/>
          </a:xfrm>
          <a:prstGeom prst="rect">
            <a:avLst/>
          </a:prstGeom>
          <a:noFill/>
        </p:spPr>
        <p:txBody>
          <a:bodyPr wrap="square">
            <a:spAutoFit/>
          </a:bodyPr>
          <a:lstStyle/>
          <a:p>
            <a:pPr algn="ctr">
              <a:buNone/>
            </a:pPr>
            <a:endParaRPr/>
          </a:p>
        </p:txBody>
      </p:sp>
      <p:sp>
        <p:nvSpPr>
          <p:cNvPr id="48" name="TextBox 47">
            <a:extLst>
              <a:ext uri="{FF2B5EF4-FFF2-40B4-BE49-F238E27FC236}">
                <a16:creationId xmlns:a16="http://schemas.microsoft.com/office/drawing/2014/main" id="{07A75CBA-B1EF-430F-820F-30BEFD0B498E}"/>
              </a:ext>
            </a:extLst>
          </p:cNvPr>
          <p:cNvSpPr>
            <a:spLocks noGrp="1"/>
          </p:cNvSpPr>
          <p:nvPr/>
        </p:nvSpPr>
        <p:spPr>
          <a:xfrm>
            <a:off x="8668512" y="3246120"/>
            <a:ext cx="2121408" cy="29718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한국 리서치 그룹</a:t>
            </a:r>
          </a:p>
        </p:txBody>
      </p:sp>
      <p:sp>
        <p:nvSpPr>
          <p:cNvPr id="49" name="Oval 48">
            <a:extLst>
              <a:ext uri="{FF2B5EF4-FFF2-40B4-BE49-F238E27FC236}">
                <a16:creationId xmlns:a16="http://schemas.microsoft.com/office/drawing/2014/main" id="{33DABF07-E7BF-4961-BD50-C8FB616F7F01}"/>
              </a:ext>
            </a:extLst>
          </p:cNvPr>
          <p:cNvSpPr>
            <a:spLocks noGrp="1"/>
          </p:cNvSpPr>
          <p:nvPr/>
        </p:nvSpPr>
        <p:spPr>
          <a:xfrm>
            <a:off x="8503920" y="3639311"/>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95003604-87A4-49B9-869B-DBDA8C4D6737}"/>
              </a:ext>
            </a:extLst>
          </p:cNvPr>
          <p:cNvSpPr>
            <a:spLocks noGrp="1"/>
          </p:cNvSpPr>
          <p:nvPr/>
        </p:nvSpPr>
        <p:spPr>
          <a:xfrm>
            <a:off x="8503920" y="3726179"/>
            <a:ext cx="82296" cy="32918"/>
          </a:xfrm>
          <a:prstGeom prst="rect">
            <a:avLst/>
          </a:prstGeom>
          <a:noFill/>
        </p:spPr>
        <p:txBody>
          <a:bodyPr wrap="square">
            <a:spAutoFit/>
          </a:bodyPr>
          <a:lstStyle/>
          <a:p>
            <a:pPr algn="ctr">
              <a:buNone/>
            </a:pPr>
            <a:endParaRPr/>
          </a:p>
        </p:txBody>
      </p:sp>
      <p:sp>
        <p:nvSpPr>
          <p:cNvPr id="51" name="TextBox 50">
            <a:extLst>
              <a:ext uri="{FF2B5EF4-FFF2-40B4-BE49-F238E27FC236}">
                <a16:creationId xmlns:a16="http://schemas.microsoft.com/office/drawing/2014/main" id="{ED480FC9-8001-48AE-A108-E6DBA06EA710}"/>
              </a:ext>
            </a:extLst>
          </p:cNvPr>
          <p:cNvSpPr>
            <a:spLocks noGrp="1"/>
          </p:cNvSpPr>
          <p:nvPr/>
        </p:nvSpPr>
        <p:spPr>
          <a:xfrm>
            <a:off x="8668512" y="3593591"/>
            <a:ext cx="2121408" cy="292608"/>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RWA/금융 그룹</a:t>
            </a:r>
          </a:p>
        </p:txBody>
      </p:sp>
      <p:sp>
        <p:nvSpPr>
          <p:cNvPr id="52" name="Oval 51">
            <a:extLst>
              <a:ext uri="{FF2B5EF4-FFF2-40B4-BE49-F238E27FC236}">
                <a16:creationId xmlns:a16="http://schemas.microsoft.com/office/drawing/2014/main" id="{BC138338-5511-4FC9-AEF8-EE4AB48452EA}"/>
              </a:ext>
            </a:extLst>
          </p:cNvPr>
          <p:cNvSpPr>
            <a:spLocks noGrp="1"/>
          </p:cNvSpPr>
          <p:nvPr/>
        </p:nvSpPr>
        <p:spPr>
          <a:xfrm>
            <a:off x="8503920" y="3986784"/>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5C952FA9-419B-47DB-B518-781C2D7344F9}"/>
              </a:ext>
            </a:extLst>
          </p:cNvPr>
          <p:cNvSpPr>
            <a:spLocks noGrp="1"/>
          </p:cNvSpPr>
          <p:nvPr/>
        </p:nvSpPr>
        <p:spPr>
          <a:xfrm>
            <a:off x="8503920" y="4073652"/>
            <a:ext cx="82296" cy="32918"/>
          </a:xfrm>
          <a:prstGeom prst="rect">
            <a:avLst/>
          </a:prstGeom>
          <a:noFill/>
        </p:spPr>
        <p:txBody>
          <a:bodyPr wrap="square">
            <a:spAutoFit/>
          </a:bodyPr>
          <a:lstStyle/>
          <a:p>
            <a:pPr algn="ctr">
              <a:buNone/>
            </a:pPr>
            <a:endParaRPr/>
          </a:p>
        </p:txBody>
      </p:sp>
      <p:sp>
        <p:nvSpPr>
          <p:cNvPr id="54" name="TextBox 53">
            <a:extLst>
              <a:ext uri="{FF2B5EF4-FFF2-40B4-BE49-F238E27FC236}">
                <a16:creationId xmlns:a16="http://schemas.microsoft.com/office/drawing/2014/main" id="{6A62F20C-528E-4405-8C29-6B53E111DFFF}"/>
              </a:ext>
            </a:extLst>
          </p:cNvPr>
          <p:cNvSpPr>
            <a:spLocks noGrp="1"/>
          </p:cNvSpPr>
          <p:nvPr/>
        </p:nvSpPr>
        <p:spPr>
          <a:xfrm>
            <a:off x="8668512" y="3941064"/>
            <a:ext cx="2121408" cy="29718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경험 있는 DeFi 사용자</a:t>
            </a:r>
          </a:p>
        </p:txBody>
      </p:sp>
      <p:sp>
        <p:nvSpPr>
          <p:cNvPr id="55" name="Rounded Rectangle 54">
            <a:extLst>
              <a:ext uri="{FF2B5EF4-FFF2-40B4-BE49-F238E27FC236}">
                <a16:creationId xmlns:a16="http://schemas.microsoft.com/office/drawing/2014/main" id="{FB8FDCDE-3871-40ED-9F73-C5F037281A33}"/>
              </a:ext>
            </a:extLst>
          </p:cNvPr>
          <p:cNvSpPr>
            <a:spLocks noGrp="1"/>
          </p:cNvSpPr>
          <p:nvPr/>
        </p:nvSpPr>
        <p:spPr>
          <a:xfrm>
            <a:off x="868680" y="5166360"/>
            <a:ext cx="10424160" cy="694944"/>
          </a:xfrm>
          <a:prstGeom prst="roundRect">
            <a:avLst/>
          </a:prstGeom>
          <a:solidFill>
            <a:srgbClr val="F3F6FF"/>
          </a:solidFill>
          <a:ln w="12700">
            <a:solidFill>
              <a:srgbClr val="DD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6" name="TextBox 55">
            <a:extLst>
              <a:ext uri="{FF2B5EF4-FFF2-40B4-BE49-F238E27FC236}">
                <a16:creationId xmlns:a16="http://schemas.microsoft.com/office/drawing/2014/main" id="{119F5A23-211A-4D40-8FD9-705B41180658}"/>
              </a:ext>
            </a:extLst>
          </p:cNvPr>
          <p:cNvSpPr>
            <a:spLocks noGrp="1"/>
          </p:cNvSpPr>
          <p:nvPr/>
        </p:nvSpPr>
        <p:spPr>
          <a:xfrm>
            <a:off x="1143000" y="5314950"/>
            <a:ext cx="9877425" cy="581025"/>
          </a:xfrm>
          <a:prstGeom prst="rect">
            <a:avLst/>
          </a:prstGeom>
          <a:noFill/>
        </p:spPr>
        <p:txBody>
          <a:bodyPr wrap="square" lIns="0" tIns="0" rIns="0" bIns="0" anchor="t">
            <a:noAutofit/>
          </a:bodyPr>
          <a:lstStyle/>
          <a:p>
            <a:pPr algn="l">
              <a:buNone/>
              <a:defRPr sz="1350" b="1">
                <a:solidFill>
                  <a:srgbClr val="0B39FF"/>
                </a:solidFill>
                <a:latin typeface="Arial"/>
                <a:ea typeface="Arial"/>
                <a:cs typeface="Arial"/>
              </a:defRPr>
            </a:pPr>
            <a:r>
              <a:rPr sz="1350" b="1">
                <a:solidFill>
                  <a:srgbClr val="0B39FF"/>
                </a:solidFill>
                <a:latin typeface="Arial"/>
                <a:ea typeface="Arial"/>
                <a:cs typeface="Arial"/>
              </a:rPr>
              <a:t>스폰서십을 고지하고 태그 링크를 사용합니다. 토큰 계약은 별도 서면 조건과 예산 정산이 필요합니다.</a:t>
            </a:r>
          </a:p>
        </p:txBody>
      </p:sp>
    </p:spTree>
    <p:extLst>
      <p:ext uri="{BB962C8B-B14F-4D97-AF65-F5344CB8AC3E}">
        <p14:creationId xmlns:p14="http://schemas.microsoft.com/office/powerpoint/2010/main" val="2071962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9F90055-3FBA-40FA-BC84-52810DBDDB0E}"/>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1E2A70BC-C0D4-49D4-9F00-E9339D59CD30}"/>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5A1352AB-3EB8-4B96-9567-ECA02E8772D6}"/>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6"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663333ED-C977-479C-8A21-E31FB9AA3F4C}"/>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80C4BE71-D7E0-414D-8CB5-8C3ADA014942}"/>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FEA82638-5909-4489-855A-E3BF4D321018}"/>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09</a:t>
            </a:r>
          </a:p>
        </p:txBody>
      </p:sp>
      <p:sp>
        <p:nvSpPr>
          <p:cNvPr id="10" name="TextBox 9">
            <a:extLst>
              <a:ext uri="{FF2B5EF4-FFF2-40B4-BE49-F238E27FC236}">
                <a16:creationId xmlns:a16="http://schemas.microsoft.com/office/drawing/2014/main" id="{CDCEA423-21B9-461F-8C5A-703F1B5F8325}"/>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04. UGC 크리에이터 프로그램 | $5,000</a:t>
            </a:r>
          </a:p>
        </p:txBody>
      </p:sp>
      <p:sp>
        <p:nvSpPr>
          <p:cNvPr id="11" name="Rectangle 10">
            <a:extLst>
              <a:ext uri="{FF2B5EF4-FFF2-40B4-BE49-F238E27FC236}">
                <a16:creationId xmlns:a16="http://schemas.microsoft.com/office/drawing/2014/main" id="{D26ABE45-3A95-4853-BDB1-92C6B45FA37B}"/>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763594B-16D9-46E7-AE24-CCDF5F3D6D91}"/>
              </a:ext>
            </a:extLst>
          </p:cNvPr>
          <p:cNvSpPr>
            <a:spLocks noGrp="1"/>
          </p:cNvSpPr>
          <p:nvPr/>
        </p:nvSpPr>
        <p:spPr>
          <a:xfrm>
            <a:off x="1005840" y="1481328"/>
            <a:ext cx="10149840" cy="457200"/>
          </a:xfrm>
          <a:prstGeom prst="rect">
            <a:avLst/>
          </a:prstGeom>
          <a:noFill/>
        </p:spPr>
        <p:txBody>
          <a:bodyPr wrap="square" lIns="0" tIns="0" rIns="0" bIns="0" anchor="t">
            <a:noAutofit/>
          </a:bodyPr>
          <a:lstStyle/>
          <a:p>
            <a:pPr algn="l">
              <a:lnSpc>
                <a:spcPct val="110000"/>
              </a:lnSpc>
              <a:buNone/>
              <a:defRPr sz="1575">
                <a:solidFill>
                  <a:srgbClr val="334155"/>
                </a:solidFill>
                <a:latin typeface="Arial"/>
                <a:ea typeface="Arial"/>
                <a:cs typeface="Arial"/>
              </a:defRPr>
            </a:pPr>
            <a:r>
              <a:rPr sz="1575" b="0">
                <a:solidFill>
                  <a:srgbClr val="334155"/>
                </a:solidFill>
                <a:latin typeface="Arial"/>
                <a:ea typeface="Arial"/>
                <a:cs typeface="Arial"/>
              </a:rPr>
              <a:t>정확한 설명·워크스루·실용적 리스크 체크리스트로 2–4주 한국어 크리에이터 프로그램 1회를 운영합니다.</a:t>
            </a:r>
          </a:p>
        </p:txBody>
      </p:sp>
      <p:sp>
        <p:nvSpPr>
          <p:cNvPr id="13" name="Rounded Rectangle 12">
            <a:extLst>
              <a:ext uri="{FF2B5EF4-FFF2-40B4-BE49-F238E27FC236}">
                <a16:creationId xmlns:a16="http://schemas.microsoft.com/office/drawing/2014/main" id="{F4995629-54EB-422D-8C06-97A528C7CE85}"/>
              </a:ext>
            </a:extLst>
          </p:cNvPr>
          <p:cNvSpPr>
            <a:spLocks noGrp="1"/>
          </p:cNvSpPr>
          <p:nvPr/>
        </p:nvSpPr>
        <p:spPr>
          <a:xfrm>
            <a:off x="868680" y="2194560"/>
            <a:ext cx="4846320" cy="2148840"/>
          </a:xfrm>
          <a:prstGeom prst="roundRect">
            <a:avLst/>
          </a:prstGeom>
          <a:solidFill>
            <a:srgbClr val="FFFFFF"/>
          </a:solidFill>
          <a:ln w="12700">
            <a:solidFill>
              <a:srgbClr val="DD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ounded Rectangle 13">
            <a:extLst>
              <a:ext uri="{FF2B5EF4-FFF2-40B4-BE49-F238E27FC236}">
                <a16:creationId xmlns:a16="http://schemas.microsoft.com/office/drawing/2014/main" id="{DCCC1CCE-8EA0-4230-8194-4209F5DE9517}"/>
              </a:ext>
            </a:extLst>
          </p:cNvPr>
          <p:cNvSpPr>
            <a:spLocks noGrp="1"/>
          </p:cNvSpPr>
          <p:nvPr/>
        </p:nvSpPr>
        <p:spPr>
          <a:xfrm>
            <a:off x="1097280" y="2468880"/>
            <a:ext cx="1325880" cy="301752"/>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4E983D0-4A75-416B-A6BA-9C8778944387}"/>
              </a:ext>
            </a:extLst>
          </p:cNvPr>
          <p:cNvSpPr>
            <a:spLocks noGrp="1"/>
          </p:cNvSpPr>
          <p:nvPr/>
        </p:nvSpPr>
        <p:spPr>
          <a:xfrm>
            <a:off x="1097280" y="2510028"/>
            <a:ext cx="1325880" cy="256032"/>
          </a:xfrm>
          <a:prstGeom prst="rect">
            <a:avLst/>
          </a:prstGeom>
          <a:noFill/>
        </p:spPr>
        <p:txBody>
          <a:bodyPr wrap="square">
            <a:spAutoFit/>
          </a:bodyPr>
          <a:lstStyle/>
          <a:p>
            <a:pPr algn="ctr">
              <a:buNone/>
            </a:pPr>
            <a:r>
              <a:rPr sz="1200" b="1">
                <a:solidFill>
                  <a:srgbClr val="FFFFFF"/>
                </a:solidFill>
                <a:latin typeface="Arial"/>
                <a:ea typeface="Arial"/>
                <a:cs typeface="Arial"/>
              </a:rPr>
              <a:t>프로그램 셋업</a:t>
            </a:r>
          </a:p>
        </p:txBody>
      </p:sp>
      <p:sp>
        <p:nvSpPr>
          <p:cNvPr id="16" name="Oval 15">
            <a:extLst>
              <a:ext uri="{FF2B5EF4-FFF2-40B4-BE49-F238E27FC236}">
                <a16:creationId xmlns:a16="http://schemas.microsoft.com/office/drawing/2014/main" id="{AC9F02CD-C2F2-49D3-A329-5BAAEA1A673C}"/>
              </a:ext>
            </a:extLst>
          </p:cNvPr>
          <p:cNvSpPr>
            <a:spLocks noGrp="1"/>
          </p:cNvSpPr>
          <p:nvPr/>
        </p:nvSpPr>
        <p:spPr>
          <a:xfrm>
            <a:off x="1115568" y="2971800"/>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559A9C9-F019-4E33-9D7B-854A6021D4DB}"/>
              </a:ext>
            </a:extLst>
          </p:cNvPr>
          <p:cNvSpPr>
            <a:spLocks noGrp="1"/>
          </p:cNvSpPr>
          <p:nvPr/>
        </p:nvSpPr>
        <p:spPr>
          <a:xfrm>
            <a:off x="1115568" y="3058668"/>
            <a:ext cx="82296" cy="32918"/>
          </a:xfrm>
          <a:prstGeom prst="rect">
            <a:avLst/>
          </a:prstGeom>
          <a:noFill/>
        </p:spPr>
        <p:txBody>
          <a:bodyPr wrap="square">
            <a:spAutoFit/>
          </a:bodyPr>
          <a:lstStyle/>
          <a:p>
            <a:pPr algn="ctr">
              <a:buNone/>
            </a:pPr>
            <a:endParaRPr/>
          </a:p>
        </p:txBody>
      </p:sp>
      <p:sp>
        <p:nvSpPr>
          <p:cNvPr id="18" name="TextBox 17">
            <a:extLst>
              <a:ext uri="{FF2B5EF4-FFF2-40B4-BE49-F238E27FC236}">
                <a16:creationId xmlns:a16="http://schemas.microsoft.com/office/drawing/2014/main" id="{EB070E12-712A-48B2-A571-1AFC5DCEFF7F}"/>
              </a:ext>
            </a:extLst>
          </p:cNvPr>
          <p:cNvSpPr>
            <a:spLocks noGrp="1"/>
          </p:cNvSpPr>
          <p:nvPr/>
        </p:nvSpPr>
        <p:spPr>
          <a:xfrm>
            <a:off x="1280160" y="2926080"/>
            <a:ext cx="4041648" cy="381000"/>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2–4주 프로그램 1회</a:t>
            </a:r>
          </a:p>
        </p:txBody>
      </p:sp>
      <p:sp>
        <p:nvSpPr>
          <p:cNvPr id="19" name="Oval 18">
            <a:extLst>
              <a:ext uri="{FF2B5EF4-FFF2-40B4-BE49-F238E27FC236}">
                <a16:creationId xmlns:a16="http://schemas.microsoft.com/office/drawing/2014/main" id="{30824361-FB08-41BF-8DF6-3DD863FA3D8A}"/>
              </a:ext>
            </a:extLst>
          </p:cNvPr>
          <p:cNvSpPr>
            <a:spLocks noGrp="1"/>
          </p:cNvSpPr>
          <p:nvPr/>
        </p:nvSpPr>
        <p:spPr>
          <a:xfrm>
            <a:off x="1115568" y="3310128"/>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5DDBD70F-7BD0-49F2-9ADA-E8514AA75672}"/>
              </a:ext>
            </a:extLst>
          </p:cNvPr>
          <p:cNvSpPr>
            <a:spLocks noGrp="1"/>
          </p:cNvSpPr>
          <p:nvPr/>
        </p:nvSpPr>
        <p:spPr>
          <a:xfrm>
            <a:off x="1115568" y="3396996"/>
            <a:ext cx="82296" cy="32918"/>
          </a:xfrm>
          <a:prstGeom prst="rect">
            <a:avLst/>
          </a:prstGeom>
          <a:noFill/>
        </p:spPr>
        <p:txBody>
          <a:bodyPr wrap="square">
            <a:spAutoFit/>
          </a:bodyPr>
          <a:lstStyle/>
          <a:p>
            <a:pPr algn="ctr">
              <a:buNone/>
            </a:pPr>
            <a:endParaRPr/>
          </a:p>
        </p:txBody>
      </p:sp>
      <p:sp>
        <p:nvSpPr>
          <p:cNvPr id="21" name="TextBox 20">
            <a:extLst>
              <a:ext uri="{FF2B5EF4-FFF2-40B4-BE49-F238E27FC236}">
                <a16:creationId xmlns:a16="http://schemas.microsoft.com/office/drawing/2014/main" id="{1E22D929-C21E-4173-8F6E-ED1631CC315D}"/>
              </a:ext>
            </a:extLst>
          </p:cNvPr>
          <p:cNvSpPr>
            <a:spLocks noGrp="1"/>
          </p:cNvSpPr>
          <p:nvPr/>
        </p:nvSpPr>
        <p:spPr>
          <a:xfrm>
            <a:off x="1280160" y="3264408"/>
            <a:ext cx="4041648" cy="381000"/>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예비 배분: 보상 $3,500 + 운영 $1,500</a:t>
            </a:r>
          </a:p>
        </p:txBody>
      </p:sp>
      <p:sp>
        <p:nvSpPr>
          <p:cNvPr id="22" name="Oval 21">
            <a:extLst>
              <a:ext uri="{FF2B5EF4-FFF2-40B4-BE49-F238E27FC236}">
                <a16:creationId xmlns:a16="http://schemas.microsoft.com/office/drawing/2014/main" id="{03469E4B-75E4-4E71-B26F-E640F03F6019}"/>
              </a:ext>
            </a:extLst>
          </p:cNvPr>
          <p:cNvSpPr>
            <a:spLocks noGrp="1"/>
          </p:cNvSpPr>
          <p:nvPr/>
        </p:nvSpPr>
        <p:spPr>
          <a:xfrm>
            <a:off x="1115568" y="3648456"/>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7472C165-9E92-4903-9AE1-C784FE26C622}"/>
              </a:ext>
            </a:extLst>
          </p:cNvPr>
          <p:cNvSpPr>
            <a:spLocks noGrp="1"/>
          </p:cNvSpPr>
          <p:nvPr/>
        </p:nvSpPr>
        <p:spPr>
          <a:xfrm>
            <a:off x="1115568" y="3735324"/>
            <a:ext cx="82296" cy="32918"/>
          </a:xfrm>
          <a:prstGeom prst="rect">
            <a:avLst/>
          </a:prstGeom>
          <a:noFill/>
        </p:spPr>
        <p:txBody>
          <a:bodyPr wrap="square">
            <a:spAutoFit/>
          </a:bodyPr>
          <a:lstStyle/>
          <a:p>
            <a:pPr algn="ctr">
              <a:buNone/>
            </a:pPr>
            <a:endParaRPr/>
          </a:p>
        </p:txBody>
      </p:sp>
      <p:sp>
        <p:nvSpPr>
          <p:cNvPr id="24" name="TextBox 23">
            <a:extLst>
              <a:ext uri="{FF2B5EF4-FFF2-40B4-BE49-F238E27FC236}">
                <a16:creationId xmlns:a16="http://schemas.microsoft.com/office/drawing/2014/main" id="{E2FC7D21-C435-48A5-AE2D-72AEDE06EF16}"/>
              </a:ext>
            </a:extLst>
          </p:cNvPr>
          <p:cNvSpPr>
            <a:spLocks noGrp="1"/>
          </p:cNvSpPr>
          <p:nvPr/>
        </p:nvSpPr>
        <p:spPr>
          <a:xfrm>
            <a:off x="1280160" y="3602736"/>
            <a:ext cx="4041648" cy="381000"/>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추가 유료 부스트는 승인된 리저브만 사용</a:t>
            </a:r>
          </a:p>
        </p:txBody>
      </p:sp>
      <p:sp>
        <p:nvSpPr>
          <p:cNvPr id="25" name="Oval 24">
            <a:extLst>
              <a:ext uri="{FF2B5EF4-FFF2-40B4-BE49-F238E27FC236}">
                <a16:creationId xmlns:a16="http://schemas.microsoft.com/office/drawing/2014/main" id="{52E58412-305D-4A42-B33B-9BE78676FE84}"/>
              </a:ext>
            </a:extLst>
          </p:cNvPr>
          <p:cNvSpPr>
            <a:spLocks noGrp="1"/>
          </p:cNvSpPr>
          <p:nvPr/>
        </p:nvSpPr>
        <p:spPr>
          <a:xfrm>
            <a:off x="1115568" y="3986784"/>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FA977F4-26EC-44C0-8FEA-FDAD3E7D3CE7}"/>
              </a:ext>
            </a:extLst>
          </p:cNvPr>
          <p:cNvSpPr>
            <a:spLocks noGrp="1"/>
          </p:cNvSpPr>
          <p:nvPr/>
        </p:nvSpPr>
        <p:spPr>
          <a:xfrm>
            <a:off x="1115568" y="4073652"/>
            <a:ext cx="82296" cy="32918"/>
          </a:xfrm>
          <a:prstGeom prst="rect">
            <a:avLst/>
          </a:prstGeom>
          <a:noFill/>
        </p:spPr>
        <p:txBody>
          <a:bodyPr wrap="square">
            <a:spAutoFit/>
          </a:bodyPr>
          <a:lstStyle/>
          <a:p>
            <a:pPr algn="ctr">
              <a:buNone/>
            </a:pPr>
            <a:endParaRPr/>
          </a:p>
        </p:txBody>
      </p:sp>
      <p:sp>
        <p:nvSpPr>
          <p:cNvPr id="27" name="TextBox 26">
            <a:extLst>
              <a:ext uri="{FF2B5EF4-FFF2-40B4-BE49-F238E27FC236}">
                <a16:creationId xmlns:a16="http://schemas.microsoft.com/office/drawing/2014/main" id="{91C158F2-399A-4E36-A9F3-F92CD16F9F91}"/>
              </a:ext>
            </a:extLst>
          </p:cNvPr>
          <p:cNvSpPr>
            <a:spLocks noGrp="1"/>
          </p:cNvSpPr>
          <p:nvPr/>
        </p:nvSpPr>
        <p:spPr>
          <a:xfrm>
            <a:off x="1280160" y="3941064"/>
            <a:ext cx="4041648" cy="381000"/>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인기보다 정확성·유용성 우선 평가</a:t>
            </a:r>
          </a:p>
        </p:txBody>
      </p:sp>
      <p:sp>
        <p:nvSpPr>
          <p:cNvPr id="28" name="Rounded Rectangle 27">
            <a:extLst>
              <a:ext uri="{FF2B5EF4-FFF2-40B4-BE49-F238E27FC236}">
                <a16:creationId xmlns:a16="http://schemas.microsoft.com/office/drawing/2014/main" id="{BAD296CD-D33D-4961-A9F6-3A0640AE429E}"/>
              </a:ext>
            </a:extLst>
          </p:cNvPr>
          <p:cNvSpPr>
            <a:spLocks noGrp="1"/>
          </p:cNvSpPr>
          <p:nvPr/>
        </p:nvSpPr>
        <p:spPr>
          <a:xfrm>
            <a:off x="6035040" y="2194560"/>
            <a:ext cx="5257800" cy="2148840"/>
          </a:xfrm>
          <a:prstGeom prst="roundRect">
            <a:avLst/>
          </a:prstGeom>
          <a:solidFill>
            <a:srgbClr val="F3F6FF"/>
          </a:solidFill>
          <a:ln w="12700">
            <a:solidFill>
              <a:srgbClr val="DD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Rounded Rectangle 28">
            <a:extLst>
              <a:ext uri="{FF2B5EF4-FFF2-40B4-BE49-F238E27FC236}">
                <a16:creationId xmlns:a16="http://schemas.microsoft.com/office/drawing/2014/main" id="{E0DAE1CD-ACCA-405B-8C32-CDCB26EBF64F}"/>
              </a:ext>
            </a:extLst>
          </p:cNvPr>
          <p:cNvSpPr>
            <a:spLocks noGrp="1"/>
          </p:cNvSpPr>
          <p:nvPr/>
        </p:nvSpPr>
        <p:spPr>
          <a:xfrm>
            <a:off x="6263640" y="2468880"/>
            <a:ext cx="1417320" cy="301752"/>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AB53E226-8956-445E-92AF-6E6956ACC407}"/>
              </a:ext>
            </a:extLst>
          </p:cNvPr>
          <p:cNvSpPr>
            <a:spLocks noGrp="1"/>
          </p:cNvSpPr>
          <p:nvPr/>
        </p:nvSpPr>
        <p:spPr>
          <a:xfrm>
            <a:off x="6263640" y="2510028"/>
            <a:ext cx="1417320" cy="285750"/>
          </a:xfrm>
          <a:prstGeom prst="rect">
            <a:avLst/>
          </a:prstGeom>
          <a:noFill/>
        </p:spPr>
        <p:txBody>
          <a:bodyPr wrap="square" lIns="0" tIns="0" rIns="0" bIns="0" anchor="t">
            <a:noAutofit/>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콘텐츠 테마</a:t>
            </a:r>
          </a:p>
        </p:txBody>
      </p:sp>
      <p:sp>
        <p:nvSpPr>
          <p:cNvPr id="31" name="Oval 30">
            <a:extLst>
              <a:ext uri="{FF2B5EF4-FFF2-40B4-BE49-F238E27FC236}">
                <a16:creationId xmlns:a16="http://schemas.microsoft.com/office/drawing/2014/main" id="{AF20AAD2-9AE2-4D2E-8962-710BAC9DA153}"/>
              </a:ext>
            </a:extLst>
          </p:cNvPr>
          <p:cNvSpPr>
            <a:spLocks noGrp="1"/>
          </p:cNvSpPr>
          <p:nvPr/>
        </p:nvSpPr>
        <p:spPr>
          <a:xfrm>
            <a:off x="6263640" y="2990088"/>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36D17FB9-ACEE-489B-A6EE-FAC0485C3F47}"/>
              </a:ext>
            </a:extLst>
          </p:cNvPr>
          <p:cNvSpPr>
            <a:spLocks noGrp="1"/>
          </p:cNvSpPr>
          <p:nvPr/>
        </p:nvSpPr>
        <p:spPr>
          <a:xfrm>
            <a:off x="6263640" y="3076956"/>
            <a:ext cx="82296" cy="32918"/>
          </a:xfrm>
          <a:prstGeom prst="rect">
            <a:avLst/>
          </a:prstGeom>
          <a:noFill/>
        </p:spPr>
        <p:txBody>
          <a:bodyPr wrap="square">
            <a:spAutoFit/>
          </a:bodyPr>
          <a:lstStyle/>
          <a:p>
            <a:pPr algn="ctr">
              <a:buNone/>
            </a:pPr>
            <a:endParaRPr/>
          </a:p>
        </p:txBody>
      </p:sp>
      <p:sp>
        <p:nvSpPr>
          <p:cNvPr id="33" name="TextBox 32">
            <a:extLst>
              <a:ext uri="{FF2B5EF4-FFF2-40B4-BE49-F238E27FC236}">
                <a16:creationId xmlns:a16="http://schemas.microsoft.com/office/drawing/2014/main" id="{51D65F8D-E920-44ED-A318-497A603EA242}"/>
              </a:ext>
            </a:extLst>
          </p:cNvPr>
          <p:cNvSpPr>
            <a:spLocks noGrp="1"/>
          </p:cNvSpPr>
          <p:nvPr/>
        </p:nvSpPr>
        <p:spPr>
          <a:xfrm>
            <a:off x="6428231" y="2944368"/>
            <a:ext cx="4453128" cy="381000"/>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USD3와 sUSD3의 차이 설명</a:t>
            </a:r>
          </a:p>
        </p:txBody>
      </p:sp>
      <p:sp>
        <p:nvSpPr>
          <p:cNvPr id="34" name="Oval 33">
            <a:extLst>
              <a:ext uri="{FF2B5EF4-FFF2-40B4-BE49-F238E27FC236}">
                <a16:creationId xmlns:a16="http://schemas.microsoft.com/office/drawing/2014/main" id="{95B4AC6C-9B8B-4C07-A68C-7F7DB6CC4D3C}"/>
              </a:ext>
            </a:extLst>
          </p:cNvPr>
          <p:cNvSpPr>
            <a:spLocks noGrp="1"/>
          </p:cNvSpPr>
          <p:nvPr/>
        </p:nvSpPr>
        <p:spPr>
          <a:xfrm>
            <a:off x="6263640" y="3401568"/>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19308889-E269-4345-B52D-A3321315F62D}"/>
              </a:ext>
            </a:extLst>
          </p:cNvPr>
          <p:cNvSpPr>
            <a:spLocks noGrp="1"/>
          </p:cNvSpPr>
          <p:nvPr/>
        </p:nvSpPr>
        <p:spPr>
          <a:xfrm>
            <a:off x="6263640" y="3488436"/>
            <a:ext cx="82296" cy="32918"/>
          </a:xfrm>
          <a:prstGeom prst="rect">
            <a:avLst/>
          </a:prstGeom>
          <a:noFill/>
        </p:spPr>
        <p:txBody>
          <a:bodyPr wrap="square">
            <a:spAutoFit/>
          </a:bodyPr>
          <a:lstStyle/>
          <a:p>
            <a:pPr algn="ctr">
              <a:buNone/>
            </a:pPr>
            <a:endParaRPr/>
          </a:p>
        </p:txBody>
      </p:sp>
      <p:sp>
        <p:nvSpPr>
          <p:cNvPr id="36" name="TextBox 35">
            <a:extLst>
              <a:ext uri="{FF2B5EF4-FFF2-40B4-BE49-F238E27FC236}">
                <a16:creationId xmlns:a16="http://schemas.microsoft.com/office/drawing/2014/main" id="{91505CC7-D9C9-4B8C-803F-9BD297EEC819}"/>
              </a:ext>
            </a:extLst>
          </p:cNvPr>
          <p:cNvSpPr>
            <a:spLocks noGrp="1"/>
          </p:cNvSpPr>
          <p:nvPr/>
        </p:nvSpPr>
        <p:spPr>
          <a:xfrm>
            <a:off x="6428231" y="3355848"/>
            <a:ext cx="4453128" cy="381000"/>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승인·적격 제품 워크스루 시연</a:t>
            </a:r>
          </a:p>
        </p:txBody>
      </p:sp>
      <p:sp>
        <p:nvSpPr>
          <p:cNvPr id="37" name="Oval 36">
            <a:extLst>
              <a:ext uri="{FF2B5EF4-FFF2-40B4-BE49-F238E27FC236}">
                <a16:creationId xmlns:a16="http://schemas.microsoft.com/office/drawing/2014/main" id="{0655AC09-EC48-4D7D-81CC-EC91986D87E0}"/>
              </a:ext>
            </a:extLst>
          </p:cNvPr>
          <p:cNvSpPr>
            <a:spLocks noGrp="1"/>
          </p:cNvSpPr>
          <p:nvPr/>
        </p:nvSpPr>
        <p:spPr>
          <a:xfrm>
            <a:off x="6263640" y="3813048"/>
            <a:ext cx="82296" cy="82296"/>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96ABBC9-E357-4398-A8F8-CEC2DB9FEC8A}"/>
              </a:ext>
            </a:extLst>
          </p:cNvPr>
          <p:cNvSpPr>
            <a:spLocks noGrp="1"/>
          </p:cNvSpPr>
          <p:nvPr/>
        </p:nvSpPr>
        <p:spPr>
          <a:xfrm>
            <a:off x="6263640" y="3899915"/>
            <a:ext cx="82296" cy="32918"/>
          </a:xfrm>
          <a:prstGeom prst="rect">
            <a:avLst/>
          </a:prstGeom>
          <a:noFill/>
        </p:spPr>
        <p:txBody>
          <a:bodyPr wrap="square">
            <a:spAutoFit/>
          </a:bodyPr>
          <a:lstStyle/>
          <a:p>
            <a:pPr algn="ctr">
              <a:buNone/>
            </a:pPr>
            <a:endParaRPr/>
          </a:p>
        </p:txBody>
      </p:sp>
      <p:sp>
        <p:nvSpPr>
          <p:cNvPr id="39" name="TextBox 38">
            <a:extLst>
              <a:ext uri="{FF2B5EF4-FFF2-40B4-BE49-F238E27FC236}">
                <a16:creationId xmlns:a16="http://schemas.microsoft.com/office/drawing/2014/main" id="{1640DCCD-14BB-4AF2-A674-BE44357993EF}"/>
              </a:ext>
            </a:extLst>
          </p:cNvPr>
          <p:cNvSpPr>
            <a:spLocks noGrp="1"/>
          </p:cNvSpPr>
          <p:nvPr/>
        </p:nvSpPr>
        <p:spPr>
          <a:xfrm>
            <a:off x="6428231" y="3767328"/>
            <a:ext cx="4453128" cy="381000"/>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수익·손실 리스크·출구 체크리스트 작성</a:t>
            </a:r>
          </a:p>
        </p:txBody>
      </p:sp>
      <p:sp>
        <p:nvSpPr>
          <p:cNvPr id="40" name="TextBox 39">
            <a:extLst>
              <a:ext uri="{FF2B5EF4-FFF2-40B4-BE49-F238E27FC236}">
                <a16:creationId xmlns:a16="http://schemas.microsoft.com/office/drawing/2014/main" id="{D4B6D809-3C6C-4134-BAC6-715C17C3B0EB}"/>
              </a:ext>
            </a:extLst>
          </p:cNvPr>
          <p:cNvSpPr>
            <a:spLocks noGrp="1"/>
          </p:cNvSpPr>
          <p:nvPr/>
        </p:nvSpPr>
        <p:spPr>
          <a:xfrm>
            <a:off x="1009650" y="5038725"/>
            <a:ext cx="10144125" cy="609600"/>
          </a:xfrm>
          <a:prstGeom prst="rect">
            <a:avLst/>
          </a:prstGeom>
          <a:noFill/>
        </p:spPr>
        <p:txBody>
          <a:bodyPr wrap="square" lIns="0" tIns="0" rIns="0" bIns="0" anchor="t">
            <a:noAutofit/>
          </a:bodyPr>
          <a:lstStyle/>
          <a:p>
            <a:pPr algn="l">
              <a:buNone/>
              <a:defRPr sz="1500" b="1">
                <a:solidFill>
                  <a:srgbClr val="0B39FF"/>
                </a:solidFill>
                <a:latin typeface="Arial"/>
                <a:ea typeface="Arial"/>
                <a:cs typeface="Arial"/>
              </a:defRPr>
            </a:pPr>
            <a:r>
              <a:rPr sz="1500" b="1">
                <a:solidFill>
                  <a:srgbClr val="0B39FF"/>
                </a:solidFill>
                <a:latin typeface="Arial"/>
                <a:ea typeface="Arial"/>
                <a:cs typeface="Arial"/>
              </a:rPr>
              <a:t>제3자 전략·통합은 라이브·적격·3Jane 승인된 경우만 등장.
본 예산은 프로토콜 토큰 보상을 가정하지 않음.</a:t>
            </a:r>
          </a:p>
          <a:p>
            <a:pPr algn="l">
              <a:buNone/>
              <a:defRPr sz="1500" b="1">
                <a:solidFill>
                  <a:srgbClr val="0B39FF"/>
                </a:solidFill>
                <a:latin typeface="Arial"/>
                <a:ea typeface="Arial"/>
                <a:cs typeface="Arial"/>
              </a:defRPr>
            </a:pPr>
            <a:r>
              <a:rPr sz="1500" b="1">
                <a:solidFill>
                  <a:srgbClr val="0B39FF"/>
                </a:solidFill>
                <a:latin typeface="Arial"/>
                <a:ea typeface="Arial"/>
                <a:cs typeface="Arial"/>
              </a:rPr>
              <a:t/>
            </a:r>
          </a:p>
        </p:txBody>
      </p:sp>
    </p:spTree>
    <p:extLst>
      <p:ext uri="{BB962C8B-B14F-4D97-AF65-F5344CB8AC3E}">
        <p14:creationId xmlns:p14="http://schemas.microsoft.com/office/powerpoint/2010/main" val="209632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435E62-86DC-4426-93CA-B580D6294954}"/>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8A4282F0-6ABD-4F8D-9B07-50D300483869}"/>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5BAA941E-9C94-4E1B-86B9-13C6ADA91DC0}"/>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1"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D888F8D5-B7D8-4602-8121-552BE82FE121}"/>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1025A285-640C-4CCA-8EA2-B61A56B796F0}"/>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1DE5B0BD-A6C5-418A-A0D6-13B4118BC9D3}"/>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10</a:t>
            </a:r>
          </a:p>
        </p:txBody>
      </p:sp>
      <p:sp>
        <p:nvSpPr>
          <p:cNvPr id="10" name="TextBox 9">
            <a:extLst>
              <a:ext uri="{FF2B5EF4-FFF2-40B4-BE49-F238E27FC236}">
                <a16:creationId xmlns:a16="http://schemas.microsoft.com/office/drawing/2014/main" id="{6356B87A-743C-40C9-BFE5-2DF020CF5B2D}"/>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05. PR 및 검색 | 보도 패키지 $2,000</a:t>
            </a:r>
          </a:p>
        </p:txBody>
      </p:sp>
      <p:sp>
        <p:nvSpPr>
          <p:cNvPr id="11" name="Rectangle 10">
            <a:extLst>
              <a:ext uri="{FF2B5EF4-FFF2-40B4-BE49-F238E27FC236}">
                <a16:creationId xmlns:a16="http://schemas.microsoft.com/office/drawing/2014/main" id="{3CB83849-7370-41C2-9A48-45815DB2B321}"/>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34D55FD-D458-42D6-9D39-B3023B48B7A1}"/>
              </a:ext>
            </a:extLst>
          </p:cNvPr>
          <p:cNvSpPr>
            <a:spLocks noGrp="1"/>
          </p:cNvSpPr>
          <p:nvPr/>
        </p:nvSpPr>
        <p:spPr>
          <a:xfrm>
            <a:off x="1005840" y="1481328"/>
            <a:ext cx="10149840" cy="457200"/>
          </a:xfrm>
          <a:prstGeom prst="rect">
            <a:avLst/>
          </a:prstGeom>
          <a:noFill/>
        </p:spPr>
        <p:txBody>
          <a:bodyPr wrap="square" lIns="0" tIns="0" rIns="0" bIns="0" anchor="t">
            <a:noAutofit/>
          </a:bodyPr>
          <a:lstStyle/>
          <a:p>
            <a:pPr algn="l">
              <a:lnSpc>
                <a:spcPct val="110000"/>
              </a:lnSpc>
              <a:buNone/>
              <a:defRPr sz="1575">
                <a:solidFill>
                  <a:srgbClr val="334155"/>
                </a:solidFill>
                <a:latin typeface="Arial"/>
                <a:ea typeface="Arial"/>
                <a:cs typeface="Arial"/>
              </a:defRPr>
            </a:pPr>
            <a:r>
              <a:rPr sz="1575" b="0">
                <a:solidFill>
                  <a:srgbClr val="334155"/>
                </a:solidFill>
                <a:latin typeface="Arial"/>
                <a:ea typeface="Arial"/>
                <a:cs typeface="Arial"/>
              </a:rPr>
              <a:t>합의된 제품·캠페인 마일스톤을 지원하는 한국어 보도·배포 패키지 1건을 제작합니다.</a:t>
            </a:r>
          </a:p>
        </p:txBody>
      </p:sp>
      <p:sp>
        <p:nvSpPr>
          <p:cNvPr id="13" name="Rounded Rectangle 12">
            <a:extLst>
              <a:ext uri="{FF2B5EF4-FFF2-40B4-BE49-F238E27FC236}">
                <a16:creationId xmlns:a16="http://schemas.microsoft.com/office/drawing/2014/main" id="{96ED0FC0-9AE0-4045-B686-DB021E7AFBF8}"/>
              </a:ext>
            </a:extLst>
          </p:cNvPr>
          <p:cNvSpPr>
            <a:spLocks noGrp="1"/>
          </p:cNvSpPr>
          <p:nvPr/>
        </p:nvSpPr>
        <p:spPr>
          <a:xfrm>
            <a:off x="960120" y="2194560"/>
            <a:ext cx="1600200" cy="320040"/>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1D3ECD0D-A99D-49E0-B619-932E7E5B958F}"/>
              </a:ext>
            </a:extLst>
          </p:cNvPr>
          <p:cNvSpPr>
            <a:spLocks noGrp="1"/>
          </p:cNvSpPr>
          <p:nvPr/>
        </p:nvSpPr>
        <p:spPr>
          <a:xfrm>
            <a:off x="960120" y="2235708"/>
            <a:ext cx="1600200" cy="274320"/>
          </a:xfrm>
          <a:prstGeom prst="rect">
            <a:avLst/>
          </a:prstGeom>
          <a:noFill/>
        </p:spPr>
        <p:txBody>
          <a:bodyPr wrap="square">
            <a:spAutoFit/>
          </a:bodyPr>
          <a:lstStyle/>
          <a:p>
            <a:pPr algn="ctr">
              <a:buNone/>
            </a:pPr>
            <a:r>
              <a:rPr sz="1200" b="1">
                <a:solidFill>
                  <a:srgbClr val="FFFFFF"/>
                </a:solidFill>
                <a:latin typeface="Arial"/>
                <a:ea typeface="Arial"/>
                <a:cs typeface="Arial"/>
              </a:rPr>
              <a:t>실행 범위</a:t>
            </a:r>
          </a:p>
        </p:txBody>
      </p:sp>
      <p:sp>
        <p:nvSpPr>
          <p:cNvPr id="15" name="Rounded Rectangle 14">
            <a:extLst>
              <a:ext uri="{FF2B5EF4-FFF2-40B4-BE49-F238E27FC236}">
                <a16:creationId xmlns:a16="http://schemas.microsoft.com/office/drawing/2014/main" id="{74FFEFD5-0A0B-4685-A030-D880B2E77939}"/>
              </a:ext>
            </a:extLst>
          </p:cNvPr>
          <p:cNvSpPr>
            <a:spLocks noGrp="1"/>
          </p:cNvSpPr>
          <p:nvPr/>
        </p:nvSpPr>
        <p:spPr>
          <a:xfrm>
            <a:off x="960120" y="2697480"/>
            <a:ext cx="4892040" cy="987552"/>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Oval 15">
            <a:extLst>
              <a:ext uri="{FF2B5EF4-FFF2-40B4-BE49-F238E27FC236}">
                <a16:creationId xmlns:a16="http://schemas.microsoft.com/office/drawing/2014/main" id="{B08B95A8-ADE2-4A62-A2EA-C695307F8C01}"/>
              </a:ext>
            </a:extLst>
          </p:cNvPr>
          <p:cNvSpPr>
            <a:spLocks noGrp="1"/>
          </p:cNvSpPr>
          <p:nvPr/>
        </p:nvSpPr>
        <p:spPr>
          <a:xfrm>
            <a:off x="1124712" y="286207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B80B180-9C0D-41F1-A044-E20FDCED3386}"/>
              </a:ext>
            </a:extLst>
          </p:cNvPr>
          <p:cNvSpPr>
            <a:spLocks noGrp="1"/>
          </p:cNvSpPr>
          <p:nvPr/>
        </p:nvSpPr>
        <p:spPr>
          <a:xfrm>
            <a:off x="1124712" y="288226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DOC</a:t>
            </a:r>
          </a:p>
        </p:txBody>
      </p:sp>
      <p:sp>
        <p:nvSpPr>
          <p:cNvPr id="18" name="TextBox 17">
            <a:extLst>
              <a:ext uri="{FF2B5EF4-FFF2-40B4-BE49-F238E27FC236}">
                <a16:creationId xmlns:a16="http://schemas.microsoft.com/office/drawing/2014/main" id="{F760E1AE-FBC7-45E1-97EE-2DA1F97459F8}"/>
              </a:ext>
            </a:extLst>
          </p:cNvPr>
          <p:cNvSpPr>
            <a:spLocks noGrp="1"/>
          </p:cNvSpPr>
          <p:nvPr/>
        </p:nvSpPr>
        <p:spPr>
          <a:xfrm>
            <a:off x="1618488" y="2843784"/>
            <a:ext cx="408736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승인된 한국어 보도문 작성</a:t>
            </a:r>
          </a:p>
        </p:txBody>
      </p:sp>
      <p:sp>
        <p:nvSpPr>
          <p:cNvPr id="19" name="TextBox 18">
            <a:extLst>
              <a:ext uri="{FF2B5EF4-FFF2-40B4-BE49-F238E27FC236}">
                <a16:creationId xmlns:a16="http://schemas.microsoft.com/office/drawing/2014/main" id="{5E134E6F-BE9E-4D24-8BB2-E7A9CD11ECA8}"/>
              </a:ext>
            </a:extLst>
          </p:cNvPr>
          <p:cNvSpPr>
            <a:spLocks noGrp="1"/>
          </p:cNvSpPr>
          <p:nvPr/>
        </p:nvSpPr>
        <p:spPr>
          <a:xfrm>
            <a:off x="1618488" y="3136392"/>
            <a:ext cx="4087368" cy="48006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제품 스토리, 리스크 언어, 마일스톤을 명확한 한국어로 번역.</a:t>
            </a:r>
          </a:p>
        </p:txBody>
      </p:sp>
      <p:sp>
        <p:nvSpPr>
          <p:cNvPr id="20" name="Rounded Rectangle 19">
            <a:extLst>
              <a:ext uri="{FF2B5EF4-FFF2-40B4-BE49-F238E27FC236}">
                <a16:creationId xmlns:a16="http://schemas.microsoft.com/office/drawing/2014/main" id="{7A4CAA23-5A3A-48B8-8078-B9880F7FA1F2}"/>
              </a:ext>
            </a:extLst>
          </p:cNvPr>
          <p:cNvSpPr>
            <a:spLocks noGrp="1"/>
          </p:cNvSpPr>
          <p:nvPr/>
        </p:nvSpPr>
        <p:spPr>
          <a:xfrm>
            <a:off x="6217920" y="2697480"/>
            <a:ext cx="4892040" cy="987552"/>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Oval 20">
            <a:extLst>
              <a:ext uri="{FF2B5EF4-FFF2-40B4-BE49-F238E27FC236}">
                <a16:creationId xmlns:a16="http://schemas.microsoft.com/office/drawing/2014/main" id="{149311FE-239D-4006-ABC6-A7D0DE08C78A}"/>
              </a:ext>
            </a:extLst>
          </p:cNvPr>
          <p:cNvSpPr>
            <a:spLocks noGrp="1"/>
          </p:cNvSpPr>
          <p:nvPr/>
        </p:nvSpPr>
        <p:spPr>
          <a:xfrm>
            <a:off x="6382512" y="286207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12C472B-82F7-4D03-A84E-ED38E64FB8C8}"/>
              </a:ext>
            </a:extLst>
          </p:cNvPr>
          <p:cNvSpPr>
            <a:spLocks noGrp="1"/>
          </p:cNvSpPr>
          <p:nvPr/>
        </p:nvSpPr>
        <p:spPr>
          <a:xfrm>
            <a:off x="6382512" y="288226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NEWS</a:t>
            </a:r>
          </a:p>
        </p:txBody>
      </p:sp>
      <p:sp>
        <p:nvSpPr>
          <p:cNvPr id="23" name="TextBox 22">
            <a:extLst>
              <a:ext uri="{FF2B5EF4-FFF2-40B4-BE49-F238E27FC236}">
                <a16:creationId xmlns:a16="http://schemas.microsoft.com/office/drawing/2014/main" id="{DF2235D9-65B9-4DCD-B660-CC23B56714C5}"/>
              </a:ext>
            </a:extLst>
          </p:cNvPr>
          <p:cNvSpPr>
            <a:spLocks noGrp="1"/>
          </p:cNvSpPr>
          <p:nvPr/>
        </p:nvSpPr>
        <p:spPr>
          <a:xfrm>
            <a:off x="6876288" y="2843784"/>
            <a:ext cx="408736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배포 계획 확정</a:t>
            </a:r>
          </a:p>
        </p:txBody>
      </p:sp>
      <p:sp>
        <p:nvSpPr>
          <p:cNvPr id="24" name="TextBox 23">
            <a:extLst>
              <a:ext uri="{FF2B5EF4-FFF2-40B4-BE49-F238E27FC236}">
                <a16:creationId xmlns:a16="http://schemas.microsoft.com/office/drawing/2014/main" id="{15713438-F4AD-4288-8530-A7AB96DE9849}"/>
              </a:ext>
            </a:extLst>
          </p:cNvPr>
          <p:cNvSpPr>
            <a:spLocks noGrp="1"/>
          </p:cNvSpPr>
          <p:nvPr/>
        </p:nvSpPr>
        <p:spPr>
          <a:xfrm>
            <a:off x="6876288" y="3136392"/>
            <a:ext cx="4087368" cy="48006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관련 Web3·기술·금융 매체 선정; 부킹 전 견적 확인.</a:t>
            </a:r>
          </a:p>
        </p:txBody>
      </p:sp>
      <p:sp>
        <p:nvSpPr>
          <p:cNvPr id="25" name="Rounded Rectangle 24">
            <a:extLst>
              <a:ext uri="{FF2B5EF4-FFF2-40B4-BE49-F238E27FC236}">
                <a16:creationId xmlns:a16="http://schemas.microsoft.com/office/drawing/2014/main" id="{2F376713-F7E4-4805-B8DC-7C36FD1F14F0}"/>
              </a:ext>
            </a:extLst>
          </p:cNvPr>
          <p:cNvSpPr>
            <a:spLocks noGrp="1"/>
          </p:cNvSpPr>
          <p:nvPr/>
        </p:nvSpPr>
        <p:spPr>
          <a:xfrm>
            <a:off x="960120" y="4023360"/>
            <a:ext cx="4892040" cy="987552"/>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Oval 25">
            <a:extLst>
              <a:ext uri="{FF2B5EF4-FFF2-40B4-BE49-F238E27FC236}">
                <a16:creationId xmlns:a16="http://schemas.microsoft.com/office/drawing/2014/main" id="{F1947249-47EF-47F5-B19A-444632FD269E}"/>
              </a:ext>
            </a:extLst>
          </p:cNvPr>
          <p:cNvSpPr>
            <a:spLocks noGrp="1"/>
          </p:cNvSpPr>
          <p:nvPr/>
        </p:nvSpPr>
        <p:spPr>
          <a:xfrm>
            <a:off x="1124712" y="418795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BC64413D-0897-4486-8337-1D341C782F33}"/>
              </a:ext>
            </a:extLst>
          </p:cNvPr>
          <p:cNvSpPr>
            <a:spLocks noGrp="1"/>
          </p:cNvSpPr>
          <p:nvPr/>
        </p:nvSpPr>
        <p:spPr>
          <a:xfrm>
            <a:off x="1124712" y="420814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NAV</a:t>
            </a:r>
          </a:p>
        </p:txBody>
      </p:sp>
      <p:sp>
        <p:nvSpPr>
          <p:cNvPr id="28" name="TextBox 27">
            <a:extLst>
              <a:ext uri="{FF2B5EF4-FFF2-40B4-BE49-F238E27FC236}">
                <a16:creationId xmlns:a16="http://schemas.microsoft.com/office/drawing/2014/main" id="{1B1A3A3B-DC37-4BE6-88B5-628BAA7F7CFE}"/>
              </a:ext>
            </a:extLst>
          </p:cNvPr>
          <p:cNvSpPr>
            <a:spLocks noGrp="1"/>
          </p:cNvSpPr>
          <p:nvPr/>
        </p:nvSpPr>
        <p:spPr>
          <a:xfrm>
            <a:off x="1618488" y="4169664"/>
            <a:ext cx="408736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게재·색인 추적</a:t>
            </a:r>
          </a:p>
        </p:txBody>
      </p:sp>
      <p:sp>
        <p:nvSpPr>
          <p:cNvPr id="29" name="TextBox 28">
            <a:extLst>
              <a:ext uri="{FF2B5EF4-FFF2-40B4-BE49-F238E27FC236}">
                <a16:creationId xmlns:a16="http://schemas.microsoft.com/office/drawing/2014/main" id="{1D0F8DF9-2D5B-472B-9F7E-684BC4AEA4B8}"/>
              </a:ext>
            </a:extLst>
          </p:cNvPr>
          <p:cNvSpPr>
            <a:spLocks noGrp="1"/>
          </p:cNvSpPr>
          <p:nvPr/>
        </p:nvSpPr>
        <p:spPr>
          <a:xfrm>
            <a:off x="1618488" y="4462272"/>
            <a:ext cx="4087368" cy="48006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라이브 게재 링크 전달. 검색 색인·순위·어닝 커버리지는 보장되지 않음.</a:t>
            </a:r>
          </a:p>
        </p:txBody>
      </p:sp>
      <p:sp>
        <p:nvSpPr>
          <p:cNvPr id="30" name="Rounded Rectangle 29">
            <a:extLst>
              <a:ext uri="{FF2B5EF4-FFF2-40B4-BE49-F238E27FC236}">
                <a16:creationId xmlns:a16="http://schemas.microsoft.com/office/drawing/2014/main" id="{9C5B69F5-03F3-4781-B529-84EA0A006931}"/>
              </a:ext>
            </a:extLst>
          </p:cNvPr>
          <p:cNvSpPr>
            <a:spLocks noGrp="1"/>
          </p:cNvSpPr>
          <p:nvPr/>
        </p:nvSpPr>
        <p:spPr>
          <a:xfrm>
            <a:off x="6217920" y="4023360"/>
            <a:ext cx="4892040" cy="987552"/>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Oval 30">
            <a:extLst>
              <a:ext uri="{FF2B5EF4-FFF2-40B4-BE49-F238E27FC236}">
                <a16:creationId xmlns:a16="http://schemas.microsoft.com/office/drawing/2014/main" id="{F4558202-4C52-4BCC-89EB-4B1C2D0AD93F}"/>
              </a:ext>
            </a:extLst>
          </p:cNvPr>
          <p:cNvSpPr>
            <a:spLocks noGrp="1"/>
          </p:cNvSpPr>
          <p:nvPr/>
        </p:nvSpPr>
        <p:spPr>
          <a:xfrm>
            <a:off x="6382512" y="418795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ACF4B74B-D5C8-45A8-860D-59AA0CA09F9B}"/>
              </a:ext>
            </a:extLst>
          </p:cNvPr>
          <p:cNvSpPr>
            <a:spLocks noGrp="1"/>
          </p:cNvSpPr>
          <p:nvPr/>
        </p:nvSpPr>
        <p:spPr>
          <a:xfrm>
            <a:off x="6382512" y="420814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NEXT</a:t>
            </a:r>
          </a:p>
        </p:txBody>
      </p:sp>
      <p:sp>
        <p:nvSpPr>
          <p:cNvPr id="33" name="TextBox 32">
            <a:extLst>
              <a:ext uri="{FF2B5EF4-FFF2-40B4-BE49-F238E27FC236}">
                <a16:creationId xmlns:a16="http://schemas.microsoft.com/office/drawing/2014/main" id="{0F25B4AE-8E0D-494F-AE4F-2901ED44923B}"/>
              </a:ext>
            </a:extLst>
          </p:cNvPr>
          <p:cNvSpPr>
            <a:spLocks noGrp="1"/>
          </p:cNvSpPr>
          <p:nvPr/>
        </p:nvSpPr>
        <p:spPr>
          <a:xfrm>
            <a:off x="6876288" y="4169664"/>
            <a:ext cx="408736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캠페인과 연결</a:t>
            </a:r>
          </a:p>
        </p:txBody>
      </p:sp>
      <p:sp>
        <p:nvSpPr>
          <p:cNvPr id="34" name="TextBox 33">
            <a:extLst>
              <a:ext uri="{FF2B5EF4-FFF2-40B4-BE49-F238E27FC236}">
                <a16:creationId xmlns:a16="http://schemas.microsoft.com/office/drawing/2014/main" id="{DFB8FA74-5EB8-4123-87ED-CA4106DC9052}"/>
              </a:ext>
            </a:extLst>
          </p:cNvPr>
          <p:cNvSpPr>
            <a:spLocks noGrp="1"/>
          </p:cNvSpPr>
          <p:nvPr/>
        </p:nvSpPr>
        <p:spPr>
          <a:xfrm>
            <a:off x="6876288" y="4462272"/>
            <a:ext cx="4087368" cy="48006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FAQ, KOL 브리프, 커뮤니티 업데이트에 승인 링크 재사용.</a:t>
            </a:r>
          </a:p>
        </p:txBody>
      </p:sp>
      <p:sp>
        <p:nvSpPr>
          <p:cNvPr id="36" name="pr-total">
            <a:extLst>
              <a:ext uri="{FF2B5EF4-FFF2-40B4-BE49-F238E27FC236}">
                <a16:creationId xmlns:a16="http://schemas.microsoft.com/office/drawing/2014/main" id="{11A6DE3C-01E3-4D41-BB09-4AD3641E1477}"/>
              </a:ext>
            </a:extLst>
          </p:cNvPr>
          <p:cNvSpPr>
            <a:spLocks noGrp="1"/>
          </p:cNvSpPr>
          <p:nvPr/>
        </p:nvSpPr>
        <p:spPr>
          <a:xfrm>
            <a:off x="962025" y="5543550"/>
            <a:ext cx="10191750" cy="457200"/>
          </a:xfrm>
          <a:prstGeom prst="rect">
            <a:avLst/>
          </a:prstGeom>
          <a:noFill/>
          <a:ln w="0">
            <a:noFill/>
          </a:ln>
        </p:spPr>
        <p:txBody>
          <a:bodyPr wrap="square" lIns="0" tIns="0" rIns="0" bIns="0" anchor="t">
            <a:noAutofit/>
          </a:bodyPr>
          <a:lstStyle/>
          <a:p>
            <a:pPr algn="l">
              <a:defRPr sz="1500" b="1">
                <a:solidFill>
                  <a:srgbClr val="0B39FF"/>
                </a:solidFill>
                <a:latin typeface="Arial"/>
                <a:ea typeface="Arial"/>
                <a:cs typeface="Arial"/>
              </a:defRPr>
            </a:pPr>
            <a:r>
              <a:rPr sz="1500" b="1">
                <a:solidFill>
                  <a:srgbClr val="0B39FF"/>
                </a:solidFill>
                <a:latin typeface="Arial"/>
                <a:ea typeface="Arial"/>
                <a:cs typeface="Arial"/>
              </a:rPr>
              <a:t>PR 한도: 총 $6,000 = 보도 $2,000 + 인터뷰 $2,000 + 영상 $2,000</a:t>
            </a:r>
          </a:p>
        </p:txBody>
      </p:sp>
    </p:spTree>
    <p:extLst>
      <p:ext uri="{BB962C8B-B14F-4D97-AF65-F5344CB8AC3E}">
        <p14:creationId xmlns:p14="http://schemas.microsoft.com/office/powerpoint/2010/main" val="1389189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ight Triangle 2">
            <a:extLst>
              <a:ext uri="{FF2B5EF4-FFF2-40B4-BE49-F238E27FC236}">
                <a16:creationId xmlns:a16="http://schemas.microsoft.com/office/drawing/2014/main" id="{B4F60BCA-BD83-4310-AF2B-F0AE8EC26008}"/>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1F214DD7-603B-4AF2-BF5B-816125580709}"/>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3"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7F5C7F7C-AD92-4439-8D83-366F061DC448}"/>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37E350CA-35B7-4A62-9053-D0928AD1B5D3}"/>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13279798-A8D7-4A95-9F72-2294D009AF31}"/>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11</a:t>
            </a:r>
          </a:p>
        </p:txBody>
      </p:sp>
      <p:sp>
        <p:nvSpPr>
          <p:cNvPr id="10" name="TextBox 9">
            <a:extLst>
              <a:ext uri="{FF2B5EF4-FFF2-40B4-BE49-F238E27FC236}">
                <a16:creationId xmlns:a16="http://schemas.microsoft.com/office/drawing/2014/main" id="{C7FBBBD7-E2FA-493A-9508-B240E3BDE116}"/>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05. PR 및 검색 | 인터뷰 패키지 $2,000</a:t>
            </a:r>
          </a:p>
        </p:txBody>
      </p:sp>
      <p:sp>
        <p:nvSpPr>
          <p:cNvPr id="11" name="Rectangle 10">
            <a:extLst>
              <a:ext uri="{FF2B5EF4-FFF2-40B4-BE49-F238E27FC236}">
                <a16:creationId xmlns:a16="http://schemas.microsoft.com/office/drawing/2014/main" id="{05F9858F-589C-405B-9B39-B2BF29167002}"/>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BA222E0-F211-4A54-BF2B-4EDB6B8A28E7}"/>
              </a:ext>
            </a:extLst>
          </p:cNvPr>
          <p:cNvSpPr>
            <a:spLocks noGrp="1"/>
          </p:cNvSpPr>
          <p:nvPr/>
        </p:nvSpPr>
        <p:spPr>
          <a:xfrm>
            <a:off x="1005840" y="1481328"/>
            <a:ext cx="10149840" cy="457200"/>
          </a:xfrm>
          <a:prstGeom prst="rect">
            <a:avLst/>
          </a:prstGeom>
          <a:noFill/>
        </p:spPr>
        <p:txBody>
          <a:bodyPr wrap="square" lIns="0" tIns="0" rIns="0" bIns="0" anchor="t">
            <a:noAutofit/>
          </a:bodyPr>
          <a:lstStyle/>
          <a:p>
            <a:pPr algn="l">
              <a:lnSpc>
                <a:spcPct val="110000"/>
              </a:lnSpc>
              <a:buNone/>
              <a:defRPr sz="1575">
                <a:solidFill>
                  <a:srgbClr val="334155"/>
                </a:solidFill>
                <a:latin typeface="Arial"/>
                <a:ea typeface="Arial"/>
                <a:cs typeface="Arial"/>
              </a:defRPr>
            </a:pPr>
            <a:r>
              <a:rPr sz="1575" b="0">
                <a:solidFill>
                  <a:srgbClr val="334155"/>
                </a:solidFill>
                <a:latin typeface="Arial"/>
                <a:ea typeface="Arial"/>
                <a:cs typeface="Arial"/>
              </a:rPr>
              <a:t>승인된 3Jane 팀 대표와의 장문 한국어 피처 인터뷰 1건을 제작합니다.</a:t>
            </a:r>
          </a:p>
        </p:txBody>
      </p:sp>
      <p:sp>
        <p:nvSpPr>
          <p:cNvPr id="13" name="Rounded Rectangle 12">
            <a:extLst>
              <a:ext uri="{FF2B5EF4-FFF2-40B4-BE49-F238E27FC236}">
                <a16:creationId xmlns:a16="http://schemas.microsoft.com/office/drawing/2014/main" id="{8C36396E-01E3-412F-96B7-DA33087BF0C3}"/>
              </a:ext>
            </a:extLst>
          </p:cNvPr>
          <p:cNvSpPr>
            <a:spLocks noGrp="1"/>
          </p:cNvSpPr>
          <p:nvPr/>
        </p:nvSpPr>
        <p:spPr>
          <a:xfrm>
            <a:off x="868680" y="2148840"/>
            <a:ext cx="1600200" cy="320040"/>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7EEBB07B-73BE-4103-8991-34421A3F8C5B}"/>
              </a:ext>
            </a:extLst>
          </p:cNvPr>
          <p:cNvSpPr>
            <a:spLocks noGrp="1"/>
          </p:cNvSpPr>
          <p:nvPr/>
        </p:nvSpPr>
        <p:spPr>
          <a:xfrm>
            <a:off x="868680" y="2189988"/>
            <a:ext cx="1600200" cy="274320"/>
          </a:xfrm>
          <a:prstGeom prst="rect">
            <a:avLst/>
          </a:prstGeom>
          <a:noFill/>
        </p:spPr>
        <p:txBody>
          <a:bodyPr wrap="square">
            <a:spAutoFit/>
          </a:bodyPr>
          <a:lstStyle/>
          <a:p>
            <a:pPr algn="ctr">
              <a:buNone/>
            </a:pPr>
            <a:r>
              <a:rPr sz="1200" b="1">
                <a:solidFill>
                  <a:srgbClr val="FFFFFF"/>
                </a:solidFill>
                <a:latin typeface="Arial"/>
                <a:ea typeface="Arial"/>
                <a:cs typeface="Arial"/>
              </a:rPr>
              <a:t>실행 범위</a:t>
            </a:r>
          </a:p>
        </p:txBody>
      </p:sp>
      <p:sp>
        <p:nvSpPr>
          <p:cNvPr id="15" name="Rounded Rectangle 14">
            <a:extLst>
              <a:ext uri="{FF2B5EF4-FFF2-40B4-BE49-F238E27FC236}">
                <a16:creationId xmlns:a16="http://schemas.microsoft.com/office/drawing/2014/main" id="{AD0BE9F1-34B2-411A-AE0B-3F1251AADDAA}"/>
              </a:ext>
            </a:extLst>
          </p:cNvPr>
          <p:cNvSpPr>
            <a:spLocks noGrp="1"/>
          </p:cNvSpPr>
          <p:nvPr/>
        </p:nvSpPr>
        <p:spPr>
          <a:xfrm>
            <a:off x="868680" y="2651760"/>
            <a:ext cx="4892040" cy="914400"/>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Oval 15">
            <a:extLst>
              <a:ext uri="{FF2B5EF4-FFF2-40B4-BE49-F238E27FC236}">
                <a16:creationId xmlns:a16="http://schemas.microsoft.com/office/drawing/2014/main" id="{2F5FC4D8-81A8-44E9-A981-B3826EC8A880}"/>
              </a:ext>
            </a:extLst>
          </p:cNvPr>
          <p:cNvSpPr>
            <a:spLocks noGrp="1"/>
          </p:cNvSpPr>
          <p:nvPr/>
        </p:nvSpPr>
        <p:spPr>
          <a:xfrm>
            <a:off x="1033271" y="281635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C315163-DA82-4DBC-92C1-24911D067169}"/>
              </a:ext>
            </a:extLst>
          </p:cNvPr>
          <p:cNvSpPr>
            <a:spLocks noGrp="1"/>
          </p:cNvSpPr>
          <p:nvPr/>
        </p:nvSpPr>
        <p:spPr>
          <a:xfrm>
            <a:off x="1033271" y="283654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Q</a:t>
            </a:r>
          </a:p>
        </p:txBody>
      </p:sp>
      <p:sp>
        <p:nvSpPr>
          <p:cNvPr id="18" name="TextBox 17">
            <a:extLst>
              <a:ext uri="{FF2B5EF4-FFF2-40B4-BE49-F238E27FC236}">
                <a16:creationId xmlns:a16="http://schemas.microsoft.com/office/drawing/2014/main" id="{DA439DCC-2EBB-4B91-A284-2BE904449134}"/>
              </a:ext>
            </a:extLst>
          </p:cNvPr>
          <p:cNvSpPr>
            <a:spLocks noGrp="1"/>
          </p:cNvSpPr>
          <p:nvPr/>
        </p:nvSpPr>
        <p:spPr>
          <a:xfrm>
            <a:off x="1527048" y="2798064"/>
            <a:ext cx="408736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질문 합의</a:t>
            </a:r>
          </a:p>
        </p:txBody>
      </p:sp>
      <p:sp>
        <p:nvSpPr>
          <p:cNvPr id="19" name="TextBox 18">
            <a:extLst>
              <a:ext uri="{FF2B5EF4-FFF2-40B4-BE49-F238E27FC236}">
                <a16:creationId xmlns:a16="http://schemas.microsoft.com/office/drawing/2014/main" id="{86043C13-4049-45BC-B9FE-10960834BAD9}"/>
              </a:ext>
            </a:extLst>
          </p:cNvPr>
          <p:cNvSpPr>
            <a:spLocks noGrp="1"/>
          </p:cNvSpPr>
          <p:nvPr/>
        </p:nvSpPr>
        <p:spPr>
          <a:xfrm>
            <a:off x="1527048" y="3090672"/>
            <a:ext cx="4087368" cy="48006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신용 모델, USD3/sUSD3, 리스크, 한국 사용자 관련성.</a:t>
            </a:r>
          </a:p>
        </p:txBody>
      </p:sp>
      <p:sp>
        <p:nvSpPr>
          <p:cNvPr id="20" name="Rounded Rectangle 19">
            <a:extLst>
              <a:ext uri="{FF2B5EF4-FFF2-40B4-BE49-F238E27FC236}">
                <a16:creationId xmlns:a16="http://schemas.microsoft.com/office/drawing/2014/main" id="{D3438ADD-2E6B-479D-A7FF-4DBA8FCF1832}"/>
              </a:ext>
            </a:extLst>
          </p:cNvPr>
          <p:cNvSpPr>
            <a:spLocks noGrp="1"/>
          </p:cNvSpPr>
          <p:nvPr/>
        </p:nvSpPr>
        <p:spPr>
          <a:xfrm>
            <a:off x="6126480" y="2651760"/>
            <a:ext cx="4892040" cy="914400"/>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Oval 20">
            <a:extLst>
              <a:ext uri="{FF2B5EF4-FFF2-40B4-BE49-F238E27FC236}">
                <a16:creationId xmlns:a16="http://schemas.microsoft.com/office/drawing/2014/main" id="{B519B5EC-1E52-40F7-9099-3A5489B23FFA}"/>
              </a:ext>
            </a:extLst>
          </p:cNvPr>
          <p:cNvSpPr>
            <a:spLocks noGrp="1"/>
          </p:cNvSpPr>
          <p:nvPr/>
        </p:nvSpPr>
        <p:spPr>
          <a:xfrm>
            <a:off x="6291072" y="281635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CA402BD1-CA3A-42D8-BDF1-138897F5885A}"/>
              </a:ext>
            </a:extLst>
          </p:cNvPr>
          <p:cNvSpPr>
            <a:spLocks noGrp="1"/>
          </p:cNvSpPr>
          <p:nvPr/>
        </p:nvSpPr>
        <p:spPr>
          <a:xfrm>
            <a:off x="6291072" y="283654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MIC</a:t>
            </a:r>
          </a:p>
        </p:txBody>
      </p:sp>
      <p:sp>
        <p:nvSpPr>
          <p:cNvPr id="23" name="TextBox 22">
            <a:extLst>
              <a:ext uri="{FF2B5EF4-FFF2-40B4-BE49-F238E27FC236}">
                <a16:creationId xmlns:a16="http://schemas.microsoft.com/office/drawing/2014/main" id="{A82E08D6-A242-47CE-AE84-A7C18409F1AA}"/>
              </a:ext>
            </a:extLst>
          </p:cNvPr>
          <p:cNvSpPr>
            <a:spLocks noGrp="1"/>
          </p:cNvSpPr>
          <p:nvPr/>
        </p:nvSpPr>
        <p:spPr>
          <a:xfrm>
            <a:off x="6784848" y="2798064"/>
            <a:ext cx="408736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대변인 지정</a:t>
            </a:r>
          </a:p>
        </p:txBody>
      </p:sp>
      <p:sp>
        <p:nvSpPr>
          <p:cNvPr id="24" name="TextBox 23">
            <a:extLst>
              <a:ext uri="{FF2B5EF4-FFF2-40B4-BE49-F238E27FC236}">
                <a16:creationId xmlns:a16="http://schemas.microsoft.com/office/drawing/2014/main" id="{CE0273E3-A465-41CD-BFB5-8DE2A6561B04}"/>
              </a:ext>
            </a:extLst>
          </p:cNvPr>
          <p:cNvSpPr>
            <a:spLocks noGrp="1"/>
          </p:cNvSpPr>
          <p:nvPr/>
        </p:nvSpPr>
        <p:spPr>
          <a:xfrm>
            <a:off x="6784848" y="3090672"/>
            <a:ext cx="4087368" cy="48006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3Jane이 승인한 파운더·코어 팀·BD 대표.</a:t>
            </a:r>
          </a:p>
        </p:txBody>
      </p:sp>
      <p:sp>
        <p:nvSpPr>
          <p:cNvPr id="25" name="Rounded Rectangle 24">
            <a:extLst>
              <a:ext uri="{FF2B5EF4-FFF2-40B4-BE49-F238E27FC236}">
                <a16:creationId xmlns:a16="http://schemas.microsoft.com/office/drawing/2014/main" id="{76B5F81E-C4B5-4A14-B2BA-D1A20CDED0BB}"/>
              </a:ext>
            </a:extLst>
          </p:cNvPr>
          <p:cNvSpPr>
            <a:spLocks noGrp="1"/>
          </p:cNvSpPr>
          <p:nvPr/>
        </p:nvSpPr>
        <p:spPr>
          <a:xfrm>
            <a:off x="868680" y="3886200"/>
            <a:ext cx="4892040" cy="914400"/>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Oval 25">
            <a:extLst>
              <a:ext uri="{FF2B5EF4-FFF2-40B4-BE49-F238E27FC236}">
                <a16:creationId xmlns:a16="http://schemas.microsoft.com/office/drawing/2014/main" id="{7E2E7D16-7564-4A95-87E6-373111778A2C}"/>
              </a:ext>
            </a:extLst>
          </p:cNvPr>
          <p:cNvSpPr>
            <a:spLocks noGrp="1"/>
          </p:cNvSpPr>
          <p:nvPr/>
        </p:nvSpPr>
        <p:spPr>
          <a:xfrm>
            <a:off x="1033271" y="4050791"/>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A22BC30-60DA-408A-B84A-24E6EF7419BB}"/>
              </a:ext>
            </a:extLst>
          </p:cNvPr>
          <p:cNvSpPr>
            <a:spLocks noGrp="1"/>
          </p:cNvSpPr>
          <p:nvPr/>
        </p:nvSpPr>
        <p:spPr>
          <a:xfrm>
            <a:off x="1033271" y="4070984"/>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ART</a:t>
            </a:r>
          </a:p>
        </p:txBody>
      </p:sp>
      <p:sp>
        <p:nvSpPr>
          <p:cNvPr id="28" name="TextBox 27">
            <a:extLst>
              <a:ext uri="{FF2B5EF4-FFF2-40B4-BE49-F238E27FC236}">
                <a16:creationId xmlns:a16="http://schemas.microsoft.com/office/drawing/2014/main" id="{EFF70B72-2806-4B4A-B91F-640282263514}"/>
              </a:ext>
            </a:extLst>
          </p:cNvPr>
          <p:cNvSpPr>
            <a:spLocks noGrp="1"/>
          </p:cNvSpPr>
          <p:nvPr/>
        </p:nvSpPr>
        <p:spPr>
          <a:xfrm>
            <a:off x="1527048" y="4032504"/>
            <a:ext cx="408736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매체·게재 확정</a:t>
            </a:r>
          </a:p>
        </p:txBody>
      </p:sp>
      <p:sp>
        <p:nvSpPr>
          <p:cNvPr id="29" name="TextBox 28">
            <a:extLst>
              <a:ext uri="{FF2B5EF4-FFF2-40B4-BE49-F238E27FC236}">
                <a16:creationId xmlns:a16="http://schemas.microsoft.com/office/drawing/2014/main" id="{F69682C6-8607-4708-8F33-1A7A2CFF926E}"/>
              </a:ext>
            </a:extLst>
          </p:cNvPr>
          <p:cNvSpPr>
            <a:spLocks noGrp="1"/>
          </p:cNvSpPr>
          <p:nvPr/>
        </p:nvSpPr>
        <p:spPr>
          <a:xfrm>
            <a:off x="1527048" y="4325112"/>
            <a:ext cx="4087368" cy="48006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부킹은 매체 적합성, 견적, 연사 가용성에 따름.</a:t>
            </a:r>
          </a:p>
        </p:txBody>
      </p:sp>
      <p:sp>
        <p:nvSpPr>
          <p:cNvPr id="30" name="Rounded Rectangle 29">
            <a:extLst>
              <a:ext uri="{FF2B5EF4-FFF2-40B4-BE49-F238E27FC236}">
                <a16:creationId xmlns:a16="http://schemas.microsoft.com/office/drawing/2014/main" id="{E584F413-DBA6-4802-AF0C-2E4A4D004740}"/>
              </a:ext>
            </a:extLst>
          </p:cNvPr>
          <p:cNvSpPr>
            <a:spLocks noGrp="1"/>
          </p:cNvSpPr>
          <p:nvPr/>
        </p:nvSpPr>
        <p:spPr>
          <a:xfrm>
            <a:off x="6126480" y="3886200"/>
            <a:ext cx="4892040" cy="914400"/>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Oval 30">
            <a:extLst>
              <a:ext uri="{FF2B5EF4-FFF2-40B4-BE49-F238E27FC236}">
                <a16:creationId xmlns:a16="http://schemas.microsoft.com/office/drawing/2014/main" id="{2670B025-3E82-451C-AEA4-8C8B48A4E57A}"/>
              </a:ext>
            </a:extLst>
          </p:cNvPr>
          <p:cNvSpPr>
            <a:spLocks noGrp="1"/>
          </p:cNvSpPr>
          <p:nvPr/>
        </p:nvSpPr>
        <p:spPr>
          <a:xfrm>
            <a:off x="6291072" y="4050791"/>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C64EC03B-77D8-434E-BD8F-606FBB975EEA}"/>
              </a:ext>
            </a:extLst>
          </p:cNvPr>
          <p:cNvSpPr>
            <a:spLocks noGrp="1"/>
          </p:cNvSpPr>
          <p:nvPr/>
        </p:nvSpPr>
        <p:spPr>
          <a:xfrm>
            <a:off x="6291072" y="4070984"/>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MSG</a:t>
            </a:r>
          </a:p>
        </p:txBody>
      </p:sp>
      <p:sp>
        <p:nvSpPr>
          <p:cNvPr id="33" name="TextBox 32">
            <a:extLst>
              <a:ext uri="{FF2B5EF4-FFF2-40B4-BE49-F238E27FC236}">
                <a16:creationId xmlns:a16="http://schemas.microsoft.com/office/drawing/2014/main" id="{A308EC38-7BBB-4DB7-A65B-1535DC55EBE1}"/>
              </a:ext>
            </a:extLst>
          </p:cNvPr>
          <p:cNvSpPr>
            <a:spLocks noGrp="1"/>
          </p:cNvSpPr>
          <p:nvPr/>
        </p:nvSpPr>
        <p:spPr>
          <a:xfrm>
            <a:off x="6784848" y="4032504"/>
            <a:ext cx="4087368" cy="32004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최종 메시지 검토</a:t>
            </a:r>
          </a:p>
        </p:txBody>
      </p:sp>
      <p:sp>
        <p:nvSpPr>
          <p:cNvPr id="34" name="TextBox 33">
            <a:extLst>
              <a:ext uri="{FF2B5EF4-FFF2-40B4-BE49-F238E27FC236}">
                <a16:creationId xmlns:a16="http://schemas.microsoft.com/office/drawing/2014/main" id="{CE5DC683-1FA0-41EE-B89C-A88CBB3C3C4D}"/>
              </a:ext>
            </a:extLst>
          </p:cNvPr>
          <p:cNvSpPr>
            <a:spLocks noGrp="1"/>
          </p:cNvSpPr>
          <p:nvPr/>
        </p:nvSpPr>
        <p:spPr>
          <a:xfrm>
            <a:off x="6784848" y="4325112"/>
            <a:ext cx="4087368" cy="48006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제품 사실 승인, 유료 게재와 어닝 커버리지 구분.</a:t>
            </a:r>
          </a:p>
        </p:txBody>
      </p:sp>
      <p:sp>
        <p:nvSpPr>
          <p:cNvPr id="35" name="Rounded Rectangle 34">
            <a:extLst>
              <a:ext uri="{FF2B5EF4-FFF2-40B4-BE49-F238E27FC236}">
                <a16:creationId xmlns:a16="http://schemas.microsoft.com/office/drawing/2014/main" id="{456D15E0-5230-4CDF-B730-9239423F3B06}"/>
              </a:ext>
            </a:extLst>
          </p:cNvPr>
          <p:cNvSpPr>
            <a:spLocks noGrp="1"/>
          </p:cNvSpPr>
          <p:nvPr/>
        </p:nvSpPr>
        <p:spPr>
          <a:xfrm>
            <a:off x="868680" y="5285232"/>
            <a:ext cx="1325880" cy="292608"/>
          </a:xfrm>
          <a:prstGeom prst="roundRect">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849B94E9-21EE-4099-8590-9056176AD4DF}"/>
              </a:ext>
            </a:extLst>
          </p:cNvPr>
          <p:cNvSpPr>
            <a:spLocks noGrp="1"/>
          </p:cNvSpPr>
          <p:nvPr/>
        </p:nvSpPr>
        <p:spPr>
          <a:xfrm>
            <a:off x="868680" y="5326380"/>
            <a:ext cx="1325880" cy="274320"/>
          </a:xfrm>
          <a:prstGeom prst="rect">
            <a:avLst/>
          </a:prstGeom>
          <a:noFill/>
        </p:spPr>
        <p:txBody>
          <a:bodyPr wrap="square" lIns="0" tIns="0" rIns="0" bIns="0" anchor="t">
            <a:noAutofit/>
          </a:bodyPr>
          <a:lstStyle/>
          <a:p>
            <a:pPr algn="l">
              <a:buNone/>
              <a:defRPr sz="1200" b="1">
                <a:solidFill>
                  <a:srgbClr val="0B39FF"/>
                </a:solidFill>
                <a:latin typeface="Arial"/>
                <a:ea typeface="Arial"/>
                <a:cs typeface="Arial"/>
              </a:defRPr>
            </a:pPr>
            <a:r>
              <a:rPr sz="1200" b="1">
                <a:solidFill>
                  <a:srgbClr val="0B39FF"/>
                </a:solidFill>
                <a:latin typeface="Arial"/>
                <a:ea typeface="Arial"/>
                <a:cs typeface="Arial"/>
              </a:rPr>
              <a:t>편집 초점</a:t>
            </a:r>
          </a:p>
        </p:txBody>
      </p:sp>
      <p:sp>
        <p:nvSpPr>
          <p:cNvPr id="37" name="TextBox 36">
            <a:extLst>
              <a:ext uri="{FF2B5EF4-FFF2-40B4-BE49-F238E27FC236}">
                <a16:creationId xmlns:a16="http://schemas.microsoft.com/office/drawing/2014/main" id="{16827505-423D-43EB-B641-97DA3F93C82F}"/>
              </a:ext>
            </a:extLst>
          </p:cNvPr>
          <p:cNvSpPr>
            <a:spLocks noGrp="1"/>
          </p:cNvSpPr>
          <p:nvPr/>
        </p:nvSpPr>
        <p:spPr>
          <a:xfrm>
            <a:off x="2333625" y="5229225"/>
            <a:ext cx="8867775" cy="552450"/>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수익 생성 방식 • 트랜치 차이 • 손실 원인 • 현행 로드맵</a:t>
            </a:r>
          </a:p>
        </p:txBody>
      </p:sp>
    </p:spTree>
    <p:extLst>
      <p:ext uri="{BB962C8B-B14F-4D97-AF65-F5344CB8AC3E}">
        <p14:creationId xmlns:p14="http://schemas.microsoft.com/office/powerpoint/2010/main" val="1157504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DB49DF-F8FB-4749-9C1B-B31F7774023F}"/>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4806D0A7-994B-4744-A1A9-B1443AE6B85A}"/>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2CB089B8-CEE6-4FA4-9B4D-83CD4267D59F}"/>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0"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17D03143-D57F-4E89-B770-EEC61F41A53A}"/>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650CC020-2ACB-4F37-BDB3-200488EFFBB1}"/>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266CB6E8-2430-460E-B808-AA24CC51DF0A}"/>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12</a:t>
            </a:r>
          </a:p>
        </p:txBody>
      </p:sp>
      <p:sp>
        <p:nvSpPr>
          <p:cNvPr id="10" name="TextBox 9">
            <a:extLst>
              <a:ext uri="{FF2B5EF4-FFF2-40B4-BE49-F238E27FC236}">
                <a16:creationId xmlns:a16="http://schemas.microsoft.com/office/drawing/2014/main" id="{240FB2FF-B7EF-4853-B49E-EB1B13F78317}"/>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05. PR 및 검색 | 영상 패키지 $2,000</a:t>
            </a:r>
          </a:p>
        </p:txBody>
      </p:sp>
      <p:sp>
        <p:nvSpPr>
          <p:cNvPr id="11" name="Rectangle 10">
            <a:extLst>
              <a:ext uri="{FF2B5EF4-FFF2-40B4-BE49-F238E27FC236}">
                <a16:creationId xmlns:a16="http://schemas.microsoft.com/office/drawing/2014/main" id="{AAF9A292-BC7E-431E-B287-06228C2460D0}"/>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2DDA6D7-E111-432D-9696-519BBFFE02B2}"/>
              </a:ext>
            </a:extLst>
          </p:cNvPr>
          <p:cNvSpPr>
            <a:spLocks noGrp="1"/>
          </p:cNvSpPr>
          <p:nvPr/>
        </p:nvSpPr>
        <p:spPr>
          <a:xfrm>
            <a:off x="1005840" y="1481328"/>
            <a:ext cx="10149840" cy="619506"/>
          </a:xfrm>
          <a:prstGeom prst="rect">
            <a:avLst/>
          </a:prstGeom>
          <a:noFill/>
        </p:spPr>
        <p:txBody>
          <a:bodyPr wrap="square" lIns="0" tIns="0" rIns="0" bIns="0" anchor="t">
            <a:noAutofit/>
          </a:bodyPr>
          <a:lstStyle/>
          <a:p>
            <a:pPr algn="l">
              <a:lnSpc>
                <a:spcPct val="110000"/>
              </a:lnSpc>
              <a:buNone/>
              <a:defRPr sz="1575">
                <a:solidFill>
                  <a:srgbClr val="334155"/>
                </a:solidFill>
                <a:latin typeface="Arial"/>
                <a:ea typeface="Arial"/>
                <a:cs typeface="Arial"/>
              </a:defRPr>
            </a:pPr>
            <a:r>
              <a:rPr sz="1575" b="0">
                <a:solidFill>
                  <a:srgbClr val="334155"/>
                </a:solidFill>
                <a:latin typeface="Arial"/>
                <a:ea typeface="Arial"/>
                <a:cs typeface="Arial"/>
              </a:rPr>
              <a:t>후속 배포용 승인 발췌가 포함된 영상 출연 패키지 1건.</a:t>
            </a:r>
          </a:p>
        </p:txBody>
      </p:sp>
      <p:sp>
        <p:nvSpPr>
          <p:cNvPr id="13" name="Rounded Rectangle 12">
            <a:extLst>
              <a:ext uri="{FF2B5EF4-FFF2-40B4-BE49-F238E27FC236}">
                <a16:creationId xmlns:a16="http://schemas.microsoft.com/office/drawing/2014/main" id="{19E0107B-72D2-4076-B48C-F3C0C870A2A1}"/>
              </a:ext>
            </a:extLst>
          </p:cNvPr>
          <p:cNvSpPr>
            <a:spLocks noGrp="1"/>
          </p:cNvSpPr>
          <p:nvPr/>
        </p:nvSpPr>
        <p:spPr>
          <a:xfrm>
            <a:off x="868680" y="2057400"/>
            <a:ext cx="1737360" cy="320040"/>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C66A6868-BCD3-4AD6-9E25-674CB705E54B}"/>
              </a:ext>
            </a:extLst>
          </p:cNvPr>
          <p:cNvSpPr>
            <a:spLocks noGrp="1"/>
          </p:cNvSpPr>
          <p:nvPr/>
        </p:nvSpPr>
        <p:spPr>
          <a:xfrm>
            <a:off x="868680" y="2098548"/>
            <a:ext cx="1737360" cy="274320"/>
          </a:xfrm>
          <a:prstGeom prst="rect">
            <a:avLst/>
          </a:prstGeom>
          <a:noFill/>
        </p:spPr>
        <p:txBody>
          <a:bodyPr wrap="square">
            <a:spAutoFit/>
          </a:bodyPr>
          <a:lstStyle/>
          <a:p>
            <a:pPr algn="ctr">
              <a:buNone/>
            </a:pPr>
            <a:r>
              <a:rPr sz="1200" b="1">
                <a:solidFill>
                  <a:srgbClr val="FFFFFF"/>
                </a:solidFill>
                <a:latin typeface="Arial"/>
                <a:ea typeface="Arial"/>
                <a:cs typeface="Arial"/>
              </a:rPr>
              <a:t>프로그램 콘텐츠</a:t>
            </a:r>
          </a:p>
        </p:txBody>
      </p:sp>
      <p:sp>
        <p:nvSpPr>
          <p:cNvPr id="15" name="Rounded Rectangle 14">
            <a:extLst>
              <a:ext uri="{FF2B5EF4-FFF2-40B4-BE49-F238E27FC236}">
                <a16:creationId xmlns:a16="http://schemas.microsoft.com/office/drawing/2014/main" id="{546C710D-A66D-439E-8911-F51C0E836E33}"/>
              </a:ext>
            </a:extLst>
          </p:cNvPr>
          <p:cNvSpPr>
            <a:spLocks noGrp="1"/>
          </p:cNvSpPr>
          <p:nvPr/>
        </p:nvSpPr>
        <p:spPr>
          <a:xfrm>
            <a:off x="868680" y="2578608"/>
            <a:ext cx="4709160" cy="822960"/>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Oval 15">
            <a:extLst>
              <a:ext uri="{FF2B5EF4-FFF2-40B4-BE49-F238E27FC236}">
                <a16:creationId xmlns:a16="http://schemas.microsoft.com/office/drawing/2014/main" id="{1D6E531E-BB5A-49B2-A6E2-57A924243C21}"/>
              </a:ext>
            </a:extLst>
          </p:cNvPr>
          <p:cNvSpPr>
            <a:spLocks noGrp="1"/>
          </p:cNvSpPr>
          <p:nvPr/>
        </p:nvSpPr>
        <p:spPr>
          <a:xfrm>
            <a:off x="1033271" y="2743200"/>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ECC01C9-3ED5-48D6-A7D3-CBFCA64FB627}"/>
              </a:ext>
            </a:extLst>
          </p:cNvPr>
          <p:cNvSpPr>
            <a:spLocks noGrp="1"/>
          </p:cNvSpPr>
          <p:nvPr/>
        </p:nvSpPr>
        <p:spPr>
          <a:xfrm>
            <a:off x="1033271" y="2763393"/>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TV</a:t>
            </a:r>
          </a:p>
        </p:txBody>
      </p:sp>
      <p:sp>
        <p:nvSpPr>
          <p:cNvPr id="18" name="TextBox 17">
            <a:extLst>
              <a:ext uri="{FF2B5EF4-FFF2-40B4-BE49-F238E27FC236}">
                <a16:creationId xmlns:a16="http://schemas.microsoft.com/office/drawing/2014/main" id="{53AFA4EE-F547-4242-89A8-730AA7C4BB45}"/>
              </a:ext>
            </a:extLst>
          </p:cNvPr>
          <p:cNvSpPr>
            <a:spLocks noGrp="1"/>
          </p:cNvSpPr>
          <p:nvPr/>
        </p:nvSpPr>
        <p:spPr>
          <a:xfrm>
            <a:off x="1527048" y="2724912"/>
            <a:ext cx="3904488" cy="308610"/>
          </a:xfrm>
          <a:prstGeom prst="rect">
            <a:avLst/>
          </a:prstGeom>
          <a:noFill/>
        </p:spPr>
        <p:txBody>
          <a:bodyPr wrap="square" lIns="0" tIns="0" rIns="0" bIns="0" anchor="t">
            <a:noAutofit/>
          </a:bodyPr>
          <a:lstStyle/>
          <a:p>
            <a:pPr algn="l">
              <a:defRPr sz="1425" b="1">
                <a:solidFill>
                  <a:srgbClr val="071323"/>
                </a:solidFill>
                <a:latin typeface="Arial"/>
                <a:ea typeface="Arial"/>
                <a:cs typeface="Arial"/>
              </a:defRPr>
            </a:pPr>
            <a:r>
              <a:rPr sz="1425" b="1">
                <a:solidFill>
                  <a:srgbClr val="071323"/>
                </a:solidFill>
                <a:latin typeface="Arial"/>
                <a:ea typeface="Arial"/>
                <a:cs typeface="Arial"/>
              </a:rPr>
              <a:t>적합한 미디어 포맷 확정</a:t>
            </a:r>
          </a:p>
        </p:txBody>
      </p:sp>
      <p:sp>
        <p:nvSpPr>
          <p:cNvPr id="19" name="TextBox 18">
            <a:extLst>
              <a:ext uri="{FF2B5EF4-FFF2-40B4-BE49-F238E27FC236}">
                <a16:creationId xmlns:a16="http://schemas.microsoft.com/office/drawing/2014/main" id="{7F6723B3-405C-42B8-B89A-D598A1F065B7}"/>
              </a:ext>
            </a:extLst>
          </p:cNvPr>
          <p:cNvSpPr>
            <a:spLocks noGrp="1"/>
          </p:cNvSpPr>
          <p:nvPr/>
        </p:nvSpPr>
        <p:spPr>
          <a:xfrm>
            <a:off x="1527048" y="3017520"/>
            <a:ext cx="3904488" cy="48006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금융·기술·Web3 영상. 매체 적합성과 가용성에 따름.</a:t>
            </a:r>
          </a:p>
        </p:txBody>
      </p:sp>
      <p:sp>
        <p:nvSpPr>
          <p:cNvPr id="20" name="Rounded Rectangle 19">
            <a:extLst>
              <a:ext uri="{FF2B5EF4-FFF2-40B4-BE49-F238E27FC236}">
                <a16:creationId xmlns:a16="http://schemas.microsoft.com/office/drawing/2014/main" id="{BBCE9945-605B-47D5-800D-4CF7467D5F28}"/>
              </a:ext>
            </a:extLst>
          </p:cNvPr>
          <p:cNvSpPr>
            <a:spLocks noGrp="1"/>
          </p:cNvSpPr>
          <p:nvPr/>
        </p:nvSpPr>
        <p:spPr>
          <a:xfrm>
            <a:off x="868680" y="3566160"/>
            <a:ext cx="4709160" cy="822960"/>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Oval 20">
            <a:extLst>
              <a:ext uri="{FF2B5EF4-FFF2-40B4-BE49-F238E27FC236}">
                <a16:creationId xmlns:a16="http://schemas.microsoft.com/office/drawing/2014/main" id="{9BD9AD5E-CF31-4BFB-8A97-477462CB5D89}"/>
              </a:ext>
            </a:extLst>
          </p:cNvPr>
          <p:cNvSpPr>
            <a:spLocks noGrp="1"/>
          </p:cNvSpPr>
          <p:nvPr/>
        </p:nvSpPr>
        <p:spPr>
          <a:xfrm>
            <a:off x="1033271" y="373075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FF34F76-5C4E-4766-A79C-A1B4EB92F916}"/>
              </a:ext>
            </a:extLst>
          </p:cNvPr>
          <p:cNvSpPr>
            <a:spLocks noGrp="1"/>
          </p:cNvSpPr>
          <p:nvPr/>
        </p:nvSpPr>
        <p:spPr>
          <a:xfrm>
            <a:off x="1033271" y="375094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3J</a:t>
            </a:r>
          </a:p>
        </p:txBody>
      </p:sp>
      <p:sp>
        <p:nvSpPr>
          <p:cNvPr id="23" name="TextBox 22">
            <a:extLst>
              <a:ext uri="{FF2B5EF4-FFF2-40B4-BE49-F238E27FC236}">
                <a16:creationId xmlns:a16="http://schemas.microsoft.com/office/drawing/2014/main" id="{07F392D5-3E34-4377-B474-B8F40A7F649D}"/>
              </a:ext>
            </a:extLst>
          </p:cNvPr>
          <p:cNvSpPr>
            <a:spLocks noGrp="1"/>
          </p:cNvSpPr>
          <p:nvPr/>
        </p:nvSpPr>
        <p:spPr>
          <a:xfrm>
            <a:off x="1527048" y="3712463"/>
            <a:ext cx="3904488" cy="308610"/>
          </a:xfrm>
          <a:prstGeom prst="rect">
            <a:avLst/>
          </a:prstGeom>
          <a:noFill/>
        </p:spPr>
        <p:txBody>
          <a:bodyPr wrap="square" lIns="0" tIns="0" rIns="0" bIns="0" anchor="t">
            <a:noAutofit/>
          </a:bodyPr>
          <a:lstStyle/>
          <a:p>
            <a:pPr algn="l">
              <a:defRPr sz="1425" b="1">
                <a:solidFill>
                  <a:srgbClr val="071323"/>
                </a:solidFill>
                <a:latin typeface="Arial"/>
                <a:ea typeface="Arial"/>
                <a:cs typeface="Arial"/>
              </a:defRPr>
            </a:pPr>
            <a:r>
              <a:rPr sz="1425" b="1">
                <a:solidFill>
                  <a:srgbClr val="071323"/>
                </a:solidFill>
                <a:latin typeface="Arial"/>
                <a:ea typeface="Arial"/>
                <a:cs typeface="Arial"/>
              </a:rPr>
              <a:t>제품과 리스크를 명확히 설명</a:t>
            </a:r>
          </a:p>
        </p:txBody>
      </p:sp>
      <p:sp>
        <p:nvSpPr>
          <p:cNvPr id="24" name="TextBox 23">
            <a:extLst>
              <a:ext uri="{FF2B5EF4-FFF2-40B4-BE49-F238E27FC236}">
                <a16:creationId xmlns:a16="http://schemas.microsoft.com/office/drawing/2014/main" id="{DAE9F630-D887-4964-99F2-17E22CDD1455}"/>
              </a:ext>
            </a:extLst>
          </p:cNvPr>
          <p:cNvSpPr>
            <a:spLocks noGrp="1"/>
          </p:cNvSpPr>
          <p:nvPr/>
        </p:nvSpPr>
        <p:spPr>
          <a:xfrm>
            <a:off x="1527048" y="4005072"/>
            <a:ext cx="3904488" cy="480060"/>
          </a:xfrm>
          <a:prstGeom prst="rect">
            <a:avLst/>
          </a:prstGeom>
          <a:noFill/>
        </p:spPr>
        <p:txBody>
          <a:bodyPr wrap="square" lIns="0" tIns="0" rIns="0" bIns="0" anchor="t">
            <a:noAutofit/>
          </a:bodyPr>
          <a:lstStyle/>
          <a:p>
            <a:pPr algn="l">
              <a:defRPr sz="1275">
                <a:solidFill>
                  <a:srgbClr val="334155"/>
                </a:solidFill>
                <a:latin typeface="Arial"/>
                <a:ea typeface="Arial"/>
                <a:cs typeface="Arial"/>
              </a:defRPr>
            </a:pPr>
            <a:r>
              <a:rPr sz="1275" b="0">
                <a:solidFill>
                  <a:srgbClr val="334155"/>
                </a:solidFill>
                <a:latin typeface="Arial"/>
                <a:ea typeface="Arial"/>
                <a:cs typeface="Arial"/>
              </a:rPr>
              <a:t>수익 구조, 트랜치 차이, 출금 조건, 한국 전략.</a:t>
            </a:r>
          </a:p>
        </p:txBody>
      </p:sp>
      <p:sp>
        <p:nvSpPr>
          <p:cNvPr id="25" name="Rounded Rectangle 24">
            <a:extLst>
              <a:ext uri="{FF2B5EF4-FFF2-40B4-BE49-F238E27FC236}">
                <a16:creationId xmlns:a16="http://schemas.microsoft.com/office/drawing/2014/main" id="{02E6F780-2253-4D59-96EF-75993BC6595A}"/>
              </a:ext>
            </a:extLst>
          </p:cNvPr>
          <p:cNvSpPr>
            <a:spLocks noGrp="1"/>
          </p:cNvSpPr>
          <p:nvPr/>
        </p:nvSpPr>
        <p:spPr>
          <a:xfrm>
            <a:off x="868680" y="4681728"/>
            <a:ext cx="1005840" cy="292608"/>
          </a:xfrm>
          <a:prstGeom prst="roundRect">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A3086E0-E647-4C08-971B-5ECB71FAE91B}"/>
              </a:ext>
            </a:extLst>
          </p:cNvPr>
          <p:cNvSpPr>
            <a:spLocks noGrp="1"/>
          </p:cNvSpPr>
          <p:nvPr/>
        </p:nvSpPr>
        <p:spPr>
          <a:xfrm>
            <a:off x="868680" y="4722876"/>
            <a:ext cx="1005840" cy="246888"/>
          </a:xfrm>
          <a:prstGeom prst="rect">
            <a:avLst/>
          </a:prstGeom>
          <a:noFill/>
        </p:spPr>
        <p:txBody>
          <a:bodyPr wrap="square">
            <a:spAutoFit/>
          </a:bodyPr>
          <a:lstStyle/>
          <a:p>
            <a:pPr algn="ctr">
              <a:buNone/>
            </a:pPr>
            <a:r>
              <a:rPr sz="1200" b="1">
                <a:solidFill>
                  <a:srgbClr val="0B39FF"/>
                </a:solidFill>
                <a:latin typeface="Arial"/>
                <a:ea typeface="Arial"/>
                <a:cs typeface="Arial"/>
              </a:rPr>
              <a:t>프로세스</a:t>
            </a:r>
          </a:p>
        </p:txBody>
      </p:sp>
      <p:sp>
        <p:nvSpPr>
          <p:cNvPr id="27" name="TextBox 26">
            <a:extLst>
              <a:ext uri="{FF2B5EF4-FFF2-40B4-BE49-F238E27FC236}">
                <a16:creationId xmlns:a16="http://schemas.microsoft.com/office/drawing/2014/main" id="{621C09C3-02B9-4FEB-8F50-B1B0EF02B63C}"/>
              </a:ext>
            </a:extLst>
          </p:cNvPr>
          <p:cNvSpPr>
            <a:spLocks noGrp="1"/>
          </p:cNvSpPr>
          <p:nvPr/>
        </p:nvSpPr>
        <p:spPr>
          <a:xfrm>
            <a:off x="2009775" y="4695825"/>
            <a:ext cx="3476625" cy="876300"/>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부킹 전 Q&amp;A·매체·견적·재사용 권리 승인. 게재 후 승인 발췌 배포.</a:t>
            </a:r>
          </a:p>
        </p:txBody>
      </p:sp>
      <p:sp>
        <p:nvSpPr>
          <p:cNvPr id="28" name="Rounded Rectangle 27">
            <a:extLst>
              <a:ext uri="{FF2B5EF4-FFF2-40B4-BE49-F238E27FC236}">
                <a16:creationId xmlns:a16="http://schemas.microsoft.com/office/drawing/2014/main" id="{90FD5B56-63C0-4FD3-8400-484FB1B2CB99}"/>
              </a:ext>
            </a:extLst>
          </p:cNvPr>
          <p:cNvSpPr>
            <a:spLocks noGrp="1"/>
          </p:cNvSpPr>
          <p:nvPr/>
        </p:nvSpPr>
        <p:spPr>
          <a:xfrm>
            <a:off x="5991225" y="2057400"/>
            <a:ext cx="1171575" cy="295275"/>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2EF13E4E-FA58-471A-82C8-16D9BAB38196}"/>
              </a:ext>
            </a:extLst>
          </p:cNvPr>
          <p:cNvSpPr>
            <a:spLocks noGrp="1"/>
          </p:cNvSpPr>
          <p:nvPr/>
        </p:nvSpPr>
        <p:spPr>
          <a:xfrm>
            <a:off x="5991225" y="2095500"/>
            <a:ext cx="1171575" cy="274320"/>
          </a:xfrm>
          <a:prstGeom prst="rect">
            <a:avLst/>
          </a:prstGeom>
          <a:noFill/>
        </p:spPr>
        <p:txBody>
          <a:bodyPr wrap="square">
            <a:spAutoFit/>
          </a:bodyPr>
          <a:lstStyle/>
          <a:p>
            <a:pPr algn="ctr">
              <a:buNone/>
            </a:pPr>
            <a:r>
              <a:rPr sz="1200" b="1">
                <a:solidFill>
                  <a:srgbClr val="FFFFFF"/>
                </a:solidFill>
                <a:latin typeface="Arial"/>
                <a:ea typeface="Arial"/>
                <a:cs typeface="Arial"/>
              </a:rPr>
              <a:t>참고</a:t>
            </a:r>
          </a:p>
        </p:txBody>
      </p:sp>
      <p:sp>
        <p:nvSpPr>
          <p:cNvPr id="30" name="Rounded Rectangle 29">
            <a:extLst>
              <a:ext uri="{FF2B5EF4-FFF2-40B4-BE49-F238E27FC236}">
                <a16:creationId xmlns:a16="http://schemas.microsoft.com/office/drawing/2014/main" id="{06737864-F53F-4319-AB8B-FDAC06C47283}"/>
              </a:ext>
            </a:extLst>
          </p:cNvPr>
          <p:cNvSpPr>
            <a:spLocks noGrp="1"/>
          </p:cNvSpPr>
          <p:nvPr/>
        </p:nvSpPr>
        <p:spPr>
          <a:xfrm>
            <a:off x="5991225" y="2476500"/>
            <a:ext cx="5162550" cy="3048000"/>
          </a:xfrm>
          <a:prstGeom prst="roundRect">
            <a:avLst/>
          </a:prstGeom>
          <a:solidFill>
            <a:srgbClr val="FFFFFF"/>
          </a:solidFill>
          <a:ln w="12700">
            <a:solidFill>
              <a:srgbClr val="D7DFF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80B0AD63-FDAA-45DE-97B8-AABF4CB797B2}"/>
              </a:ext>
            </a:extLst>
          </p:cNvPr>
          <p:cNvSpPr>
            <a:spLocks noGrp="1"/>
          </p:cNvSpPr>
          <p:nvPr/>
        </p:nvSpPr>
        <p:spPr>
          <a:xfrm>
            <a:off x="5991225" y="6105525"/>
            <a:ext cx="5162550" cy="285750"/>
          </a:xfrm>
          <a:prstGeom prst="rect">
            <a:avLst/>
          </a:prstGeom>
          <a:noFill/>
        </p:spPr>
        <p:txBody>
          <a:bodyPr wrap="square" lIns="0" tIns="0" rIns="0" bIns="0" anchor="t">
            <a:noAutofit/>
          </a:bodyPr>
          <a:lstStyle/>
          <a:p>
            <a:pPr algn="l">
              <a:buNone/>
              <a:defRPr sz="1200">
                <a:solidFill>
                  <a:srgbClr val="334155"/>
                </a:solidFill>
                <a:latin typeface="Arial"/>
                <a:ea typeface="Arial"/>
                <a:cs typeface="Arial"/>
              </a:defRPr>
            </a:pPr>
            <a:r>
              <a:rPr sz="1200" b="1">
                <a:solidFill>
                  <a:srgbClr val="334155"/>
                </a:solidFill>
                <a:latin typeface="Arial"/>
                <a:ea typeface="Arial"/>
                <a:cs typeface="Arial"/>
              </a:rPr>
              <a:t>원본 제안서 예시이며 3Jane 캠페인 실적이 아님.</a:t>
            </a:r>
          </a:p>
        </p:txBody>
      </p:sp>
      <p:sp>
        <p:nvSpPr>
          <p:cNvPr id="31" name="TextBox 30">
            <a:extLst>
              <a:ext uri="{FF2B5EF4-FFF2-40B4-BE49-F238E27FC236}">
                <a16:creationId xmlns:a16="http://schemas.microsoft.com/office/drawing/2014/main" id="{62CAFBF5-C348-09C4-5B26-A02F62508BFB}"/>
              </a:ext>
            </a:extLst>
          </p:cNvPr>
          <p:cNvSpPr txBox="1"/>
          <p:nvPr/>
        </p:nvSpPr>
        <p:spPr>
          <a:xfrm>
            <a:off x="6577012" y="5794722"/>
            <a:ext cx="6146800" cy="276999"/>
          </a:xfrm>
          <a:prstGeom prst="rect">
            <a:avLst/>
          </a:prstGeom>
          <a:noFill/>
        </p:spPr>
        <p:txBody>
          <a:bodyPr wrap="square">
            <a:spAutoFit/>
          </a:bodyPr>
          <a:lstStyle/>
          <a:p>
            <a:r>
              <a:rPr lang="ko-KR" altLang="en-US" sz="1200" dirty="0">
                <a:hlinkClick r:id="rId4"/>
              </a:rPr>
              <a:t>https://www.youtube.com/watch?v=n-J6-mXBgIg </a:t>
            </a:r>
            <a:r>
              <a:rPr lang="ko-KR" altLang="en-US" sz="1200" dirty="0"/>
              <a:t/>
            </a:r>
          </a:p>
        </p:txBody>
      </p:sp>
      <p:pic>
        <p:nvPicPr>
          <p:cNvPr id="35" name="그림 34">
            <a:extLst>
              <a:ext uri="{FF2B5EF4-FFF2-40B4-BE49-F238E27FC236}">
                <a16:creationId xmlns:a16="http://schemas.microsoft.com/office/drawing/2014/main" id="{EA253339-644A-935F-DE1E-F49A37412A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7012" y="2630368"/>
            <a:ext cx="3845481" cy="2720975"/>
          </a:xfrm>
          <a:prstGeom prst="rect">
            <a:avLst/>
          </a:prstGeom>
        </p:spPr>
      </p:pic>
    </p:spTree>
    <p:extLst>
      <p:ext uri="{BB962C8B-B14F-4D97-AF65-F5344CB8AC3E}">
        <p14:creationId xmlns:p14="http://schemas.microsoft.com/office/powerpoint/2010/main" val="16241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94B782-3C57-4169-A3C7-98DBC29F8BF6}"/>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1A904B4D-B59B-45B1-B72A-EE92619A09E6}"/>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6F2E55DA-CC66-4BC6-856C-49A233521790}"/>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39"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8C88590D-9AAF-4A93-BA28-D584A6F6890D}"/>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727242FF-76BA-49C6-AE01-50B50CB6FC55}"/>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97F8E134-3158-4C8F-8A7E-C368A62034DF}"/>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13</a:t>
            </a:r>
          </a:p>
        </p:txBody>
      </p:sp>
      <p:sp>
        <p:nvSpPr>
          <p:cNvPr id="10" name="TextBox 9">
            <a:extLst>
              <a:ext uri="{FF2B5EF4-FFF2-40B4-BE49-F238E27FC236}">
                <a16:creationId xmlns:a16="http://schemas.microsoft.com/office/drawing/2014/main" id="{9AF1A33F-10A2-4429-9616-637604BF61A5}"/>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06. 오프라인 커뮤니티 활성화 | $5,000</a:t>
            </a:r>
          </a:p>
        </p:txBody>
      </p:sp>
      <p:sp>
        <p:nvSpPr>
          <p:cNvPr id="11" name="Rectangle 10">
            <a:extLst>
              <a:ext uri="{FF2B5EF4-FFF2-40B4-BE49-F238E27FC236}">
                <a16:creationId xmlns:a16="http://schemas.microsoft.com/office/drawing/2014/main" id="{4E4988DC-C101-4EF5-8911-85D5ACF166BE}"/>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F3741D-EFB7-4F28-99C3-C0A75C204DDA}"/>
              </a:ext>
            </a:extLst>
          </p:cNvPr>
          <p:cNvSpPr>
            <a:spLocks noGrp="1"/>
          </p:cNvSpPr>
          <p:nvPr/>
        </p:nvSpPr>
        <p:spPr>
          <a:xfrm>
            <a:off x="1051560" y="1508760"/>
            <a:ext cx="10058400" cy="429768"/>
          </a:xfrm>
          <a:prstGeom prst="rect">
            <a:avLst/>
          </a:prstGeom>
          <a:noFill/>
        </p:spPr>
        <p:txBody>
          <a:bodyPr wrap="square" lIns="0" tIns="0" rIns="0" bIns="0" anchor="t">
            <a:noAutofit/>
          </a:bodyPr>
          <a:lstStyle/>
          <a:p>
            <a:pPr algn="l">
              <a:lnSpc>
                <a:spcPct val="110000"/>
              </a:lnSpc>
              <a:buNone/>
              <a:defRPr sz="1575">
                <a:solidFill>
                  <a:srgbClr val="334155"/>
                </a:solidFill>
                <a:latin typeface="Arial"/>
                <a:ea typeface="Arial"/>
                <a:cs typeface="Arial"/>
              </a:defRPr>
            </a:pPr>
            <a:r>
              <a:rPr sz="1575" b="0">
                <a:solidFill>
                  <a:srgbClr val="334155"/>
                </a:solidFill>
                <a:latin typeface="Arial"/>
                <a:ea typeface="Arial"/>
                <a:cs typeface="Arial"/>
              </a:rPr>
              <a:t>서울 이벤트 1회로 온라인 관심을 적격 사용자와의 실질 토론으로 전환합니다.</a:t>
            </a:r>
          </a:p>
        </p:txBody>
      </p:sp>
      <p:sp>
        <p:nvSpPr>
          <p:cNvPr id="13" name="Rounded Rectangle 12">
            <a:extLst>
              <a:ext uri="{FF2B5EF4-FFF2-40B4-BE49-F238E27FC236}">
                <a16:creationId xmlns:a16="http://schemas.microsoft.com/office/drawing/2014/main" id="{CBC86F0D-574C-4BCD-A4EB-7ACE61128D7F}"/>
              </a:ext>
            </a:extLst>
          </p:cNvPr>
          <p:cNvSpPr>
            <a:spLocks noGrp="1"/>
          </p:cNvSpPr>
          <p:nvPr/>
        </p:nvSpPr>
        <p:spPr>
          <a:xfrm>
            <a:off x="960120" y="2240280"/>
            <a:ext cx="1627632" cy="320040"/>
          </a:xfrm>
          <a:prstGeom prst="round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9ACE04F0-03B3-4875-8C18-758179B56ABA}"/>
              </a:ext>
            </a:extLst>
          </p:cNvPr>
          <p:cNvSpPr>
            <a:spLocks noGrp="1"/>
          </p:cNvSpPr>
          <p:nvPr/>
        </p:nvSpPr>
        <p:spPr>
          <a:xfrm>
            <a:off x="960120" y="2281428"/>
            <a:ext cx="1627632" cy="274320"/>
          </a:xfrm>
          <a:prstGeom prst="rect">
            <a:avLst/>
          </a:prstGeom>
          <a:noFill/>
        </p:spPr>
        <p:txBody>
          <a:bodyPr wrap="square">
            <a:spAutoFit/>
          </a:bodyPr>
          <a:lstStyle/>
          <a:p>
            <a:pPr algn="ctr">
              <a:buNone/>
            </a:pPr>
            <a:r>
              <a:rPr sz="1200" b="1">
                <a:solidFill>
                  <a:srgbClr val="FFFFFF"/>
                </a:solidFill>
                <a:latin typeface="Arial"/>
                <a:ea typeface="Arial"/>
                <a:cs typeface="Arial"/>
              </a:rPr>
              <a:t>실행 포맷</a:t>
            </a:r>
          </a:p>
        </p:txBody>
      </p:sp>
      <p:sp>
        <p:nvSpPr>
          <p:cNvPr id="15" name="Rounded Rectangle 14">
            <a:extLst>
              <a:ext uri="{FF2B5EF4-FFF2-40B4-BE49-F238E27FC236}">
                <a16:creationId xmlns:a16="http://schemas.microsoft.com/office/drawing/2014/main" id="{1FC5789D-082F-41F8-B29F-C612CBE471F8}"/>
              </a:ext>
            </a:extLst>
          </p:cNvPr>
          <p:cNvSpPr>
            <a:spLocks noGrp="1"/>
          </p:cNvSpPr>
          <p:nvPr/>
        </p:nvSpPr>
        <p:spPr>
          <a:xfrm>
            <a:off x="960120" y="2788920"/>
            <a:ext cx="3246120" cy="1133856"/>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Oval 15">
            <a:extLst>
              <a:ext uri="{FF2B5EF4-FFF2-40B4-BE49-F238E27FC236}">
                <a16:creationId xmlns:a16="http://schemas.microsoft.com/office/drawing/2014/main" id="{8BA80130-3258-4F4E-87E4-637956BE1EF9}"/>
              </a:ext>
            </a:extLst>
          </p:cNvPr>
          <p:cNvSpPr>
            <a:spLocks noGrp="1"/>
          </p:cNvSpPr>
          <p:nvPr/>
        </p:nvSpPr>
        <p:spPr>
          <a:xfrm>
            <a:off x="1124712" y="295351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0C745BE-E376-4BCB-AAA0-0D06792F0B48}"/>
              </a:ext>
            </a:extLst>
          </p:cNvPr>
          <p:cNvSpPr>
            <a:spLocks noGrp="1"/>
          </p:cNvSpPr>
          <p:nvPr/>
        </p:nvSpPr>
        <p:spPr>
          <a:xfrm>
            <a:off x="1124712" y="297370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EV</a:t>
            </a:r>
          </a:p>
        </p:txBody>
      </p:sp>
      <p:sp>
        <p:nvSpPr>
          <p:cNvPr id="18" name="TextBox 17">
            <a:extLst>
              <a:ext uri="{FF2B5EF4-FFF2-40B4-BE49-F238E27FC236}">
                <a16:creationId xmlns:a16="http://schemas.microsoft.com/office/drawing/2014/main" id="{7FBFF398-835F-4683-9522-B5BB30D8FFF0}"/>
              </a:ext>
            </a:extLst>
          </p:cNvPr>
          <p:cNvSpPr>
            <a:spLocks noGrp="1"/>
          </p:cNvSpPr>
          <p:nvPr/>
        </p:nvSpPr>
        <p:spPr>
          <a:xfrm>
            <a:off x="1618488" y="2935224"/>
            <a:ext cx="2441448" cy="47625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밋업 또는 프라이빗 디너</a:t>
            </a:r>
          </a:p>
        </p:txBody>
      </p:sp>
      <p:sp>
        <p:nvSpPr>
          <p:cNvPr id="19" name="TextBox 18">
            <a:extLst>
              <a:ext uri="{FF2B5EF4-FFF2-40B4-BE49-F238E27FC236}">
                <a16:creationId xmlns:a16="http://schemas.microsoft.com/office/drawing/2014/main" id="{A71869DC-2E7C-4D0B-8B3D-F30BBB3288C3}"/>
              </a:ext>
            </a:extLst>
          </p:cNvPr>
          <p:cNvSpPr>
            <a:spLocks noGrp="1"/>
          </p:cNvSpPr>
          <p:nvPr/>
        </p:nvSpPr>
        <p:spPr>
          <a:xfrm>
            <a:off x="1618488" y="3429000"/>
            <a:ext cx="2441448" cy="619125"/>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밋업: 최대 100명.
디너: 약 20명.</a:t>
            </a:r>
          </a:p>
          <a:p>
            <a:pPr algn="l">
              <a:defRPr sz="1350">
                <a:solidFill>
                  <a:srgbClr val="334155"/>
                </a:solidFill>
                <a:latin typeface="Arial"/>
                <a:ea typeface="Arial"/>
                <a:cs typeface="Arial"/>
              </a:defRPr>
            </a:pPr>
            <a:r>
              <a:rPr sz="1350" b="0">
                <a:solidFill>
                  <a:srgbClr val="334155"/>
                </a:solidFill>
                <a:latin typeface="Arial"/>
                <a:ea typeface="Arial"/>
                <a:cs typeface="Arial"/>
              </a:rPr>
              <a:t/>
            </a:r>
          </a:p>
        </p:txBody>
      </p:sp>
      <p:sp>
        <p:nvSpPr>
          <p:cNvPr id="20" name="Rounded Rectangle 19">
            <a:extLst>
              <a:ext uri="{FF2B5EF4-FFF2-40B4-BE49-F238E27FC236}">
                <a16:creationId xmlns:a16="http://schemas.microsoft.com/office/drawing/2014/main" id="{D9454D0C-4DE5-4C02-96FF-F29D92A42675}"/>
              </a:ext>
            </a:extLst>
          </p:cNvPr>
          <p:cNvSpPr>
            <a:spLocks noGrp="1"/>
          </p:cNvSpPr>
          <p:nvPr/>
        </p:nvSpPr>
        <p:spPr>
          <a:xfrm>
            <a:off x="4663440" y="2788920"/>
            <a:ext cx="3246120" cy="1133856"/>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Oval 20">
            <a:extLst>
              <a:ext uri="{FF2B5EF4-FFF2-40B4-BE49-F238E27FC236}">
                <a16:creationId xmlns:a16="http://schemas.microsoft.com/office/drawing/2014/main" id="{A643319C-40EA-4B57-9B3B-94A971C0132A}"/>
              </a:ext>
            </a:extLst>
          </p:cNvPr>
          <p:cNvSpPr>
            <a:spLocks noGrp="1"/>
          </p:cNvSpPr>
          <p:nvPr/>
        </p:nvSpPr>
        <p:spPr>
          <a:xfrm>
            <a:off x="4828031" y="295351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515D5F9-9C47-4E8F-B26A-DD5BFD2617F8}"/>
              </a:ext>
            </a:extLst>
          </p:cNvPr>
          <p:cNvSpPr>
            <a:spLocks noGrp="1"/>
          </p:cNvSpPr>
          <p:nvPr/>
        </p:nvSpPr>
        <p:spPr>
          <a:xfrm>
            <a:off x="4828031" y="297370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RSVP</a:t>
            </a:r>
          </a:p>
        </p:txBody>
      </p:sp>
      <p:sp>
        <p:nvSpPr>
          <p:cNvPr id="23" name="TextBox 22">
            <a:extLst>
              <a:ext uri="{FF2B5EF4-FFF2-40B4-BE49-F238E27FC236}">
                <a16:creationId xmlns:a16="http://schemas.microsoft.com/office/drawing/2014/main" id="{712B27C4-FCC0-4D3F-A3B4-ACDE241862E3}"/>
              </a:ext>
            </a:extLst>
          </p:cNvPr>
          <p:cNvSpPr>
            <a:spLocks noGrp="1"/>
          </p:cNvSpPr>
          <p:nvPr/>
        </p:nvSpPr>
        <p:spPr>
          <a:xfrm>
            <a:off x="5321807" y="2935224"/>
            <a:ext cx="2441448" cy="47625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RSVP와 적격 후속</a:t>
            </a:r>
          </a:p>
        </p:txBody>
      </p:sp>
      <p:sp>
        <p:nvSpPr>
          <p:cNvPr id="24" name="TextBox 23">
            <a:extLst>
              <a:ext uri="{FF2B5EF4-FFF2-40B4-BE49-F238E27FC236}">
                <a16:creationId xmlns:a16="http://schemas.microsoft.com/office/drawing/2014/main" id="{408973D0-D5D6-4989-81B4-B41A314BD4BF}"/>
              </a:ext>
            </a:extLst>
          </p:cNvPr>
          <p:cNvSpPr>
            <a:spLocks noGrp="1"/>
          </p:cNvSpPr>
          <p:nvPr/>
        </p:nvSpPr>
        <p:spPr>
          <a:xfrm>
            <a:off x="5321807" y="3429000"/>
            <a:ext cx="2441448" cy="619125"/>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Luma로 RSVP·체크인; 후속 동의 수집.</a:t>
            </a:r>
          </a:p>
        </p:txBody>
      </p:sp>
      <p:sp>
        <p:nvSpPr>
          <p:cNvPr id="25" name="Rounded Rectangle 24">
            <a:extLst>
              <a:ext uri="{FF2B5EF4-FFF2-40B4-BE49-F238E27FC236}">
                <a16:creationId xmlns:a16="http://schemas.microsoft.com/office/drawing/2014/main" id="{89BB9FA2-1163-49FA-9566-93B20B8ED9A5}"/>
              </a:ext>
            </a:extLst>
          </p:cNvPr>
          <p:cNvSpPr>
            <a:spLocks noGrp="1"/>
          </p:cNvSpPr>
          <p:nvPr/>
        </p:nvSpPr>
        <p:spPr>
          <a:xfrm>
            <a:off x="8366760" y="2788920"/>
            <a:ext cx="3246120" cy="1133856"/>
          </a:xfrm>
          <a:prstGeom prst="roundRect">
            <a:avLst/>
          </a:prstGeom>
          <a:solidFill>
            <a:srgbClr val="FFFFFF"/>
          </a:solidFill>
          <a:ln w="12700">
            <a:solidFill>
              <a:srgbClr val="DFE6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Oval 25">
            <a:extLst>
              <a:ext uri="{FF2B5EF4-FFF2-40B4-BE49-F238E27FC236}">
                <a16:creationId xmlns:a16="http://schemas.microsoft.com/office/drawing/2014/main" id="{EE9041E0-A438-425E-9654-FBCFFFAA3DE3}"/>
              </a:ext>
            </a:extLst>
          </p:cNvPr>
          <p:cNvSpPr>
            <a:spLocks noGrp="1"/>
          </p:cNvSpPr>
          <p:nvPr/>
        </p:nvSpPr>
        <p:spPr>
          <a:xfrm>
            <a:off x="8531352" y="2953512"/>
            <a:ext cx="384048" cy="384048"/>
          </a:xfrm>
          <a:prstGeom prst="ellipse">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EA3AD729-A1FF-491C-813F-6F6562616894}"/>
              </a:ext>
            </a:extLst>
          </p:cNvPr>
          <p:cNvSpPr>
            <a:spLocks noGrp="1"/>
          </p:cNvSpPr>
          <p:nvPr/>
        </p:nvSpPr>
        <p:spPr>
          <a:xfrm>
            <a:off x="8531352" y="2973705"/>
            <a:ext cx="384048" cy="276225"/>
          </a:xfrm>
          <a:prstGeom prst="rect">
            <a:avLst/>
          </a:prstGeom>
          <a:noFill/>
        </p:spPr>
        <p:txBody>
          <a:bodyPr wrap="square" lIns="0" tIns="0" rIns="0" bIns="0" anchor="ctr">
            <a:noAutofit/>
          </a:bodyPr>
          <a:lstStyle/>
          <a:p>
            <a:pPr algn="ctr">
              <a:buNone/>
              <a:defRPr sz="900" b="1">
                <a:solidFill>
                  <a:srgbClr val="FFFFFF"/>
                </a:solidFill>
                <a:latin typeface="Arial"/>
                <a:ea typeface="Arial"/>
                <a:cs typeface="Arial"/>
              </a:defRPr>
            </a:pPr>
            <a:r>
              <a:rPr sz="900" b="1">
                <a:solidFill>
                  <a:srgbClr val="FFFFFF"/>
                </a:solidFill>
                <a:latin typeface="Arial"/>
                <a:ea typeface="Arial"/>
                <a:cs typeface="Arial"/>
              </a:rPr>
              <a:t>PR</a:t>
            </a:r>
          </a:p>
        </p:txBody>
      </p:sp>
      <p:sp>
        <p:nvSpPr>
          <p:cNvPr id="28" name="TextBox 27">
            <a:extLst>
              <a:ext uri="{FF2B5EF4-FFF2-40B4-BE49-F238E27FC236}">
                <a16:creationId xmlns:a16="http://schemas.microsoft.com/office/drawing/2014/main" id="{710D9A77-7BFA-49F7-8EC4-CAA40B98DA7D}"/>
              </a:ext>
            </a:extLst>
          </p:cNvPr>
          <p:cNvSpPr>
            <a:spLocks noGrp="1"/>
          </p:cNvSpPr>
          <p:nvPr/>
        </p:nvSpPr>
        <p:spPr>
          <a:xfrm>
            <a:off x="9025128" y="2935224"/>
            <a:ext cx="2441448" cy="476250"/>
          </a:xfrm>
          <a:prstGeom prst="rect">
            <a:avLst/>
          </a:prstGeom>
          <a:noFill/>
        </p:spPr>
        <p:txBody>
          <a:bodyPr wrap="square" lIns="0" tIns="0" rIns="0" bIns="0" anchor="t">
            <a:noAutofit/>
          </a:bodyPr>
          <a:lstStyle/>
          <a:p>
            <a:pPr algn="l">
              <a:defRPr sz="1500" b="1">
                <a:solidFill>
                  <a:srgbClr val="071323"/>
                </a:solidFill>
                <a:latin typeface="Arial"/>
                <a:ea typeface="Arial"/>
                <a:cs typeface="Arial"/>
              </a:defRPr>
            </a:pPr>
            <a:r>
              <a:rPr sz="1500" b="1">
                <a:solidFill>
                  <a:srgbClr val="071323"/>
                </a:solidFill>
                <a:latin typeface="Arial"/>
                <a:ea typeface="Arial"/>
                <a:cs typeface="Arial"/>
              </a:rPr>
              <a:t>기본 범위에 포함</a:t>
            </a:r>
          </a:p>
        </p:txBody>
      </p:sp>
      <p:sp>
        <p:nvSpPr>
          <p:cNvPr id="29" name="TextBox 28">
            <a:extLst>
              <a:ext uri="{FF2B5EF4-FFF2-40B4-BE49-F238E27FC236}">
                <a16:creationId xmlns:a16="http://schemas.microsoft.com/office/drawing/2014/main" id="{D5BD20E5-FC37-4B40-934C-5B453B318BC9}"/>
              </a:ext>
            </a:extLst>
          </p:cNvPr>
          <p:cNvSpPr>
            <a:spLocks noGrp="1"/>
          </p:cNvSpPr>
          <p:nvPr/>
        </p:nvSpPr>
        <p:spPr>
          <a:xfrm>
            <a:off x="9025128" y="3429000"/>
            <a:ext cx="2441448" cy="619125"/>
          </a:xfrm>
          <a:prstGeom prst="rect">
            <a:avLst/>
          </a:prstGeom>
          <a:noFill/>
        </p:spPr>
        <p:txBody>
          <a:bodyPr wrap="square" lIns="0" tIns="0" rIns="0" bIns="0" anchor="t">
            <a:noAutofit/>
          </a:bodyPr>
          <a:lstStyle/>
          <a:p>
            <a:pPr algn="l">
              <a:defRPr sz="1350">
                <a:solidFill>
                  <a:srgbClr val="334155"/>
                </a:solidFill>
                <a:latin typeface="Arial"/>
                <a:ea typeface="Arial"/>
                <a:cs typeface="Arial"/>
              </a:defRPr>
            </a:pPr>
            <a:r>
              <a:rPr sz="1350" b="0">
                <a:solidFill>
                  <a:srgbClr val="334155"/>
                </a:solidFill>
                <a:latin typeface="Arial"/>
                <a:ea typeface="Arial"/>
                <a:cs typeface="Arial"/>
              </a:rPr>
              <a:t>장소, 식음, 운영, 촬영.</a:t>
            </a:r>
          </a:p>
        </p:txBody>
      </p:sp>
      <p:sp>
        <p:nvSpPr>
          <p:cNvPr id="30" name="Rounded Rectangle 29">
            <a:extLst>
              <a:ext uri="{FF2B5EF4-FFF2-40B4-BE49-F238E27FC236}">
                <a16:creationId xmlns:a16="http://schemas.microsoft.com/office/drawing/2014/main" id="{8F6F3E44-A0B3-476D-BF71-3608DBEE5BD8}"/>
              </a:ext>
            </a:extLst>
          </p:cNvPr>
          <p:cNvSpPr>
            <a:spLocks noGrp="1"/>
          </p:cNvSpPr>
          <p:nvPr/>
        </p:nvSpPr>
        <p:spPr>
          <a:xfrm>
            <a:off x="960120" y="4434840"/>
            <a:ext cx="1508760" cy="320040"/>
          </a:xfrm>
          <a:prstGeom prst="roundRect">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9B39197C-2304-431B-B432-D1CB45785505}"/>
              </a:ext>
            </a:extLst>
          </p:cNvPr>
          <p:cNvSpPr>
            <a:spLocks noGrp="1"/>
          </p:cNvSpPr>
          <p:nvPr/>
        </p:nvSpPr>
        <p:spPr>
          <a:xfrm>
            <a:off x="960120" y="4475988"/>
            <a:ext cx="1508760" cy="274320"/>
          </a:xfrm>
          <a:prstGeom prst="rect">
            <a:avLst/>
          </a:prstGeom>
          <a:noFill/>
        </p:spPr>
        <p:txBody>
          <a:bodyPr wrap="square">
            <a:spAutoFit/>
          </a:bodyPr>
          <a:lstStyle/>
          <a:p>
            <a:pPr algn="ctr">
              <a:buNone/>
            </a:pPr>
            <a:r>
              <a:rPr sz="1200" b="1">
                <a:solidFill>
                  <a:srgbClr val="0B39FF"/>
                </a:solidFill>
                <a:latin typeface="Arial"/>
                <a:ea typeface="Arial"/>
                <a:cs typeface="Arial"/>
              </a:rPr>
              <a:t>타깃 오디언스</a:t>
            </a:r>
          </a:p>
        </p:txBody>
      </p:sp>
      <p:sp>
        <p:nvSpPr>
          <p:cNvPr id="32" name="TextBox 31">
            <a:extLst>
              <a:ext uri="{FF2B5EF4-FFF2-40B4-BE49-F238E27FC236}">
                <a16:creationId xmlns:a16="http://schemas.microsoft.com/office/drawing/2014/main" id="{4894B4CA-B682-46FE-99BB-B1C950E1B329}"/>
              </a:ext>
            </a:extLst>
          </p:cNvPr>
          <p:cNvSpPr>
            <a:spLocks noGrp="1"/>
          </p:cNvSpPr>
          <p:nvPr/>
        </p:nvSpPr>
        <p:spPr>
          <a:xfrm>
            <a:off x="1005840" y="4919472"/>
            <a:ext cx="10241280" cy="571500"/>
          </a:xfrm>
          <a:prstGeom prst="rect">
            <a:avLst/>
          </a:prstGeom>
          <a:noFill/>
        </p:spPr>
        <p:txBody>
          <a:bodyPr wrap="square" lIns="0" tIns="0" rIns="0" bIns="0" anchor="t">
            <a:noAutofit/>
          </a:bodyPr>
          <a:lstStyle/>
          <a:p>
            <a:pPr algn="l">
              <a:buNone/>
              <a:defRPr sz="1575">
                <a:solidFill>
                  <a:srgbClr val="334155"/>
                </a:solidFill>
                <a:latin typeface="Arial"/>
                <a:ea typeface="Arial"/>
                <a:cs typeface="Arial"/>
              </a:defRPr>
            </a:pPr>
            <a:r>
              <a:rPr sz="1575" b="1">
                <a:solidFill>
                  <a:srgbClr val="334155"/>
                </a:solidFill>
                <a:latin typeface="Arial"/>
                <a:ea typeface="Arial"/>
                <a:cs typeface="Arial"/>
              </a:rPr>
              <a:t>우선: 경험 있는 DeFi 공급자, 스테이블코인 사용자, 관련 크리에이터, LP, 빌더. USD3/sUSD3, 신용 리스크, 현행 출금 조건 논의.</a:t>
            </a:r>
          </a:p>
        </p:txBody>
      </p:sp>
      <p:sp>
        <p:nvSpPr>
          <p:cNvPr id="33" name="TextBox 32">
            <a:extLst>
              <a:ext uri="{FF2B5EF4-FFF2-40B4-BE49-F238E27FC236}">
                <a16:creationId xmlns:a16="http://schemas.microsoft.com/office/drawing/2014/main" id="{B4E0F49C-25BB-4201-9D44-39918623397C}"/>
              </a:ext>
            </a:extLst>
          </p:cNvPr>
          <p:cNvSpPr>
            <a:spLocks noGrp="1"/>
          </p:cNvSpPr>
          <p:nvPr/>
        </p:nvSpPr>
        <p:spPr>
          <a:xfrm>
            <a:off x="1005840" y="5632704"/>
            <a:ext cx="10241280" cy="308610"/>
          </a:xfrm>
          <a:prstGeom prst="rect">
            <a:avLst/>
          </a:prstGeom>
          <a:noFill/>
        </p:spPr>
        <p:txBody>
          <a:bodyPr wrap="square" lIns="0" tIns="0" rIns="0" bIns="0" anchor="t">
            <a:noAutofit/>
          </a:bodyPr>
          <a:lstStyle/>
          <a:p>
            <a:pPr algn="l">
              <a:buNone/>
              <a:defRPr sz="1425" b="1">
                <a:solidFill>
                  <a:srgbClr val="0B39FF"/>
                </a:solidFill>
                <a:latin typeface="Arial"/>
                <a:ea typeface="Arial"/>
                <a:cs typeface="Arial"/>
              </a:defRPr>
            </a:pPr>
            <a:r>
              <a:rPr sz="1425" b="1">
                <a:solidFill>
                  <a:srgbClr val="0B39FF"/>
                </a:solidFill>
                <a:latin typeface="Arial"/>
                <a:ea typeface="Arial"/>
                <a:cs typeface="Arial"/>
              </a:rPr>
              <a:t>맞춤 굿즈나 확장 영상 제작은 별도 승인 배분이 필요합니다.</a:t>
            </a:r>
          </a:p>
        </p:txBody>
      </p:sp>
    </p:spTree>
    <p:extLst>
      <p:ext uri="{BB962C8B-B14F-4D97-AF65-F5344CB8AC3E}">
        <p14:creationId xmlns:p14="http://schemas.microsoft.com/office/powerpoint/2010/main" val="1129288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89F546-BACF-4414-B052-6CE18A52B5F0}"/>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6EBF76DE-DE07-44A6-81C0-082E21521C52}"/>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ADADD08E-270E-4D4E-A42E-DEBCF1206CBC}"/>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62"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4C108909-0F83-45DB-A841-256A8251775B}"/>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C530D2AD-0A37-47E1-ABDF-B90B9C0B8552}"/>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4EE4435F-AA27-4E7B-AF4A-D5D0E139963C}"/>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14</a:t>
            </a:r>
          </a:p>
        </p:txBody>
      </p:sp>
      <p:sp>
        <p:nvSpPr>
          <p:cNvPr id="10" name="TextBox 9">
            <a:extLst>
              <a:ext uri="{FF2B5EF4-FFF2-40B4-BE49-F238E27FC236}">
                <a16:creationId xmlns:a16="http://schemas.microsoft.com/office/drawing/2014/main" id="{74C4092D-BB39-402F-BBCD-9917A78368C2}"/>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07. 측정 | 제안 KPI 스코어카드</a:t>
            </a:r>
          </a:p>
        </p:txBody>
      </p:sp>
      <p:sp>
        <p:nvSpPr>
          <p:cNvPr id="11" name="Rectangle 10">
            <a:extLst>
              <a:ext uri="{FF2B5EF4-FFF2-40B4-BE49-F238E27FC236}">
                <a16:creationId xmlns:a16="http://schemas.microsoft.com/office/drawing/2014/main" id="{0AF6E792-D664-40D9-ACF2-FE4AAF29B622}"/>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subtitle">
            <a:extLst>
              <a:ext uri="{FF2B5EF4-FFF2-40B4-BE49-F238E27FC236}">
                <a16:creationId xmlns:a16="http://schemas.microsoft.com/office/drawing/2014/main" id="{A11DB285-5ABF-4FF3-80D0-143F4CB952E4}"/>
              </a:ext>
            </a:extLst>
          </p:cNvPr>
          <p:cNvSpPr>
            <a:spLocks noGrp="1"/>
          </p:cNvSpPr>
          <p:nvPr/>
        </p:nvSpPr>
        <p:spPr>
          <a:xfrm>
            <a:off x="962025" y="1504950"/>
            <a:ext cx="10191750" cy="457200"/>
          </a:xfrm>
          <a:prstGeom prst="rect">
            <a:avLst/>
          </a:prstGeom>
          <a:noFill/>
          <a:ln w="0">
            <a:noFill/>
          </a:ln>
        </p:spPr>
        <p:txBody>
          <a:bodyPr wrap="square" lIns="0" tIns="0" rIns="0" bIns="0" anchor="t">
            <a:noAutofit/>
          </a:bodyPr>
          <a:lstStyle/>
          <a:p>
            <a:pPr algn="l">
              <a:defRPr sz="1575">
                <a:solidFill>
                  <a:srgbClr val="334155"/>
                </a:solidFill>
                <a:latin typeface="Arial"/>
                <a:ea typeface="Arial"/>
                <a:cs typeface="Arial"/>
              </a:defRPr>
            </a:pPr>
            <a:r>
              <a:rPr sz="1575">
                <a:solidFill>
                  <a:srgbClr val="334155"/>
                </a:solidFill>
                <a:latin typeface="Arial"/>
                <a:ea typeface="Arial"/>
                <a:cs typeface="Arial"/>
              </a:rPr>
              <a:t>기획 목표이며 보장이 아닙니다. 첫 2주 베이스라인 데이터 후 확정 또는 재설정.</a:t>
            </a:r>
          </a:p>
        </p:txBody>
      </p:sp>
      <p:graphicFrame>
        <p:nvGraphicFramePr>
          <p:cNvPr id="69" name="표 68"/>
          <p:cNvGraphicFramePr/>
          <p:nvPr/>
        </p:nvGraphicFramePr>
        <p:xfrm>
          <a:off x="952500" y="2047875"/>
          <a:ext cx="10287000" cy="3314700"/>
        </p:xfrm>
        <a:graphic>
          <a:graphicData uri="http://schemas.openxmlformats.org/drawingml/2006/table">
            <a:tbl>
              <a:tblPr/>
              <a:tblGrid>
                <a:gridCol w="2333625">
                  <a:extLst>
                    <a:ext uri="{9D8B030D-6E8A-4147-A177-3AD203B41FA5}">
                      <a16:colId xmlns:a16="http://schemas.microsoft.com/office/drawing/2014/main" val="20000"/>
                    </a:ext>
                  </a:extLst>
                </a:gridCol>
                <a:gridCol w="7953375">
                  <a:extLst>
                    <a:ext uri="{9D8B030D-6E8A-4147-A177-3AD203B41FA5}">
                      <a16:colId xmlns:a16="http://schemas.microsoft.com/office/drawing/2014/main" val="20001"/>
                    </a:ext>
                  </a:extLst>
                </a:gridCol>
              </a:tblGrid>
              <a:tr h="381000">
                <a:tc>
                  <a:txBody>
                    <a:bodyPr/>
                    <a:lstStyle/>
                    <a:p>
                      <a:r>
                        <a:rPr sz="1350" b="1">
                          <a:solidFill>
                            <a:srgbClr val="FFFFFF"/>
                          </a:solidFill>
                          <a:latin typeface="Arial"/>
                          <a:ea typeface="Arial"/>
                          <a:cs typeface="Arial"/>
                        </a:rPr>
                        <a:t>영역</a:t>
                      </a:r>
                    </a:p>
                  </a:txBody>
                  <a:tcPr anchor="ctr">
                    <a:solidFill>
                      <a:srgbClr val="0B39FF"/>
                    </a:solidFill>
                  </a:tcPr>
                </a:tc>
                <a:tc>
                  <a:txBody>
                    <a:bodyPr/>
                    <a:lstStyle/>
                    <a:p>
                      <a:r>
                        <a:rPr sz="1350" b="1">
                          <a:solidFill>
                            <a:srgbClr val="FFFFFF"/>
                          </a:solidFill>
                          <a:latin typeface="Arial"/>
                          <a:ea typeface="Arial"/>
                          <a:cs typeface="Arial"/>
                        </a:rPr>
                        <a:t>3개월 기획 목표</a:t>
                      </a:r>
                    </a:p>
                  </a:txBody>
                  <a:tcPr anchor="ctr">
                    <a:solidFill>
                      <a:srgbClr val="0B39FF"/>
                    </a:solidFill>
                  </a:tcPr>
                </a:tc>
                <a:extLst>
                  <a:ext uri="{0D108BD9-81ED-4DB2-BD59-A6C34878D82A}">
                    <a16:rowId xmlns:a16="http://schemas.microsoft.com/office/drawing/2014/main" val="10000"/>
                  </a:ext>
                </a:extLst>
              </a:tr>
              <a:tr h="457200">
                <a:tc>
                  <a:txBody>
                    <a:bodyPr/>
                    <a:lstStyle/>
                    <a:p>
                      <a:r>
                        <a:rPr sz="1350" b="0">
                          <a:solidFill>
                            <a:srgbClr val="334155"/>
                          </a:solidFill>
                          <a:latin typeface="Arial"/>
                          <a:ea typeface="Arial"/>
                          <a:cs typeface="Arial"/>
                        </a:rPr>
                        <a:t>커뮤니티</a:t>
                      </a:r>
                    </a:p>
                  </a:txBody>
                  <a:tcPr anchor="ctr">
                    <a:solidFill>
                      <a:srgbClr val="FFFFFF"/>
                    </a:solidFill>
                  </a:tcPr>
                </a:tc>
                <a:tc>
                  <a:txBody>
                    <a:bodyPr/>
                    <a:lstStyle/>
                    <a:p>
                      <a:r>
                        <a:rPr sz="1350" b="0">
                          <a:solidFill>
                            <a:srgbClr val="334155"/>
                          </a:solidFill>
                          <a:latin typeface="Arial"/>
                          <a:ea typeface="Arial"/>
                          <a:cs typeface="Arial"/>
                        </a:rPr>
                        <a:t>적격 순증 멤버 500–1,000명; 7일 활성률 15–25%</a:t>
                      </a:r>
                    </a:p>
                  </a:txBody>
                  <a:tcPr anchor="ctr">
                    <a:solidFill>
                      <a:srgbClr val="FFFFFF"/>
                    </a:solidFill>
                  </a:tcPr>
                </a:tc>
                <a:extLst>
                  <a:ext uri="{0D108BD9-81ED-4DB2-BD59-A6C34878D82A}">
                    <a16:rowId xmlns:a16="http://schemas.microsoft.com/office/drawing/2014/main" val="10001"/>
                  </a:ext>
                </a:extLst>
              </a:tr>
              <a:tr h="409575">
                <a:tc>
                  <a:txBody>
                    <a:bodyPr/>
                    <a:lstStyle/>
                    <a:p>
                      <a:r>
                        <a:rPr sz="1350" b="0">
                          <a:solidFill>
                            <a:srgbClr val="334155"/>
                          </a:solidFill>
                          <a:latin typeface="Arial"/>
                          <a:ea typeface="Arial"/>
                          <a:cs typeface="Arial"/>
                        </a:rPr>
                        <a:t>KOL 배포</a:t>
                      </a:r>
                    </a:p>
                  </a:txBody>
                  <a:tcPr anchor="ctr">
                    <a:solidFill>
                      <a:srgbClr val="F0F5FF"/>
                    </a:solidFill>
                  </a:tcPr>
                </a:tc>
                <a:tc>
                  <a:txBody>
                    <a:bodyPr/>
                    <a:lstStyle/>
                    <a:p>
                      <a:r>
                        <a:rPr sz="1350" b="0">
                          <a:solidFill>
                            <a:srgbClr val="334155"/>
                          </a:solidFill>
                          <a:latin typeface="Arial"/>
                          <a:ea typeface="Arial"/>
                          <a:cs typeface="Arial"/>
                        </a:rPr>
                        <a:t>게재 18–24건; 총 보고 조회수 100K–250K</a:t>
                      </a:r>
                    </a:p>
                  </a:txBody>
                  <a:tcPr anchor="ctr">
                    <a:solidFill>
                      <a:srgbClr val="F0F5FF"/>
                    </a:solidFill>
                  </a:tcPr>
                </a:tc>
                <a:extLst>
                  <a:ext uri="{0D108BD9-81ED-4DB2-BD59-A6C34878D82A}">
                    <a16:rowId xmlns:a16="http://schemas.microsoft.com/office/drawing/2014/main" val="10002"/>
                  </a:ext>
                </a:extLst>
              </a:tr>
              <a:tr h="619125">
                <a:tc>
                  <a:txBody>
                    <a:bodyPr/>
                    <a:lstStyle/>
                    <a:p>
                      <a:r>
                        <a:rPr sz="1350" b="0">
                          <a:solidFill>
                            <a:srgbClr val="334155"/>
                          </a:solidFill>
                          <a:latin typeface="Arial"/>
                          <a:ea typeface="Arial"/>
                          <a:cs typeface="Arial"/>
                        </a:rPr>
                        <a:t>AMA 및 UGC</a:t>
                      </a:r>
                    </a:p>
                  </a:txBody>
                  <a:tcPr anchor="ctr">
                    <a:solidFill>
                      <a:srgbClr val="FFFFFF"/>
                    </a:solidFill>
                  </a:tcPr>
                </a:tc>
                <a:tc>
                  <a:txBody>
                    <a:bodyPr/>
                    <a:lstStyle/>
                    <a:p>
                      <a:r>
                        <a:rPr sz="1350" b="0">
                          <a:solidFill>
                            <a:srgbClr val="334155"/>
                          </a:solidFill>
                          <a:latin typeface="Arial"/>
                          <a:ea typeface="Arial"/>
                          <a:cs typeface="Arial"/>
                        </a:rPr>
                        <a:t>AMA 2회; 검증 가능 시 합산 라이브 100–200명
적격 UGC 제출 20–40건(크리에이터 최소 15명)</a:t>
                      </a:r>
                    </a:p>
                    <a:p>
                      <a:r>
                        <a:rPr sz="1350" b="0">
                          <a:solidFill>
                            <a:srgbClr val="334155"/>
                          </a:solidFill>
                          <a:latin typeface="Arial"/>
                          <a:ea typeface="Arial"/>
                          <a:cs typeface="Arial"/>
                        </a:rPr>
                        <a:t/>
                      </a:r>
                    </a:p>
                  </a:txBody>
                  <a:tcPr anchor="ctr">
                    <a:solidFill>
                      <a:srgbClr val="FFFFFF"/>
                    </a:solidFill>
                  </a:tcPr>
                </a:tc>
                <a:extLst>
                  <a:ext uri="{0D108BD9-81ED-4DB2-BD59-A6C34878D82A}">
                    <a16:rowId xmlns:a16="http://schemas.microsoft.com/office/drawing/2014/main" val="10003"/>
                  </a:ext>
                </a:extLst>
              </a:tr>
              <a:tr h="409575">
                <a:tc>
                  <a:txBody>
                    <a:bodyPr/>
                    <a:lstStyle/>
                    <a:p>
                      <a:r>
                        <a:rPr sz="1350" b="0">
                          <a:solidFill>
                            <a:srgbClr val="334155"/>
                          </a:solidFill>
                          <a:latin typeface="Arial"/>
                          <a:ea typeface="Arial"/>
                          <a:cs typeface="Arial"/>
                        </a:rPr>
                        <a:t>PR</a:t>
                      </a:r>
                    </a:p>
                  </a:txBody>
                  <a:tcPr anchor="ctr">
                    <a:solidFill>
                      <a:srgbClr val="F0F5FF"/>
                    </a:solidFill>
                  </a:tcPr>
                </a:tc>
                <a:tc>
                  <a:txBody>
                    <a:bodyPr/>
                    <a:lstStyle/>
                    <a:p>
                      <a:r>
                        <a:rPr sz="1350" b="0">
                          <a:solidFill>
                            <a:srgbClr val="334155"/>
                          </a:solidFill>
                          <a:latin typeface="Arial"/>
                          <a:ea typeface="Arial"/>
                          <a:cs typeface="Arial"/>
                        </a:rPr>
                        <a:t>패키지 3건; 게재 링크와 관측된 색인 보고</a:t>
                      </a:r>
                    </a:p>
                  </a:txBody>
                  <a:tcPr anchor="ctr">
                    <a:solidFill>
                      <a:srgbClr val="F0F5FF"/>
                    </a:solidFill>
                  </a:tcPr>
                </a:tc>
                <a:extLst>
                  <a:ext uri="{0D108BD9-81ED-4DB2-BD59-A6C34878D82A}">
                    <a16:rowId xmlns:a16="http://schemas.microsoft.com/office/drawing/2014/main" val="10004"/>
                  </a:ext>
                </a:extLst>
              </a:tr>
              <a:tr h="485775">
                <a:tc>
                  <a:txBody>
                    <a:bodyPr/>
                    <a:lstStyle/>
                    <a:p>
                      <a:r>
                        <a:rPr sz="1350" b="0">
                          <a:solidFill>
                            <a:srgbClr val="334155"/>
                          </a:solidFill>
                          <a:latin typeface="Arial"/>
                          <a:ea typeface="Arial"/>
                          <a:cs typeface="Arial"/>
                        </a:rPr>
                        <a:t>오프라인</a:t>
                      </a:r>
                    </a:p>
                  </a:txBody>
                  <a:tcPr anchor="ctr">
                    <a:solidFill>
                      <a:srgbClr val="FFFFFF"/>
                    </a:solidFill>
                  </a:tcPr>
                </a:tc>
                <a:tc>
                  <a:txBody>
                    <a:bodyPr/>
                    <a:lstStyle/>
                    <a:p>
                      <a:r>
                        <a:rPr sz="1350" b="0">
                          <a:solidFill>
                            <a:srgbClr val="334155"/>
                          </a:solidFill>
                          <a:latin typeface="Arial"/>
                          <a:ea typeface="Arial"/>
                          <a:cs typeface="Arial"/>
                        </a:rPr>
                        <a:t>밋업 체크인 40–70명 또는 디너 15–20명; 적격 리드 8–12명</a:t>
                      </a:r>
                    </a:p>
                  </a:txBody>
                  <a:tcPr anchor="ctr">
                    <a:solidFill>
                      <a:srgbClr val="FFFFFF"/>
                    </a:solidFill>
                  </a:tcPr>
                </a:tc>
                <a:extLst>
                  <a:ext uri="{0D108BD9-81ED-4DB2-BD59-A6C34878D82A}">
                    <a16:rowId xmlns:a16="http://schemas.microsoft.com/office/drawing/2014/main" val="10005"/>
                  </a:ext>
                </a:extLst>
              </a:tr>
              <a:tr h="552450">
                <a:tc>
                  <a:txBody>
                    <a:bodyPr/>
                    <a:lstStyle/>
                    <a:p>
                      <a:r>
                        <a:rPr sz="1350" b="0">
                          <a:solidFill>
                            <a:srgbClr val="334155"/>
                          </a:solidFill>
                          <a:latin typeface="Arial"/>
                          <a:ea typeface="Arial"/>
                          <a:cs typeface="Arial"/>
                        </a:rPr>
                        <a:t>트래픽 / 제품</a:t>
                      </a:r>
                    </a:p>
                  </a:txBody>
                  <a:tcPr anchor="ctr">
                    <a:solidFill>
                      <a:srgbClr val="F0F5FF"/>
                    </a:solidFill>
                  </a:tcPr>
                </a:tc>
                <a:tc>
                  <a:txBody>
                    <a:bodyPr/>
                    <a:lstStyle/>
                    <a:p>
                      <a:r>
                        <a:rPr sz="1350" b="0">
                          <a:solidFill>
                            <a:srgbClr val="334155"/>
                          </a:solidFill>
                          <a:latin typeface="Arial"/>
                          <a:ea typeface="Arial"/>
                          <a:cs typeface="Arial"/>
                        </a:rPr>
                        <a:t>태그 세션 1,000–2,000; 제품 행동 목표는 접근·베이스라인 확인 후 설정</a:t>
                      </a:r>
                    </a:p>
                  </a:txBody>
                  <a:tcPr anchor="ctr">
                    <a:solidFill>
                      <a:srgbClr val="F0F5FF"/>
                    </a:solidFill>
                  </a:tcPr>
                </a:tc>
                <a:extLst>
                  <a:ext uri="{0D108BD9-81ED-4DB2-BD59-A6C34878D82A}">
                    <a16:rowId xmlns:a16="http://schemas.microsoft.com/office/drawing/2014/main" val="10006"/>
                  </a:ext>
                </a:extLst>
              </a:tr>
            </a:tbl>
          </a:graphicData>
        </a:graphic>
      </p:graphicFrame>
      <p:sp>
        <p:nvSpPr>
          <p:cNvPr id="56" name="definitions">
            <a:extLst>
              <a:ext uri="{FF2B5EF4-FFF2-40B4-BE49-F238E27FC236}">
                <a16:creationId xmlns:a16="http://schemas.microsoft.com/office/drawing/2014/main" id="{F713E425-E1D5-40EE-B804-0951790BB82A}"/>
              </a:ext>
            </a:extLst>
          </p:cNvPr>
          <p:cNvSpPr>
            <a:spLocks noGrp="1"/>
          </p:cNvSpPr>
          <p:nvPr/>
        </p:nvSpPr>
        <p:spPr>
          <a:xfrm>
            <a:off x="962025" y="5610225"/>
            <a:ext cx="10191750" cy="523875"/>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조회수는 비중복 제거 기준. 활성률 = 7일 비관리자 기여 고유 사용자 / 적격 멤버.
식별된 봇·중복 제외. 태그 링크, Telegram 초대 코호트, 애널리틱스, 체크인 기록 사용.</a:t>
            </a:r>
          </a:p>
          <a:p>
            <a:pPr algn="l">
              <a:defRPr sz="1200">
                <a:solidFill>
                  <a:srgbClr val="334155"/>
                </a:solidFill>
                <a:latin typeface="Arial"/>
                <a:ea typeface="Arial"/>
                <a:cs typeface="Arial"/>
              </a:defRPr>
            </a:pPr>
            <a:r>
              <a:rPr sz="1200">
                <a:solidFill>
                  <a:srgbClr val="334155"/>
                </a:solidFill>
                <a:latin typeface="Arial"/>
                <a:ea typeface="Arial"/>
                <a:cs typeface="Arial"/>
              </a:rPr>
              <a:t/>
            </a:r>
          </a:p>
        </p:txBody>
      </p:sp>
      <p:sp>
        <p:nvSpPr>
          <p:cNvPr id="57" name="reporting">
            <a:extLst>
              <a:ext uri="{FF2B5EF4-FFF2-40B4-BE49-F238E27FC236}">
                <a16:creationId xmlns:a16="http://schemas.microsoft.com/office/drawing/2014/main" id="{00B643F2-547E-4755-AD50-1B54A836F6D9}"/>
              </a:ext>
            </a:extLst>
          </p:cNvPr>
          <p:cNvSpPr>
            <a:spLocks noGrp="1"/>
          </p:cNvSpPr>
          <p:nvPr/>
        </p:nvSpPr>
        <p:spPr>
          <a:xfrm>
            <a:off x="962025" y="6200775"/>
            <a:ext cx="10191750" cy="247650"/>
          </a:xfrm>
          <a:prstGeom prst="rect">
            <a:avLst/>
          </a:prstGeom>
          <a:noFill/>
          <a:ln w="0">
            <a:noFill/>
          </a:ln>
        </p:spPr>
        <p:txBody>
          <a:bodyPr wrap="square" lIns="0" tIns="0" rIns="0" bIns="0" anchor="t">
            <a:noAutofit/>
          </a:bodyPr>
          <a:lstStyle/>
          <a:p>
            <a:pPr algn="l">
              <a:defRPr sz="1200" b="1">
                <a:solidFill>
                  <a:srgbClr val="0B39FF"/>
                </a:solidFill>
                <a:latin typeface="Arial"/>
                <a:ea typeface="Arial"/>
                <a:cs typeface="Arial"/>
              </a:defRPr>
            </a:pPr>
            <a:r>
              <a:rPr sz="1200" b="1">
                <a:solidFill>
                  <a:srgbClr val="0B39FF"/>
                </a:solidFill>
                <a:latin typeface="Arial"/>
                <a:ea typeface="Arial"/>
                <a:cs typeface="Arial"/>
              </a:rPr>
              <a:t>주간 대시보드 • 격주 최적화 • 월간 리뷰 • 영업일 10일 이내 최종 보고서</a:t>
            </a:r>
          </a:p>
        </p:txBody>
      </p:sp>
    </p:spTree>
    <p:extLst>
      <p:ext uri="{BB962C8B-B14F-4D97-AF65-F5344CB8AC3E}">
        <p14:creationId xmlns:p14="http://schemas.microsoft.com/office/powerpoint/2010/main" val="102927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89F546-BACF-4414-B052-6CE18A52B5F0}"/>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6EBF76DE-DE07-44A6-81C0-082E21521C52}"/>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ADADD08E-270E-4D4E-A42E-DEBCF1206CBC}"/>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61"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4C108909-0F83-45DB-A841-256A8251775B}"/>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C530D2AD-0A37-47E1-ABDF-B90B9C0B8552}"/>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4EE4435F-AA27-4E7B-AF4A-D5D0E139963C}"/>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15</a:t>
            </a:r>
          </a:p>
        </p:txBody>
      </p:sp>
      <p:sp>
        <p:nvSpPr>
          <p:cNvPr id="10" name="TextBox 9">
            <a:extLst>
              <a:ext uri="{FF2B5EF4-FFF2-40B4-BE49-F238E27FC236}">
                <a16:creationId xmlns:a16="http://schemas.microsoft.com/office/drawing/2014/main" id="{74C4092D-BB39-402F-BBCD-9917A78368C2}"/>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예산 | 총 프로그램 한도 $50,000</a:t>
            </a:r>
          </a:p>
        </p:txBody>
      </p:sp>
      <p:sp>
        <p:nvSpPr>
          <p:cNvPr id="11" name="Rectangle 10">
            <a:extLst>
              <a:ext uri="{FF2B5EF4-FFF2-40B4-BE49-F238E27FC236}">
                <a16:creationId xmlns:a16="http://schemas.microsoft.com/office/drawing/2014/main" id="{0AF6E792-D664-40D9-ACF2-FE4AAF29B622}"/>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subtitle">
            <a:extLst>
              <a:ext uri="{FF2B5EF4-FFF2-40B4-BE49-F238E27FC236}">
                <a16:creationId xmlns:a16="http://schemas.microsoft.com/office/drawing/2014/main" id="{2A806E35-891B-418D-98B8-A54798400EEB}"/>
              </a:ext>
            </a:extLst>
          </p:cNvPr>
          <p:cNvSpPr>
            <a:spLocks noGrp="1"/>
          </p:cNvSpPr>
          <p:nvPr/>
        </p:nvSpPr>
        <p:spPr>
          <a:xfrm>
            <a:off x="962025" y="1514475"/>
            <a:ext cx="10191750" cy="40005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기본 실행 $35,000 + 통제형 전략 리저브 $15,000</a:t>
            </a:r>
          </a:p>
        </p:txBody>
      </p:sp>
      <p:graphicFrame>
        <p:nvGraphicFramePr>
          <p:cNvPr id="68" name="표 67"/>
          <p:cNvGraphicFramePr/>
          <p:nvPr/>
        </p:nvGraphicFramePr>
        <p:xfrm>
          <a:off x="952500" y="2047875"/>
          <a:ext cx="10287000" cy="3667125"/>
        </p:xfrm>
        <a:graphic>
          <a:graphicData uri="http://schemas.openxmlformats.org/drawingml/2006/table">
            <a:tbl>
              <a:tblPr/>
              <a:tblGrid>
                <a:gridCol w="2495550">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1504950">
                  <a:extLst>
                    <a:ext uri="{9D8B030D-6E8A-4147-A177-3AD203B41FA5}">
                      <a16:colId xmlns:a16="http://schemas.microsoft.com/office/drawing/2014/main" val="20002"/>
                    </a:ext>
                  </a:extLst>
                </a:gridCol>
              </a:tblGrid>
              <a:tr h="352425">
                <a:tc>
                  <a:txBody>
                    <a:bodyPr/>
                    <a:lstStyle/>
                    <a:p>
                      <a:r>
                        <a:rPr sz="1350" b="1">
                          <a:solidFill>
                            <a:srgbClr val="FFFFFF"/>
                          </a:solidFill>
                          <a:latin typeface="Arial"/>
                          <a:ea typeface="Arial"/>
                          <a:cs typeface="Arial"/>
                        </a:rPr>
                        <a:t>워크스트림</a:t>
                      </a:r>
                    </a:p>
                  </a:txBody>
                  <a:tcPr anchor="ctr">
                    <a:solidFill>
                      <a:srgbClr val="0B39FF"/>
                    </a:solidFill>
                  </a:tcPr>
                </a:tc>
                <a:tc>
                  <a:txBody>
                    <a:bodyPr/>
                    <a:lstStyle/>
                    <a:p>
                      <a:r>
                        <a:rPr sz="1350" b="1">
                          <a:solidFill>
                            <a:srgbClr val="FFFFFF"/>
                          </a:solidFill>
                          <a:latin typeface="Arial"/>
                          <a:ea typeface="Arial"/>
                          <a:cs typeface="Arial"/>
                        </a:rPr>
                        <a:t>포함 범위</a:t>
                      </a:r>
                    </a:p>
                  </a:txBody>
                  <a:tcPr anchor="ctr">
                    <a:solidFill>
                      <a:srgbClr val="0B39FF"/>
                    </a:solidFill>
                  </a:tcPr>
                </a:tc>
                <a:tc>
                  <a:txBody>
                    <a:bodyPr/>
                    <a:lstStyle/>
                    <a:p>
                      <a:r>
                        <a:rPr sz="1350" b="1">
                          <a:solidFill>
                            <a:srgbClr val="FFFFFF"/>
                          </a:solidFill>
                          <a:latin typeface="Arial"/>
                          <a:ea typeface="Arial"/>
                          <a:cs typeface="Arial"/>
                        </a:rPr>
                        <a:t>USD</a:t>
                      </a:r>
                    </a:p>
                  </a:txBody>
                  <a:tcPr anchor="ctr">
                    <a:solidFill>
                      <a:srgbClr val="0B39FF"/>
                    </a:solidFill>
                  </a:tcPr>
                </a:tc>
                <a:extLst>
                  <a:ext uri="{0D108BD9-81ED-4DB2-BD59-A6C34878D82A}">
                    <a16:rowId xmlns:a16="http://schemas.microsoft.com/office/drawing/2014/main" val="10000"/>
                  </a:ext>
                </a:extLst>
              </a:tr>
              <a:tr h="352425">
                <a:tc>
                  <a:txBody>
                    <a:bodyPr/>
                    <a:lstStyle/>
                    <a:p>
                      <a:r>
                        <a:rPr sz="1350" b="0">
                          <a:solidFill>
                            <a:srgbClr val="334155"/>
                          </a:solidFill>
                          <a:latin typeface="Arial"/>
                          <a:ea typeface="Arial"/>
                          <a:cs typeface="Arial"/>
                        </a:rPr>
                        <a:t>01 커뮤니티</a:t>
                      </a:r>
                    </a:p>
                  </a:txBody>
                  <a:tcPr anchor="ctr">
                    <a:solidFill>
                      <a:srgbClr val="FFFFFF"/>
                    </a:solidFill>
                  </a:tcPr>
                </a:tc>
                <a:tc>
                  <a:txBody>
                    <a:bodyPr/>
                    <a:lstStyle/>
                    <a:p>
                      <a:r>
                        <a:rPr sz="1350" b="0">
                          <a:solidFill>
                            <a:srgbClr val="334155"/>
                          </a:solidFill>
                          <a:latin typeface="Arial"/>
                          <a:ea typeface="Arial"/>
                          <a:cs typeface="Arial"/>
                        </a:rPr>
                        <a:t>입장 보상 + 3개월 모더레이션</a:t>
                      </a:r>
                    </a:p>
                  </a:txBody>
                  <a:tcPr anchor="ctr">
                    <a:solidFill>
                      <a:srgbClr val="FFFFFF"/>
                    </a:solidFill>
                  </a:tcPr>
                </a:tc>
                <a:tc>
                  <a:txBody>
                    <a:bodyPr/>
                    <a:lstStyle/>
                    <a:p>
                      <a:r>
                        <a:rPr sz="1350" b="0">
                          <a:solidFill>
                            <a:srgbClr val="334155"/>
                          </a:solidFill>
                          <a:latin typeface="Arial"/>
                          <a:ea typeface="Arial"/>
                          <a:cs typeface="Arial"/>
                        </a:rPr>
                        <a:t>$4,000</a:t>
                      </a:r>
                    </a:p>
                  </a:txBody>
                  <a:tcPr anchor="ctr">
                    <a:solidFill>
                      <a:srgbClr val="FFFFFF"/>
                    </a:solidFill>
                  </a:tcPr>
                </a:tc>
                <a:extLst>
                  <a:ext uri="{0D108BD9-81ED-4DB2-BD59-A6C34878D82A}">
                    <a16:rowId xmlns:a16="http://schemas.microsoft.com/office/drawing/2014/main" val="10001"/>
                  </a:ext>
                </a:extLst>
              </a:tr>
              <a:tr h="352425">
                <a:tc>
                  <a:txBody>
                    <a:bodyPr/>
                    <a:lstStyle/>
                    <a:p>
                      <a:r>
                        <a:rPr sz="1350" b="0">
                          <a:solidFill>
                            <a:srgbClr val="334155"/>
                          </a:solidFill>
                          <a:latin typeface="Arial"/>
                          <a:ea typeface="Arial"/>
                          <a:cs typeface="Arial"/>
                        </a:rPr>
                        <a:t>02 KOL 교육 / AMA</a:t>
                      </a:r>
                    </a:p>
                  </a:txBody>
                  <a:tcPr anchor="ctr">
                    <a:solidFill>
                      <a:srgbClr val="F0F5FF"/>
                    </a:solidFill>
                  </a:tcPr>
                </a:tc>
                <a:tc>
                  <a:txBody>
                    <a:bodyPr/>
                    <a:lstStyle/>
                    <a:p>
                      <a:r>
                        <a:rPr sz="1350" b="0">
                          <a:solidFill>
                            <a:srgbClr val="334155"/>
                          </a:solidFill>
                          <a:latin typeface="Arial"/>
                          <a:ea typeface="Arial"/>
                          <a:cs typeface="Arial"/>
                        </a:rPr>
                        <a:t>세션 2회 + 한국어 요약 2건; 상한</a:t>
                      </a:r>
                    </a:p>
                  </a:txBody>
                  <a:tcPr anchor="ctr">
                    <a:solidFill>
                      <a:srgbClr val="F0F5FF"/>
                    </a:solidFill>
                  </a:tcPr>
                </a:tc>
                <a:tc>
                  <a:txBody>
                    <a:bodyPr/>
                    <a:lstStyle/>
                    <a:p>
                      <a:r>
                        <a:rPr sz="1350" b="0">
                          <a:solidFill>
                            <a:srgbClr val="334155"/>
                          </a:solidFill>
                          <a:latin typeface="Arial"/>
                          <a:ea typeface="Arial"/>
                          <a:cs typeface="Arial"/>
                        </a:rPr>
                        <a:t>$6,000</a:t>
                      </a:r>
                    </a:p>
                  </a:txBody>
                  <a:tcPr anchor="ctr">
                    <a:solidFill>
                      <a:srgbClr val="F0F5FF"/>
                    </a:solidFill>
                  </a:tcPr>
                </a:tc>
                <a:extLst>
                  <a:ext uri="{0D108BD9-81ED-4DB2-BD59-A6C34878D82A}">
                    <a16:rowId xmlns:a16="http://schemas.microsoft.com/office/drawing/2014/main" val="10002"/>
                  </a:ext>
                </a:extLst>
              </a:tr>
              <a:tr h="352425">
                <a:tc>
                  <a:txBody>
                    <a:bodyPr/>
                    <a:lstStyle/>
                    <a:p>
                      <a:r>
                        <a:rPr sz="1350" b="0">
                          <a:solidFill>
                            <a:srgbClr val="334155"/>
                          </a:solidFill>
                          <a:latin typeface="Arial"/>
                          <a:ea typeface="Arial"/>
                          <a:cs typeface="Arial"/>
                        </a:rPr>
                        <a:t>03 유료 배포</a:t>
                      </a:r>
                    </a:p>
                  </a:txBody>
                  <a:tcPr anchor="ctr">
                    <a:solidFill>
                      <a:srgbClr val="FFFFFF"/>
                    </a:solidFill>
                  </a:tcPr>
                </a:tc>
                <a:tc>
                  <a:txBody>
                    <a:bodyPr/>
                    <a:lstStyle/>
                    <a:p>
                      <a:r>
                        <a:rPr sz="1350" b="0">
                          <a:solidFill>
                            <a:srgbClr val="334155"/>
                          </a:solidFill>
                          <a:latin typeface="Arial"/>
                          <a:ea typeface="Arial"/>
                          <a:cs typeface="Arial"/>
                        </a:rPr>
                        <a:t>구매 게재 합산 18–24건, 견적 의존</a:t>
                      </a:r>
                    </a:p>
                  </a:txBody>
                  <a:tcPr anchor="ctr">
                    <a:solidFill>
                      <a:srgbClr val="FFFFFF"/>
                    </a:solidFill>
                  </a:tcPr>
                </a:tc>
                <a:tc>
                  <a:txBody>
                    <a:bodyPr/>
                    <a:lstStyle/>
                    <a:p>
                      <a:r>
                        <a:rPr sz="1350" b="0">
                          <a:solidFill>
                            <a:srgbClr val="334155"/>
                          </a:solidFill>
                          <a:latin typeface="Arial"/>
                          <a:ea typeface="Arial"/>
                          <a:cs typeface="Arial"/>
                        </a:rPr>
                        <a:t>$9,000</a:t>
                      </a:r>
                    </a:p>
                  </a:txBody>
                  <a:tcPr anchor="ctr">
                    <a:solidFill>
                      <a:srgbClr val="FFFFFF"/>
                    </a:solidFill>
                  </a:tcPr>
                </a:tc>
                <a:extLst>
                  <a:ext uri="{0D108BD9-81ED-4DB2-BD59-A6C34878D82A}">
                    <a16:rowId xmlns:a16="http://schemas.microsoft.com/office/drawing/2014/main" val="10003"/>
                  </a:ext>
                </a:extLst>
              </a:tr>
              <a:tr h="352425">
                <a:tc>
                  <a:txBody>
                    <a:bodyPr/>
                    <a:lstStyle/>
                    <a:p>
                      <a:r>
                        <a:rPr sz="1350" b="0">
                          <a:solidFill>
                            <a:srgbClr val="334155"/>
                          </a:solidFill>
                          <a:latin typeface="Arial"/>
                          <a:ea typeface="Arial"/>
                          <a:cs typeface="Arial"/>
                        </a:rPr>
                        <a:t>04 UGC</a:t>
                      </a:r>
                    </a:p>
                  </a:txBody>
                  <a:tcPr anchor="ctr">
                    <a:solidFill>
                      <a:srgbClr val="F0F5FF"/>
                    </a:solidFill>
                  </a:tcPr>
                </a:tc>
                <a:tc>
                  <a:txBody>
                    <a:bodyPr/>
                    <a:lstStyle/>
                    <a:p>
                      <a:r>
                        <a:rPr sz="1350" b="0">
                          <a:solidFill>
                            <a:srgbClr val="334155"/>
                          </a:solidFill>
                          <a:latin typeface="Arial"/>
                          <a:ea typeface="Arial"/>
                          <a:cs typeface="Arial"/>
                        </a:rPr>
                        <a:t>2–4주 크리에이터 프로그램 1회</a:t>
                      </a:r>
                    </a:p>
                  </a:txBody>
                  <a:tcPr anchor="ctr">
                    <a:solidFill>
                      <a:srgbClr val="F0F5FF"/>
                    </a:solidFill>
                  </a:tcPr>
                </a:tc>
                <a:tc>
                  <a:txBody>
                    <a:bodyPr/>
                    <a:lstStyle/>
                    <a:p>
                      <a:r>
                        <a:rPr sz="1350" b="0">
                          <a:solidFill>
                            <a:srgbClr val="334155"/>
                          </a:solidFill>
                          <a:latin typeface="Arial"/>
                          <a:ea typeface="Arial"/>
                          <a:cs typeface="Arial"/>
                        </a:rPr>
                        <a:t>$5,000</a:t>
                      </a:r>
                    </a:p>
                  </a:txBody>
                  <a:tcPr anchor="ctr">
                    <a:solidFill>
                      <a:srgbClr val="F0F5FF"/>
                    </a:solidFill>
                  </a:tcPr>
                </a:tc>
                <a:extLst>
                  <a:ext uri="{0D108BD9-81ED-4DB2-BD59-A6C34878D82A}">
                    <a16:rowId xmlns:a16="http://schemas.microsoft.com/office/drawing/2014/main" val="10004"/>
                  </a:ext>
                </a:extLst>
              </a:tr>
              <a:tr h="352425">
                <a:tc>
                  <a:txBody>
                    <a:bodyPr/>
                    <a:lstStyle/>
                    <a:p>
                      <a:r>
                        <a:rPr sz="1350" b="0">
                          <a:solidFill>
                            <a:srgbClr val="334155"/>
                          </a:solidFill>
                          <a:latin typeface="Arial"/>
                          <a:ea typeface="Arial"/>
                          <a:cs typeface="Arial"/>
                        </a:rPr>
                        <a:t>05 PR 및 검색</a:t>
                      </a:r>
                    </a:p>
                  </a:txBody>
                  <a:tcPr anchor="ctr">
                    <a:solidFill>
                      <a:srgbClr val="FFFFFF"/>
                    </a:solidFill>
                  </a:tcPr>
                </a:tc>
                <a:tc>
                  <a:txBody>
                    <a:bodyPr/>
                    <a:lstStyle/>
                    <a:p>
                      <a:r>
                        <a:rPr sz="1350" b="0">
                          <a:solidFill>
                            <a:srgbClr val="334155"/>
                          </a:solidFill>
                          <a:latin typeface="Arial"/>
                          <a:ea typeface="Arial"/>
                          <a:cs typeface="Arial"/>
                        </a:rPr>
                        <a:t>보도 + 인터뷰 + 영상; 각 $2,000</a:t>
                      </a:r>
                    </a:p>
                  </a:txBody>
                  <a:tcPr anchor="ctr">
                    <a:solidFill>
                      <a:srgbClr val="FFFFFF"/>
                    </a:solidFill>
                  </a:tcPr>
                </a:tc>
                <a:tc>
                  <a:txBody>
                    <a:bodyPr/>
                    <a:lstStyle/>
                    <a:p>
                      <a:r>
                        <a:rPr sz="1350" b="0">
                          <a:solidFill>
                            <a:srgbClr val="334155"/>
                          </a:solidFill>
                          <a:latin typeface="Arial"/>
                          <a:ea typeface="Arial"/>
                          <a:cs typeface="Arial"/>
                        </a:rPr>
                        <a:t>$6,000</a:t>
                      </a:r>
                    </a:p>
                  </a:txBody>
                  <a:tcPr anchor="ctr">
                    <a:solidFill>
                      <a:srgbClr val="FFFFFF"/>
                    </a:solidFill>
                  </a:tcPr>
                </a:tc>
                <a:extLst>
                  <a:ext uri="{0D108BD9-81ED-4DB2-BD59-A6C34878D82A}">
                    <a16:rowId xmlns:a16="http://schemas.microsoft.com/office/drawing/2014/main" val="10005"/>
                  </a:ext>
                </a:extLst>
              </a:tr>
              <a:tr h="352425">
                <a:tc>
                  <a:txBody>
                    <a:bodyPr/>
                    <a:lstStyle/>
                    <a:p>
                      <a:r>
                        <a:rPr sz="1350" b="0">
                          <a:solidFill>
                            <a:srgbClr val="334155"/>
                          </a:solidFill>
                          <a:latin typeface="Arial"/>
                          <a:ea typeface="Arial"/>
                          <a:cs typeface="Arial"/>
                        </a:rPr>
                        <a:t>06 오프라인</a:t>
                      </a:r>
                    </a:p>
                  </a:txBody>
                  <a:tcPr anchor="ctr">
                    <a:solidFill>
                      <a:srgbClr val="F0F5FF"/>
                    </a:solidFill>
                  </a:tcPr>
                </a:tc>
                <a:tc>
                  <a:txBody>
                    <a:bodyPr/>
                    <a:lstStyle/>
                    <a:p>
                      <a:r>
                        <a:rPr sz="1350" b="0">
                          <a:solidFill>
                            <a:srgbClr val="334155"/>
                          </a:solidFill>
                          <a:latin typeface="Arial"/>
                          <a:ea typeface="Arial"/>
                          <a:cs typeface="Arial"/>
                        </a:rPr>
                        <a:t>밋업 1회 또는 디너 1회</a:t>
                      </a:r>
                    </a:p>
                  </a:txBody>
                  <a:tcPr anchor="ctr">
                    <a:solidFill>
                      <a:srgbClr val="F0F5FF"/>
                    </a:solidFill>
                  </a:tcPr>
                </a:tc>
                <a:tc>
                  <a:txBody>
                    <a:bodyPr/>
                    <a:lstStyle/>
                    <a:p>
                      <a:r>
                        <a:rPr sz="1350" b="0">
                          <a:solidFill>
                            <a:srgbClr val="334155"/>
                          </a:solidFill>
                          <a:latin typeface="Arial"/>
                          <a:ea typeface="Arial"/>
                          <a:cs typeface="Arial"/>
                        </a:rPr>
                        <a:t>$5,000</a:t>
                      </a:r>
                    </a:p>
                  </a:txBody>
                  <a:tcPr anchor="ctr">
                    <a:solidFill>
                      <a:srgbClr val="F0F5FF"/>
                    </a:solidFill>
                  </a:tcPr>
                </a:tc>
                <a:extLst>
                  <a:ext uri="{0D108BD9-81ED-4DB2-BD59-A6C34878D82A}">
                    <a16:rowId xmlns:a16="http://schemas.microsoft.com/office/drawing/2014/main" val="10006"/>
                  </a:ext>
                </a:extLst>
              </a:tr>
              <a:tr h="400050">
                <a:tc>
                  <a:txBody>
                    <a:bodyPr/>
                    <a:lstStyle/>
                    <a:p>
                      <a:r>
                        <a:rPr sz="1350" b="0">
                          <a:solidFill>
                            <a:srgbClr val="334155"/>
                          </a:solidFill>
                          <a:latin typeface="Arial"/>
                          <a:ea typeface="Arial"/>
                          <a:cs typeface="Arial"/>
                        </a:rPr>
                        <a:t>기본 소계</a:t>
                      </a:r>
                    </a:p>
                  </a:txBody>
                  <a:tcPr anchor="ctr">
                    <a:solidFill>
                      <a:srgbClr val="FFFFFF"/>
                    </a:solidFill>
                  </a:tcPr>
                </a:tc>
                <a:tc>
                  <a:txBody>
                    <a:bodyPr/>
                    <a:lstStyle/>
                    <a:p>
                      <a:r>
                        <a:rPr sz="1350" b="0">
                          <a:solidFill>
                            <a:srgbClr val="334155"/>
                          </a:solidFill>
                          <a:latin typeface="Arial"/>
                          <a:ea typeface="Arial"/>
                          <a:cs typeface="Arial"/>
                        </a:rPr>
                        <a:t>일상 조율·트래킹·리포팅 포함</a:t>
                      </a:r>
                    </a:p>
                  </a:txBody>
                  <a:tcPr anchor="ctr">
                    <a:solidFill>
                      <a:srgbClr val="FFFFFF"/>
                    </a:solidFill>
                  </a:tcPr>
                </a:tc>
                <a:tc>
                  <a:txBody>
                    <a:bodyPr/>
                    <a:lstStyle/>
                    <a:p>
                      <a:r>
                        <a:rPr sz="1350" b="0">
                          <a:solidFill>
                            <a:srgbClr val="334155"/>
                          </a:solidFill>
                          <a:latin typeface="Arial"/>
                          <a:ea typeface="Arial"/>
                          <a:cs typeface="Arial"/>
                        </a:rPr>
                        <a:t>$35,000</a:t>
                      </a:r>
                    </a:p>
                  </a:txBody>
                  <a:tcPr anchor="ctr">
                    <a:solidFill>
                      <a:srgbClr val="FFFFFF"/>
                    </a:solidFill>
                  </a:tcPr>
                </a:tc>
                <a:extLst>
                  <a:ext uri="{0D108BD9-81ED-4DB2-BD59-A6C34878D82A}">
                    <a16:rowId xmlns:a16="http://schemas.microsoft.com/office/drawing/2014/main" val="10007"/>
                  </a:ext>
                </a:extLst>
              </a:tr>
              <a:tr h="400050">
                <a:tc>
                  <a:txBody>
                    <a:bodyPr/>
                    <a:lstStyle/>
                    <a:p>
                      <a:r>
                        <a:rPr sz="1350" b="0">
                          <a:solidFill>
                            <a:srgbClr val="334155"/>
                          </a:solidFill>
                          <a:latin typeface="Arial"/>
                          <a:ea typeface="Arial"/>
                          <a:cs typeface="Arial"/>
                        </a:rPr>
                        <a:t>07 전략 리저브</a:t>
                      </a:r>
                    </a:p>
                  </a:txBody>
                  <a:tcPr anchor="ctr">
                    <a:solidFill>
                      <a:srgbClr val="F0F5FF"/>
                    </a:solidFill>
                  </a:tcPr>
                </a:tc>
                <a:tc>
                  <a:txBody>
                    <a:bodyPr/>
                    <a:lstStyle/>
                    <a:p>
                      <a:r>
                        <a:rPr sz="1350" b="0">
                          <a:solidFill>
                            <a:srgbClr val="334155"/>
                          </a:solidFill>
                          <a:latin typeface="Arial"/>
                          <a:ea typeface="Arial"/>
                          <a:cs typeface="Arial"/>
                        </a:rPr>
                        <a:t>승인된 활성화 계획에 대해서만 해제</a:t>
                      </a:r>
                    </a:p>
                  </a:txBody>
                  <a:tcPr anchor="ctr">
                    <a:solidFill>
                      <a:srgbClr val="F0F5FF"/>
                    </a:solidFill>
                  </a:tcPr>
                </a:tc>
                <a:tc>
                  <a:txBody>
                    <a:bodyPr/>
                    <a:lstStyle/>
                    <a:p>
                      <a:r>
                        <a:rPr sz="1350" b="0">
                          <a:solidFill>
                            <a:srgbClr val="334155"/>
                          </a:solidFill>
                          <a:latin typeface="Arial"/>
                          <a:ea typeface="Arial"/>
                          <a:cs typeface="Arial"/>
                        </a:rPr>
                        <a:t>$15,000</a:t>
                      </a:r>
                    </a:p>
                  </a:txBody>
                  <a:tcPr anchor="ctr">
                    <a:solidFill>
                      <a:srgbClr val="F0F5FF"/>
                    </a:solidFill>
                  </a:tcPr>
                </a:tc>
                <a:extLst>
                  <a:ext uri="{0D108BD9-81ED-4DB2-BD59-A6C34878D82A}">
                    <a16:rowId xmlns:a16="http://schemas.microsoft.com/office/drawing/2014/main" val="10008"/>
                  </a:ext>
                </a:extLst>
              </a:tr>
              <a:tr h="400050">
                <a:tc>
                  <a:txBody>
                    <a:bodyPr/>
                    <a:lstStyle/>
                    <a:p>
                      <a:r>
                        <a:rPr sz="1350" b="1">
                          <a:solidFill>
                            <a:srgbClr val="334155"/>
                          </a:solidFill>
                          <a:latin typeface="Arial"/>
                          <a:ea typeface="Arial"/>
                          <a:cs typeface="Arial"/>
                        </a:rPr>
                        <a:t>합계</a:t>
                      </a:r>
                    </a:p>
                  </a:txBody>
                  <a:tcPr anchor="ctr">
                    <a:solidFill>
                      <a:srgbClr val="E1EBFF"/>
                    </a:solidFill>
                  </a:tcPr>
                </a:tc>
                <a:tc>
                  <a:txBody>
                    <a:bodyPr/>
                    <a:lstStyle/>
                    <a:p>
                      <a:r>
                        <a:rPr sz="1350" b="1">
                          <a:solidFill>
                            <a:srgbClr val="334155"/>
                          </a:solidFill>
                          <a:latin typeface="Arial"/>
                          <a:ea typeface="Arial"/>
                          <a:cs typeface="Arial"/>
                        </a:rPr>
                        <a:t>3개월 캠페인 한도</a:t>
                      </a:r>
                    </a:p>
                  </a:txBody>
                  <a:tcPr anchor="ctr">
                    <a:solidFill>
                      <a:srgbClr val="E1EBFF"/>
                    </a:solidFill>
                  </a:tcPr>
                </a:tc>
                <a:tc>
                  <a:txBody>
                    <a:bodyPr/>
                    <a:lstStyle/>
                    <a:p>
                      <a:r>
                        <a:rPr sz="1350" b="1">
                          <a:solidFill>
                            <a:srgbClr val="334155"/>
                          </a:solidFill>
                          <a:latin typeface="Arial"/>
                          <a:ea typeface="Arial"/>
                          <a:cs typeface="Arial"/>
                        </a:rPr>
                        <a:t>$50,000</a:t>
                      </a:r>
                    </a:p>
                  </a:txBody>
                  <a:tcPr anchor="ctr">
                    <a:solidFill>
                      <a:srgbClr val="E1EBFF"/>
                    </a:solidFill>
                  </a:tcPr>
                </a:tc>
                <a:extLst>
                  <a:ext uri="{0D108BD9-81ED-4DB2-BD59-A6C34878D82A}">
                    <a16:rowId xmlns:a16="http://schemas.microsoft.com/office/drawing/2014/main" val="10009"/>
                  </a:ext>
                </a:extLst>
              </a:tr>
            </a:tbl>
          </a:graphicData>
        </a:graphic>
      </p:graphicFrame>
      <p:sp>
        <p:nvSpPr>
          <p:cNvPr id="56" name="commercial">
            <a:extLst>
              <a:ext uri="{FF2B5EF4-FFF2-40B4-BE49-F238E27FC236}">
                <a16:creationId xmlns:a16="http://schemas.microsoft.com/office/drawing/2014/main" id="{0F941B89-A384-4B19-A2E8-E394AB415E39}"/>
              </a:ext>
            </a:extLst>
          </p:cNvPr>
          <p:cNvSpPr>
            <a:spLocks noGrp="1"/>
          </p:cNvSpPr>
          <p:nvPr/>
        </p:nvSpPr>
        <p:spPr>
          <a:xfrm>
            <a:off x="962025" y="5895975"/>
            <a:ext cx="10191750" cy="504825"/>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적용 세금·결제 비용은 본 한도 또는 승인된 변경 안에 맞춰야 합니다. 자동 수수료·초과 없음.
최종 파트너 믹스·전달물은 확정 전 견적으로 확인합니다.</a:t>
            </a:r>
          </a:p>
          <a:p>
            <a:pPr algn="l">
              <a:defRPr sz="1200">
                <a:solidFill>
                  <a:srgbClr val="334155"/>
                </a:solidFill>
                <a:latin typeface="Arial"/>
                <a:ea typeface="Arial"/>
                <a:cs typeface="Arial"/>
              </a:defRPr>
            </a:pPr>
            <a:r>
              <a:rPr sz="1200">
                <a:solidFill>
                  <a:srgbClr val="334155"/>
                </a:solidFill>
                <a:latin typeface="Arial"/>
                <a:ea typeface="Arial"/>
                <a:cs typeface="Arial"/>
              </a:rPr>
              <a:t/>
            </a:r>
          </a:p>
        </p:txBody>
      </p:sp>
    </p:spTree>
    <p:extLst>
      <p:ext uri="{BB962C8B-B14F-4D97-AF65-F5344CB8AC3E}">
        <p14:creationId xmlns:p14="http://schemas.microsoft.com/office/powerpoint/2010/main" val="102927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89F546-BACF-4414-B052-6CE18A52B5F0}"/>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6EBF76DE-DE07-44A6-81C0-082E21521C52}"/>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ADADD08E-270E-4D4E-A42E-DEBCF1206CBC}"/>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61"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4C108909-0F83-45DB-A841-256A8251775B}"/>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C530D2AD-0A37-47E1-ABDF-B90B9C0B8552}"/>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4EE4435F-AA27-4E7B-AF4A-D5D0E139963C}"/>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16</a:t>
            </a:r>
          </a:p>
        </p:txBody>
      </p:sp>
      <p:sp>
        <p:nvSpPr>
          <p:cNvPr id="10" name="TextBox 9">
            <a:extLst>
              <a:ext uri="{FF2B5EF4-FFF2-40B4-BE49-F238E27FC236}">
                <a16:creationId xmlns:a16="http://schemas.microsoft.com/office/drawing/2014/main" id="{74C4092D-BB39-402F-BBCD-9917A78368C2}"/>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07. 전략 리저브 | 통제 조건 $15,000</a:t>
            </a:r>
          </a:p>
        </p:txBody>
      </p:sp>
      <p:sp>
        <p:nvSpPr>
          <p:cNvPr id="11" name="Rectangle 10">
            <a:extLst>
              <a:ext uri="{FF2B5EF4-FFF2-40B4-BE49-F238E27FC236}">
                <a16:creationId xmlns:a16="http://schemas.microsoft.com/office/drawing/2014/main" id="{0AF6E792-D664-40D9-ACF2-FE4AAF29B622}"/>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subtitle">
            <a:extLst>
              <a:ext uri="{FF2B5EF4-FFF2-40B4-BE49-F238E27FC236}">
                <a16:creationId xmlns:a16="http://schemas.microsoft.com/office/drawing/2014/main" id="{55003781-E02E-45F6-8223-F6A9C9B2EFEE}"/>
              </a:ext>
            </a:extLst>
          </p:cNvPr>
          <p:cNvSpPr>
            <a:spLocks noGrp="1"/>
          </p:cNvSpPr>
          <p:nvPr/>
        </p:nvSpPr>
        <p:spPr>
          <a:xfrm>
            <a:off x="962025" y="1514475"/>
            <a:ext cx="10191750" cy="457200"/>
          </a:xfrm>
          <a:prstGeom prst="rect">
            <a:avLst/>
          </a:prstGeom>
          <a:noFill/>
          <a:ln w="0">
            <a:noFill/>
          </a:ln>
        </p:spPr>
        <p:txBody>
          <a:bodyPr wrap="square" lIns="0" tIns="0" rIns="0" bIns="0" anchor="t">
            <a:noAutofit/>
          </a:bodyPr>
          <a:lstStyle/>
          <a:p>
            <a:pPr algn="l">
              <a:defRPr sz="1575">
                <a:solidFill>
                  <a:srgbClr val="334155"/>
                </a:solidFill>
                <a:latin typeface="Arial"/>
                <a:ea typeface="Arial"/>
                <a:cs typeface="Arial"/>
              </a:defRPr>
            </a:pPr>
            <a:r>
              <a:rPr sz="1575">
                <a:solidFill>
                  <a:srgbClr val="334155"/>
                </a:solidFill>
                <a:latin typeface="Arial"/>
                <a:ea typeface="Arial"/>
                <a:cs typeface="Arial"/>
              </a:rPr>
              <a:t>명확한 트리거·담당자·측정 계획이 있을 때만 증분 활동에 리저브를 사용합니다.</a:t>
            </a:r>
          </a:p>
        </p:txBody>
      </p:sp>
      <p:graphicFrame>
        <p:nvGraphicFramePr>
          <p:cNvPr id="68" name="표 67"/>
          <p:cNvGraphicFramePr/>
          <p:nvPr/>
        </p:nvGraphicFramePr>
        <p:xfrm>
          <a:off x="952500" y="2047875"/>
          <a:ext cx="10287000" cy="3350895"/>
        </p:xfrm>
        <a:graphic>
          <a:graphicData uri="http://schemas.openxmlformats.org/drawingml/2006/table">
            <a:tbl>
              <a:tblPr/>
              <a:tblGrid>
                <a:gridCol w="3619500">
                  <a:extLst>
                    <a:ext uri="{9D8B030D-6E8A-4147-A177-3AD203B41FA5}">
                      <a16:colId xmlns:a16="http://schemas.microsoft.com/office/drawing/2014/main" val="20000"/>
                    </a:ext>
                  </a:extLst>
                </a:gridCol>
                <a:gridCol w="1285875">
                  <a:extLst>
                    <a:ext uri="{9D8B030D-6E8A-4147-A177-3AD203B41FA5}">
                      <a16:colId xmlns:a16="http://schemas.microsoft.com/office/drawing/2014/main" val="20001"/>
                    </a:ext>
                  </a:extLst>
                </a:gridCol>
                <a:gridCol w="5381625">
                  <a:extLst>
                    <a:ext uri="{9D8B030D-6E8A-4147-A177-3AD203B41FA5}">
                      <a16:colId xmlns:a16="http://schemas.microsoft.com/office/drawing/2014/main" val="20002"/>
                    </a:ext>
                  </a:extLst>
                </a:gridCol>
              </a:tblGrid>
              <a:tr h="419100">
                <a:tc>
                  <a:txBody>
                    <a:bodyPr/>
                    <a:lstStyle/>
                    <a:p>
                      <a:r>
                        <a:rPr sz="1350" b="1">
                          <a:solidFill>
                            <a:srgbClr val="FFFFFF"/>
                          </a:solidFill>
                          <a:latin typeface="Arial"/>
                          <a:ea typeface="Arial"/>
                          <a:cs typeface="Arial"/>
                        </a:rPr>
                        <a:t>배분</a:t>
                      </a:r>
                    </a:p>
                  </a:txBody>
                  <a:tcPr anchor="ctr">
                    <a:solidFill>
                      <a:srgbClr val="0B39FF"/>
                    </a:solidFill>
                  </a:tcPr>
                </a:tc>
                <a:tc>
                  <a:txBody>
                    <a:bodyPr/>
                    <a:lstStyle/>
                    <a:p>
                      <a:r>
                        <a:rPr sz="1350" b="1">
                          <a:solidFill>
                            <a:srgbClr val="FFFFFF"/>
                          </a:solidFill>
                          <a:latin typeface="Arial"/>
                          <a:ea typeface="Arial"/>
                          <a:cs typeface="Arial"/>
                        </a:rPr>
                        <a:t>USD</a:t>
                      </a:r>
                    </a:p>
                  </a:txBody>
                  <a:tcPr anchor="ctr">
                    <a:solidFill>
                      <a:srgbClr val="0B39FF"/>
                    </a:solidFill>
                  </a:tcPr>
                </a:tc>
                <a:tc>
                  <a:txBody>
                    <a:bodyPr/>
                    <a:lstStyle/>
                    <a:p>
                      <a:r>
                        <a:rPr sz="1350" b="1">
                          <a:solidFill>
                            <a:srgbClr val="FFFFFF"/>
                          </a:solidFill>
                          <a:latin typeface="Arial"/>
                          <a:ea typeface="Arial"/>
                          <a:cs typeface="Arial"/>
                        </a:rPr>
                        <a:t>해제 조건</a:t>
                      </a:r>
                    </a:p>
                  </a:txBody>
                  <a:tcPr anchor="ctr">
                    <a:solidFill>
                      <a:srgbClr val="0B39FF"/>
                    </a:solidFill>
                  </a:tcPr>
                </a:tc>
                <a:extLst>
                  <a:ext uri="{0D108BD9-81ED-4DB2-BD59-A6C34878D82A}">
                    <a16:rowId xmlns:a16="http://schemas.microsoft.com/office/drawing/2014/main" val="10000"/>
                  </a:ext>
                </a:extLst>
              </a:tr>
              <a:tr h="485775">
                <a:tc>
                  <a:txBody>
                    <a:bodyPr/>
                    <a:lstStyle/>
                    <a:p>
                      <a:r>
                        <a:rPr sz="1350" b="0">
                          <a:solidFill>
                            <a:srgbClr val="334155"/>
                          </a:solidFill>
                          <a:latin typeface="Arial"/>
                          <a:ea typeface="Arial"/>
                          <a:cs typeface="Arial"/>
                        </a:rPr>
                        <a:t>성과 증폭</a:t>
                      </a:r>
                    </a:p>
                  </a:txBody>
                  <a:tcPr anchor="ctr">
                    <a:solidFill>
                      <a:srgbClr val="FFFFFF"/>
                    </a:solidFill>
                  </a:tcPr>
                </a:tc>
                <a:tc>
                  <a:txBody>
                    <a:bodyPr/>
                    <a:lstStyle/>
                    <a:p>
                      <a:r>
                        <a:rPr sz="1350" b="0">
                          <a:solidFill>
                            <a:srgbClr val="334155"/>
                          </a:solidFill>
                          <a:latin typeface="Arial"/>
                          <a:ea typeface="Arial"/>
                          <a:cs typeface="Arial"/>
                        </a:rPr>
                        <a:t>$5,000</a:t>
                      </a:r>
                    </a:p>
                  </a:txBody>
                  <a:tcPr anchor="ctr">
                    <a:solidFill>
                      <a:srgbClr val="FFFFFF"/>
                    </a:solidFill>
                  </a:tcPr>
                </a:tc>
                <a:tc>
                  <a:txBody>
                    <a:bodyPr/>
                    <a:lstStyle/>
                    <a:p>
                      <a:r>
                        <a:rPr sz="1350" b="0">
                          <a:solidFill>
                            <a:srgbClr val="334155"/>
                          </a:solidFill>
                          <a:latin typeface="Arial"/>
                          <a:ea typeface="Arial"/>
                          <a:cs typeface="Arial"/>
                        </a:rPr>
                        <a:t>검증된 KOL·콘텐츠 성과 확장; 단위 비용 기록.</a:t>
                      </a:r>
                    </a:p>
                  </a:txBody>
                  <a:tcPr anchor="ctr">
                    <a:solidFill>
                      <a:srgbClr val="FFFFFF"/>
                    </a:solidFill>
                  </a:tcPr>
                </a:tc>
                <a:extLst>
                  <a:ext uri="{0D108BD9-81ED-4DB2-BD59-A6C34878D82A}">
                    <a16:rowId xmlns:a16="http://schemas.microsoft.com/office/drawing/2014/main" val="10001"/>
                  </a:ext>
                </a:extLst>
              </a:tr>
              <a:tr h="485775">
                <a:tc>
                  <a:txBody>
                    <a:bodyPr/>
                    <a:lstStyle/>
                    <a:p>
                      <a:r>
                        <a:rPr sz="1350" b="0">
                          <a:solidFill>
                            <a:srgbClr val="334155"/>
                          </a:solidFill>
                          <a:latin typeface="Arial"/>
                          <a:ea typeface="Arial"/>
                          <a:cs typeface="Arial"/>
                        </a:rPr>
                        <a:t>증분 커뮤니티 보상</a:t>
                      </a:r>
                    </a:p>
                  </a:txBody>
                  <a:tcPr anchor="ctr">
                    <a:solidFill>
                      <a:srgbClr val="F0F5FF"/>
                    </a:solidFill>
                  </a:tcPr>
                </a:tc>
                <a:tc>
                  <a:txBody>
                    <a:bodyPr/>
                    <a:lstStyle/>
                    <a:p>
                      <a:r>
                        <a:rPr sz="1350" b="0">
                          <a:solidFill>
                            <a:srgbClr val="334155"/>
                          </a:solidFill>
                          <a:latin typeface="Arial"/>
                          <a:ea typeface="Arial"/>
                          <a:cs typeface="Arial"/>
                        </a:rPr>
                        <a:t>$4,000</a:t>
                      </a:r>
                    </a:p>
                  </a:txBody>
                  <a:tcPr anchor="ctr">
                    <a:solidFill>
                      <a:srgbClr val="F0F5FF"/>
                    </a:solidFill>
                  </a:tcPr>
                </a:tc>
                <a:tc>
                  <a:txBody>
                    <a:bodyPr/>
                    <a:lstStyle/>
                    <a:p>
                      <a:r>
                        <a:rPr sz="1350" b="0">
                          <a:solidFill>
                            <a:srgbClr val="334155"/>
                          </a:solidFill>
                          <a:latin typeface="Arial"/>
                          <a:ea typeface="Arial"/>
                          <a:cs typeface="Arial"/>
                        </a:rPr>
                        <a:t>추가 교육·인게이지먼트 인센티브 풀 승인.</a:t>
                      </a:r>
                    </a:p>
                  </a:txBody>
                  <a:tcPr anchor="ctr">
                    <a:solidFill>
                      <a:srgbClr val="F0F5FF"/>
                    </a:solidFill>
                  </a:tcPr>
                </a:tc>
                <a:extLst>
                  <a:ext uri="{0D108BD9-81ED-4DB2-BD59-A6C34878D82A}">
                    <a16:rowId xmlns:a16="http://schemas.microsoft.com/office/drawing/2014/main" val="10002"/>
                  </a:ext>
                </a:extLst>
              </a:tr>
              <a:tr h="485775">
                <a:tc>
                  <a:txBody>
                    <a:bodyPr/>
                    <a:lstStyle/>
                    <a:p>
                      <a:r>
                        <a:rPr sz="1350" b="0">
                          <a:solidFill>
                            <a:srgbClr val="334155"/>
                          </a:solidFill>
                          <a:latin typeface="Arial"/>
                          <a:ea typeface="Arial"/>
                          <a:cs typeface="Arial"/>
                        </a:rPr>
                        <a:t>마일스톤 활성화</a:t>
                      </a:r>
                    </a:p>
                  </a:txBody>
                  <a:tcPr anchor="ctr">
                    <a:solidFill>
                      <a:srgbClr val="FFFFFF"/>
                    </a:solidFill>
                  </a:tcPr>
                </a:tc>
                <a:tc>
                  <a:txBody>
                    <a:bodyPr/>
                    <a:lstStyle/>
                    <a:p>
                      <a:r>
                        <a:rPr sz="1350" b="0">
                          <a:solidFill>
                            <a:srgbClr val="334155"/>
                          </a:solidFill>
                          <a:latin typeface="Arial"/>
                          <a:ea typeface="Arial"/>
                          <a:cs typeface="Arial"/>
                        </a:rPr>
                        <a:t>$3,000</a:t>
                      </a:r>
                    </a:p>
                  </a:txBody>
                  <a:tcPr anchor="ctr">
                    <a:solidFill>
                      <a:srgbClr val="FFFFFF"/>
                    </a:solidFill>
                  </a:tcPr>
                </a:tc>
                <a:tc>
                  <a:txBody>
                    <a:bodyPr/>
                    <a:lstStyle/>
                    <a:p>
                      <a:r>
                        <a:rPr sz="1350" b="0">
                          <a:solidFill>
                            <a:srgbClr val="334155"/>
                          </a:solidFill>
                          <a:latin typeface="Arial"/>
                          <a:ea typeface="Arial"/>
                          <a:cs typeface="Arial"/>
                        </a:rPr>
                        <a:t>제품 준비도, 적격성, 구체적 마일스톤 확인.</a:t>
                      </a:r>
                    </a:p>
                  </a:txBody>
                  <a:tcPr anchor="ctr">
                    <a:solidFill>
                      <a:srgbClr val="FFFFFF"/>
                    </a:solidFill>
                  </a:tcPr>
                </a:tc>
                <a:extLst>
                  <a:ext uri="{0D108BD9-81ED-4DB2-BD59-A6C34878D82A}">
                    <a16:rowId xmlns:a16="http://schemas.microsoft.com/office/drawing/2014/main" val="10003"/>
                  </a:ext>
                </a:extLst>
              </a:tr>
              <a:tr h="485775">
                <a:tc>
                  <a:txBody>
                    <a:bodyPr/>
                    <a:lstStyle/>
                    <a:p>
                      <a:r>
                        <a:rPr sz="1350" b="0">
                          <a:solidFill>
                            <a:srgbClr val="334155"/>
                          </a:solidFill>
                          <a:latin typeface="Arial"/>
                          <a:ea typeface="Arial"/>
                          <a:cs typeface="Arial"/>
                        </a:rPr>
                        <a:t>추가 미디어 / 크리에이터 기회</a:t>
                      </a:r>
                    </a:p>
                  </a:txBody>
                  <a:tcPr anchor="ctr">
                    <a:solidFill>
                      <a:srgbClr val="F0F5FF"/>
                    </a:solidFill>
                  </a:tcPr>
                </a:tc>
                <a:tc>
                  <a:txBody>
                    <a:bodyPr/>
                    <a:lstStyle/>
                    <a:p>
                      <a:r>
                        <a:rPr sz="1350" b="0">
                          <a:solidFill>
                            <a:srgbClr val="334155"/>
                          </a:solidFill>
                          <a:latin typeface="Arial"/>
                          <a:ea typeface="Arial"/>
                          <a:cs typeface="Arial"/>
                        </a:rPr>
                        <a:t>$2,000</a:t>
                      </a:r>
                    </a:p>
                  </a:txBody>
                  <a:tcPr anchor="ctr">
                    <a:solidFill>
                      <a:srgbClr val="F0F5FF"/>
                    </a:solidFill>
                  </a:tcPr>
                </a:tc>
                <a:tc>
                  <a:txBody>
                    <a:bodyPr/>
                    <a:lstStyle/>
                    <a:p>
                      <a:r>
                        <a:rPr sz="1350" b="0">
                          <a:solidFill>
                            <a:srgbClr val="334155"/>
                          </a:solidFill>
                          <a:latin typeface="Arial"/>
                          <a:ea typeface="Arial"/>
                          <a:cs typeface="Arial"/>
                        </a:rPr>
                        <a:t>관련 기회·견적·증분 산출물 승인.</a:t>
                      </a:r>
                    </a:p>
                  </a:txBody>
                  <a:tcPr anchor="ctr">
                    <a:solidFill>
                      <a:srgbClr val="F0F5FF"/>
                    </a:solidFill>
                  </a:tcPr>
                </a:tc>
                <a:extLst>
                  <a:ext uri="{0D108BD9-81ED-4DB2-BD59-A6C34878D82A}">
                    <a16:rowId xmlns:a16="http://schemas.microsoft.com/office/drawing/2014/main" val="10004"/>
                  </a:ext>
                </a:extLst>
              </a:tr>
              <a:tr h="485775">
                <a:tc>
                  <a:txBody>
                    <a:bodyPr/>
                    <a:lstStyle/>
                    <a:p>
                      <a:r>
                        <a:rPr sz="1350" b="0">
                          <a:solidFill>
                            <a:srgbClr val="334155"/>
                          </a:solidFill>
                          <a:latin typeface="Arial"/>
                          <a:ea typeface="Arial"/>
                          <a:cs typeface="Arial"/>
                        </a:rPr>
                        <a:t>컨틴전시 및 테스트</a:t>
                      </a:r>
                    </a:p>
                  </a:txBody>
                  <a:tcPr anchor="ctr">
                    <a:solidFill>
                      <a:srgbClr val="FFFFFF"/>
                    </a:solidFill>
                  </a:tcPr>
                </a:tc>
                <a:tc>
                  <a:txBody>
                    <a:bodyPr/>
                    <a:lstStyle/>
                    <a:p>
                      <a:r>
                        <a:rPr sz="1350" b="0">
                          <a:solidFill>
                            <a:srgbClr val="334155"/>
                          </a:solidFill>
                          <a:latin typeface="Arial"/>
                          <a:ea typeface="Arial"/>
                          <a:cs typeface="Arial"/>
                        </a:rPr>
                        <a:t>$1,000</a:t>
                      </a:r>
                    </a:p>
                  </a:txBody>
                  <a:tcPr anchor="ctr">
                    <a:solidFill>
                      <a:srgbClr val="FFFFFF"/>
                    </a:solidFill>
                  </a:tcPr>
                </a:tc>
                <a:tc>
                  <a:txBody>
                    <a:bodyPr/>
                    <a:lstStyle/>
                    <a:p>
                      <a:r>
                        <a:rPr sz="1350" b="0">
                          <a:solidFill>
                            <a:srgbClr val="334155"/>
                          </a:solidFill>
                          <a:latin typeface="Arial"/>
                          <a:ea typeface="Arial"/>
                          <a:cs typeface="Arial"/>
                        </a:rPr>
                        <a:t>성공 지표가 있는 정의된 이슈 또는 소규모 실험 승인.</a:t>
                      </a:r>
                    </a:p>
                  </a:txBody>
                  <a:tcPr anchor="ctr">
                    <a:solidFill>
                      <a:srgbClr val="FFFFFF"/>
                    </a:solidFill>
                  </a:tcPr>
                </a:tc>
                <a:extLst>
                  <a:ext uri="{0D108BD9-81ED-4DB2-BD59-A6C34878D82A}">
                    <a16:rowId xmlns:a16="http://schemas.microsoft.com/office/drawing/2014/main" val="10005"/>
                  </a:ext>
                </a:extLst>
              </a:tr>
              <a:tr h="485775">
                <a:tc>
                  <a:txBody>
                    <a:bodyPr/>
                    <a:lstStyle/>
                    <a:p>
                      <a:r>
                        <a:rPr sz="1350" b="1">
                          <a:solidFill>
                            <a:srgbClr val="334155"/>
                          </a:solidFill>
                          <a:latin typeface="Arial"/>
                          <a:ea typeface="Arial"/>
                          <a:cs typeface="Arial"/>
                        </a:rPr>
                        <a:t>합계</a:t>
                      </a:r>
                    </a:p>
                  </a:txBody>
                  <a:tcPr anchor="ctr">
                    <a:solidFill>
                      <a:srgbClr val="E1EBFF"/>
                    </a:solidFill>
                  </a:tcPr>
                </a:tc>
                <a:tc>
                  <a:txBody>
                    <a:bodyPr/>
                    <a:lstStyle/>
                    <a:p>
                      <a:r>
                        <a:rPr sz="1350" b="1">
                          <a:solidFill>
                            <a:srgbClr val="334155"/>
                          </a:solidFill>
                          <a:latin typeface="Arial"/>
                          <a:ea typeface="Arial"/>
                          <a:cs typeface="Arial"/>
                        </a:rPr>
                        <a:t>$15,000</a:t>
                      </a:r>
                    </a:p>
                  </a:txBody>
                  <a:tcPr anchor="ctr">
                    <a:solidFill>
                      <a:srgbClr val="E1EBFF"/>
                    </a:solidFill>
                  </a:tcPr>
                </a:tc>
                <a:tc>
                  <a:txBody>
                    <a:bodyPr/>
                    <a:lstStyle/>
                    <a:p>
                      <a:r>
                        <a:rPr sz="1350" b="1">
                          <a:solidFill>
                            <a:srgbClr val="334155"/>
                          </a:solidFill>
                          <a:latin typeface="Arial"/>
                          <a:ea typeface="Arial"/>
                          <a:cs typeface="Arial"/>
                        </a:rPr>
                        <a:t>자동 해제 없음; 미확정 자금은 미사용.</a:t>
                      </a:r>
                    </a:p>
                  </a:txBody>
                  <a:tcPr anchor="ctr">
                    <a:solidFill>
                      <a:srgbClr val="E1EBFF"/>
                    </a:solidFill>
                  </a:tcPr>
                </a:tc>
                <a:extLst>
                  <a:ext uri="{0D108BD9-81ED-4DB2-BD59-A6C34878D82A}">
                    <a16:rowId xmlns:a16="http://schemas.microsoft.com/office/drawing/2014/main" val="10006"/>
                  </a:ext>
                </a:extLst>
              </a:tr>
            </a:tbl>
          </a:graphicData>
        </a:graphic>
      </p:graphicFrame>
      <p:sp>
        <p:nvSpPr>
          <p:cNvPr id="56" name="controls">
            <a:extLst>
              <a:ext uri="{FF2B5EF4-FFF2-40B4-BE49-F238E27FC236}">
                <a16:creationId xmlns:a16="http://schemas.microsoft.com/office/drawing/2014/main" id="{C99D735D-066E-42CC-B9C8-74B39A64425E}"/>
              </a:ext>
            </a:extLst>
          </p:cNvPr>
          <p:cNvSpPr>
            <a:spLocks noGrp="1"/>
          </p:cNvSpPr>
          <p:nvPr/>
        </p:nvSpPr>
        <p:spPr>
          <a:xfrm>
            <a:off x="962025" y="5924550"/>
            <a:ext cx="10191750" cy="495300"/>
          </a:xfrm>
          <a:prstGeom prst="rect">
            <a:avLst/>
          </a:prstGeom>
          <a:noFill/>
          <a:ln w="0">
            <a:noFill/>
          </a:ln>
        </p:spPr>
        <p:txBody>
          <a:bodyPr wrap="square" lIns="0" tIns="0" rIns="0" bIns="0" anchor="t">
            <a:noAutofit/>
          </a:bodyPr>
          <a:lstStyle/>
          <a:p>
            <a:pPr algn="l">
              <a:defRPr sz="1425" b="1">
                <a:solidFill>
                  <a:srgbClr val="0B39FF"/>
                </a:solidFill>
                <a:latin typeface="Arial"/>
                <a:ea typeface="Arial"/>
                <a:cs typeface="Arial"/>
              </a:defRPr>
            </a:pPr>
            <a:r>
              <a:rPr sz="1425" b="1">
                <a:solidFill>
                  <a:srgbClr val="0B39FF"/>
                </a:solidFill>
                <a:latin typeface="Arial"/>
                <a:ea typeface="Arial"/>
                <a:cs typeface="Arial"/>
              </a:rPr>
              <a:t>각 해제는 비용·담당자·산출물·측정에 대한 서면 승인 필요.
기본 커뮤니티 보상, UGC 보상, 구매 게재, 일상 리포팅과 중복 금지.</a:t>
            </a:r>
          </a:p>
          <a:p>
            <a:pPr algn="l">
              <a:defRPr sz="1425" b="1">
                <a:solidFill>
                  <a:srgbClr val="0B39FF"/>
                </a:solidFill>
                <a:latin typeface="Arial"/>
                <a:ea typeface="Arial"/>
                <a:cs typeface="Arial"/>
              </a:defRPr>
            </a:pPr>
            <a:r>
              <a:rPr sz="1425" b="1">
                <a:solidFill>
                  <a:srgbClr val="0B39FF"/>
                </a:solidFill>
                <a:latin typeface="Arial"/>
                <a:ea typeface="Arial"/>
                <a:cs typeface="Arial"/>
              </a:rPr>
              <a:t/>
            </a:r>
          </a:p>
        </p:txBody>
      </p:sp>
    </p:spTree>
    <p:extLst>
      <p:ext uri="{BB962C8B-B14F-4D97-AF65-F5344CB8AC3E}">
        <p14:creationId xmlns:p14="http://schemas.microsoft.com/office/powerpoint/2010/main" val="102927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1EEA54-336E-4DF1-874B-9657AA81E068}"/>
              </a:ext>
            </a:extLst>
          </p:cNvPr>
          <p:cNvSpPr>
            <a:spLocks noGrp="1"/>
          </p:cNvSpPr>
          <p:nvPr/>
        </p:nvSpPr>
        <p:spPr>
          <a:xfrm>
            <a:off x="0" y="0"/>
            <a:ext cx="12191695" cy="6858000"/>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3" name="Picture 2"/>
          <p:cNvPicPr>
            <a:picLocks noChangeAspect="1"/>
          </p:cNvPicPr>
          <p:nvPr/>
        </p:nvPicPr>
        <p:blipFill>
          <a:blip r:embed="rId3"/>
          <a:stretch>
            <a:fillRect/>
          </a:stretch>
        </p:blipFill>
        <p:spPr>
          <a:xfrm>
            <a:off x="952500" y="685800"/>
            <a:ext cx="762000" cy="762000"/>
          </a:xfrm>
          <a:prstGeom prst="rect">
            <a:avLst/>
          </a:prstGeom>
        </p:spPr>
      </p:pic>
      <p:sp>
        <p:nvSpPr>
          <p:cNvPr id="8" name="closing-title">
            <a:extLst>
              <a:ext uri="{FF2B5EF4-FFF2-40B4-BE49-F238E27FC236}">
                <a16:creationId xmlns:a16="http://schemas.microsoft.com/office/drawing/2014/main" id="{67663837-BCF0-4B79-BAA2-83C2FE1698F0}"/>
              </a:ext>
            </a:extLst>
          </p:cNvPr>
          <p:cNvSpPr>
            <a:spLocks noGrp="1"/>
          </p:cNvSpPr>
          <p:nvPr/>
        </p:nvSpPr>
        <p:spPr>
          <a:xfrm>
            <a:off x="962025" y="1790700"/>
            <a:ext cx="10287000" cy="600075"/>
          </a:xfrm>
          <a:prstGeom prst="rect">
            <a:avLst/>
          </a:prstGeom>
          <a:noFill/>
          <a:ln w="0">
            <a:noFill/>
          </a:ln>
        </p:spPr>
        <p:txBody>
          <a:bodyPr wrap="square" lIns="0" tIns="0" rIns="0" bIns="0" anchor="t">
            <a:noAutofit/>
          </a:bodyPr>
          <a:lstStyle/>
          <a:p>
            <a:pPr algn="l">
              <a:defRPr sz="3000" b="1">
                <a:solidFill>
                  <a:srgbClr val="FFFFFF"/>
                </a:solidFill>
                <a:latin typeface="Arial"/>
                <a:ea typeface="Arial"/>
                <a:cs typeface="Arial"/>
              </a:defRPr>
            </a:pPr>
            <a:r>
              <a:rPr sz="3000" b="1">
                <a:solidFill>
                  <a:srgbClr val="FFFFFF"/>
                </a:solidFill>
                <a:latin typeface="Arial"/>
                <a:ea typeface="Arial"/>
                <a:cs typeface="Arial"/>
              </a:rPr>
              <a:t>론칭 의사결정과 다음 단계</a:t>
            </a:r>
          </a:p>
        </p:txBody>
      </p:sp>
      <p:sp>
        <p:nvSpPr>
          <p:cNvPr id="9" name="decision-list">
            <a:extLst>
              <a:ext uri="{FF2B5EF4-FFF2-40B4-BE49-F238E27FC236}">
                <a16:creationId xmlns:a16="http://schemas.microsoft.com/office/drawing/2014/main" id="{E3E09031-6D4F-445A-81B5-B9CF7F26EEDC}"/>
              </a:ext>
            </a:extLst>
          </p:cNvPr>
          <p:cNvSpPr>
            <a:spLocks noGrp="1"/>
          </p:cNvSpPr>
          <p:nvPr/>
        </p:nvSpPr>
        <p:spPr>
          <a:xfrm>
            <a:off x="962025" y="2676525"/>
            <a:ext cx="10382250" cy="2809875"/>
          </a:xfrm>
          <a:prstGeom prst="rect">
            <a:avLst/>
          </a:prstGeom>
          <a:noFill/>
          <a:ln w="0">
            <a:noFill/>
          </a:ln>
        </p:spPr>
        <p:txBody>
          <a:bodyPr wrap="square" lIns="0" tIns="0" rIns="0" bIns="0" anchor="t">
            <a:noAutofit/>
          </a:bodyPr>
          <a:lstStyle/>
          <a:p>
            <a:pPr algn="l">
              <a:defRPr sz="1800">
                <a:solidFill>
                  <a:srgbClr val="FFFFFF"/>
                </a:solidFill>
                <a:latin typeface="Arial"/>
                <a:ea typeface="Arial"/>
                <a:cs typeface="Arial"/>
              </a:defRPr>
            </a:pPr>
            <a:r>
              <a:rPr sz="1800">
                <a:solidFill>
                  <a:srgbClr val="FFFFFF"/>
                </a:solidFill>
                <a:latin typeface="Arial"/>
                <a:ea typeface="Arial"/>
                <a:cs typeface="Arial"/>
              </a:rPr>
              <a:t>01  $50,000 한도와 3개월 범위 승인.
02  킥오프, 캠페인 마일스톤, 한국 공급자 적격성 확정.
03  제품·대변인·애널리틱스·승인 담당자 지정.
04  공식 채널, 브랜드 자산, 승인된 제품/리스크 카피 제공.
05  견적, 리뷰 타이밍, 리저브 해제 워크플로 확정.</a:t>
            </a:r>
          </a:p>
          <a:p>
            <a:endParaRPr sz="1800">
              <a:solidFill>
                <a:srgbClr val="FFFFFF"/>
              </a:solidFill>
              <a:latin typeface="Arial"/>
              <a:ea typeface="Arial"/>
              <a:cs typeface="Arial"/>
            </a:endParaRPr>
          </a:p>
          <a:p>
            <a:pPr algn="l">
              <a:defRPr sz="1800">
                <a:solidFill>
                  <a:srgbClr val="FFFFFF"/>
                </a:solidFill>
                <a:latin typeface="Arial"/>
                <a:ea typeface="Arial"/>
                <a:cs typeface="Arial"/>
              </a:defRPr>
            </a:pPr>
            <a:r>
              <a:rPr sz="1800">
                <a:solidFill>
                  <a:srgbClr val="FFFFFF"/>
                </a:solidFill>
                <a:latin typeface="Arial"/>
                <a:ea typeface="Arial"/>
                <a:cs typeface="Arial"/>
              </a:rPr>
              <a:t/>
            </a:r>
          </a:p>
          <a:p>
            <a:endParaRPr sz="1800">
              <a:solidFill>
                <a:srgbClr val="FFFFFF"/>
              </a:solidFill>
              <a:latin typeface="Arial"/>
              <a:ea typeface="Arial"/>
              <a:cs typeface="Arial"/>
            </a:endParaRPr>
          </a:p>
          <a:p>
            <a:pPr algn="l">
              <a:defRPr sz="1800">
                <a:solidFill>
                  <a:srgbClr val="FFFFFF"/>
                </a:solidFill>
                <a:latin typeface="Arial"/>
                <a:ea typeface="Arial"/>
                <a:cs typeface="Arial"/>
              </a:defRPr>
            </a:pPr>
            <a:r>
              <a:rPr sz="1800">
                <a:solidFill>
                  <a:srgbClr val="FFFFFF"/>
                </a:solidFill>
                <a:latin typeface="Arial"/>
                <a:ea typeface="Arial"/>
                <a:cs typeface="Arial"/>
              </a:rPr>
              <a:t/>
            </a:r>
          </a:p>
          <a:p>
            <a:endParaRPr sz="1800">
              <a:solidFill>
                <a:srgbClr val="FFFFFF"/>
              </a:solidFill>
              <a:latin typeface="Arial"/>
              <a:ea typeface="Arial"/>
              <a:cs typeface="Arial"/>
            </a:endParaRPr>
          </a:p>
          <a:p>
            <a:pPr algn="l">
              <a:defRPr sz="1800">
                <a:solidFill>
                  <a:srgbClr val="FFFFFF"/>
                </a:solidFill>
                <a:latin typeface="Arial"/>
                <a:ea typeface="Arial"/>
                <a:cs typeface="Arial"/>
              </a:defRPr>
            </a:pPr>
            <a:r>
              <a:rPr sz="1800">
                <a:solidFill>
                  <a:srgbClr val="FFFFFF"/>
                </a:solidFill>
                <a:latin typeface="Arial"/>
                <a:ea typeface="Arial"/>
                <a:cs typeface="Arial"/>
              </a:rPr>
              <a:t/>
            </a:r>
          </a:p>
          <a:p>
            <a:endParaRPr sz="1800">
              <a:solidFill>
                <a:srgbClr val="FFFFFF"/>
              </a:solidFill>
              <a:latin typeface="Arial"/>
              <a:ea typeface="Arial"/>
              <a:cs typeface="Arial"/>
            </a:endParaRPr>
          </a:p>
          <a:p>
            <a:pPr algn="l">
              <a:defRPr sz="1800">
                <a:solidFill>
                  <a:srgbClr val="FFFFFF"/>
                </a:solidFill>
                <a:latin typeface="Arial"/>
                <a:ea typeface="Arial"/>
                <a:cs typeface="Arial"/>
              </a:defRPr>
            </a:pPr>
            <a:r>
              <a:rPr sz="1800">
                <a:solidFill>
                  <a:srgbClr val="FFFFFF"/>
                </a:solidFill>
                <a:latin typeface="Arial"/>
                <a:ea typeface="Arial"/>
                <a:cs typeface="Arial"/>
              </a:rPr>
              <a:t/>
            </a:r>
          </a:p>
        </p:txBody>
      </p:sp>
      <p:sp>
        <p:nvSpPr>
          <p:cNvPr id="10" name="owners">
            <a:extLst>
              <a:ext uri="{FF2B5EF4-FFF2-40B4-BE49-F238E27FC236}">
                <a16:creationId xmlns:a16="http://schemas.microsoft.com/office/drawing/2014/main" id="{CEBA6D71-97F7-46A2-89A1-14EA1E7B3138}"/>
              </a:ext>
            </a:extLst>
          </p:cNvPr>
          <p:cNvSpPr>
            <a:spLocks noGrp="1"/>
          </p:cNvSpPr>
          <p:nvPr/>
        </p:nvSpPr>
        <p:spPr>
          <a:xfrm>
            <a:off x="962025" y="5819775"/>
            <a:ext cx="10287000" cy="447675"/>
          </a:xfrm>
          <a:prstGeom prst="rect">
            <a:avLst/>
          </a:prstGeom>
          <a:noFill/>
          <a:ln w="0">
            <a:noFill/>
          </a:ln>
        </p:spPr>
        <p:txBody>
          <a:bodyPr wrap="square" lIns="0" tIns="0" rIns="0" bIns="0" anchor="t">
            <a:no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HOPE: 한국어 실행, 파트너, 리포팅  |  3Jane: 제품 사실, 적격성, 최종 승인</a:t>
            </a:r>
          </a:p>
        </p:txBody>
      </p:sp>
      <p:sp>
        <p:nvSpPr>
          <p:cNvPr id="11" name="closing-footer">
            <a:extLst>
              <a:ext uri="{FF2B5EF4-FFF2-40B4-BE49-F238E27FC236}">
                <a16:creationId xmlns:a16="http://schemas.microsoft.com/office/drawing/2014/main" id="{FC97EFE0-5595-4A43-9A53-86C5CA81A611}"/>
              </a:ext>
            </a:extLst>
          </p:cNvPr>
          <p:cNvSpPr>
            <a:spLocks noGrp="1"/>
          </p:cNvSpPr>
          <p:nvPr/>
        </p:nvSpPr>
        <p:spPr>
          <a:xfrm>
            <a:off x="962025" y="6400800"/>
            <a:ext cx="10287000" cy="238125"/>
          </a:xfrm>
          <a:prstGeom prst="rect">
            <a:avLst/>
          </a:prstGeom>
          <a:noFill/>
          <a:ln w="0">
            <a:noFill/>
          </a:ln>
        </p:spPr>
        <p:txBody>
          <a:bodyPr wrap="square" lIns="0" tIns="0" rIns="0" bIns="0" anchor="t">
            <a:noAutofit/>
          </a:bodyPr>
          <a:lstStyle/>
          <a:p>
            <a:pPr algn="l">
              <a:defRPr sz="1200">
                <a:solidFill>
                  <a:srgbClr val="DDE6FF"/>
                </a:solidFill>
                <a:latin typeface="Arial"/>
                <a:ea typeface="Arial"/>
                <a:cs typeface="Arial"/>
              </a:defRPr>
            </a:pPr>
            <a:r>
              <a:rPr sz="1200">
                <a:solidFill>
                  <a:srgbClr val="DDE6FF"/>
                </a:solidFill>
                <a:latin typeface="Arial"/>
                <a:ea typeface="Arial"/>
                <a:cs typeface="Arial"/>
              </a:rPr>
              <a:t>작성: HOPE  •  제안 리뷰 윈도우: 영업일 2일</a:t>
            </a:r>
          </a:p>
        </p:txBody>
      </p:sp>
    </p:spTree>
    <p:extLst>
      <p:ext uri="{BB962C8B-B14F-4D97-AF65-F5344CB8AC3E}">
        <p14:creationId xmlns:p14="http://schemas.microsoft.com/office/powerpoint/2010/main" val="633480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69A62C-D36C-4C85-BD72-8545432287FF}"/>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9D84B8B0-4ECA-4177-8A98-3D3D0569EC58}"/>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5F8AAE7-4170-453C-BE26-CA517504AF1D}"/>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52"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92834580-FF58-47B8-AA33-1FB4B5215A20}"/>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AFB4FB54-A77D-48EE-B929-7E12BA2B374E}"/>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3F99BC2A-4654-4C5E-B536-7D00C9BE45B8}"/>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18</a:t>
            </a:r>
          </a:p>
        </p:txBody>
      </p:sp>
      <p:sp>
        <p:nvSpPr>
          <p:cNvPr id="10" name="TextBox 9">
            <a:extLst>
              <a:ext uri="{FF2B5EF4-FFF2-40B4-BE49-F238E27FC236}">
                <a16:creationId xmlns:a16="http://schemas.microsoft.com/office/drawing/2014/main" id="{C84F9440-E523-4CB4-A419-10FC0DD6338A}"/>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A1. 커뮤니티 포맷 참고</a:t>
            </a:r>
          </a:p>
        </p:txBody>
      </p:sp>
      <p:sp>
        <p:nvSpPr>
          <p:cNvPr id="11" name="Rectangle 10">
            <a:extLst>
              <a:ext uri="{FF2B5EF4-FFF2-40B4-BE49-F238E27FC236}">
                <a16:creationId xmlns:a16="http://schemas.microsoft.com/office/drawing/2014/main" id="{E6FC51A0-F62D-46BB-8CBA-E82DB9DBAEAF}"/>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reference-label-0">
            <a:extLst>
              <a:ext uri="{FF2B5EF4-FFF2-40B4-BE49-F238E27FC236}">
                <a16:creationId xmlns:a16="http://schemas.microsoft.com/office/drawing/2014/main" id="{CE83C678-8EC7-4423-94F5-CD3F36513B09}"/>
              </a:ext>
            </a:extLst>
          </p:cNvPr>
          <p:cNvSpPr>
            <a:spLocks noGrp="1"/>
          </p:cNvSpPr>
          <p:nvPr/>
        </p:nvSpPr>
        <p:spPr>
          <a:xfrm>
            <a:off x="962025" y="205740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공식 커뮤니티 허브</a:t>
            </a:r>
          </a:p>
        </p:txBody>
      </p:sp>
      <p:sp>
        <p:nvSpPr>
          <p:cNvPr id="42" name="reference-copy-0">
            <a:extLst>
              <a:ext uri="{FF2B5EF4-FFF2-40B4-BE49-F238E27FC236}">
                <a16:creationId xmlns:a16="http://schemas.microsoft.com/office/drawing/2014/main" id="{76104FE9-A31F-4F3F-8361-2A4FAC7DEB4C}"/>
              </a:ext>
            </a:extLst>
          </p:cNvPr>
          <p:cNvSpPr>
            <a:spLocks noGrp="1"/>
          </p:cNvSpPr>
          <p:nvPr/>
        </p:nvSpPr>
        <p:spPr>
          <a:xfrm>
            <a:off x="962025" y="245745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고정 온보딩, 명확한 규칙, 신뢰할 수 있는 업데이트 채널.</a:t>
            </a:r>
          </a:p>
        </p:txBody>
      </p:sp>
      <p:sp>
        <p:nvSpPr>
          <p:cNvPr id="43" name="reference-label-1">
            <a:extLst>
              <a:ext uri="{FF2B5EF4-FFF2-40B4-BE49-F238E27FC236}">
                <a16:creationId xmlns:a16="http://schemas.microsoft.com/office/drawing/2014/main" id="{0334D1B9-6D7D-4D45-A911-2B97ECD80653}"/>
              </a:ext>
            </a:extLst>
          </p:cNvPr>
          <p:cNvSpPr>
            <a:spLocks noGrp="1"/>
          </p:cNvSpPr>
          <p:nvPr/>
        </p:nvSpPr>
        <p:spPr>
          <a:xfrm>
            <a:off x="962025" y="3248025"/>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교육과 지원</a:t>
            </a:r>
          </a:p>
        </p:txBody>
      </p:sp>
      <p:sp>
        <p:nvSpPr>
          <p:cNvPr id="44" name="reference-copy-1">
            <a:extLst>
              <a:ext uri="{FF2B5EF4-FFF2-40B4-BE49-F238E27FC236}">
                <a16:creationId xmlns:a16="http://schemas.microsoft.com/office/drawing/2014/main" id="{C82F4EE5-7B14-4120-9558-970C716FD904}"/>
              </a:ext>
            </a:extLst>
          </p:cNvPr>
          <p:cNvSpPr>
            <a:spLocks noGrp="1"/>
          </p:cNvSpPr>
          <p:nvPr/>
        </p:nvSpPr>
        <p:spPr>
          <a:xfrm>
            <a:off x="962025" y="3648075"/>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FAQ를 최신으로 유지하고 제품 질문은 에스컬레이션.</a:t>
            </a:r>
          </a:p>
        </p:txBody>
      </p:sp>
      <p:sp>
        <p:nvSpPr>
          <p:cNvPr id="45" name="reference-label-2">
            <a:extLst>
              <a:ext uri="{FF2B5EF4-FFF2-40B4-BE49-F238E27FC236}">
                <a16:creationId xmlns:a16="http://schemas.microsoft.com/office/drawing/2014/main" id="{2B712C88-E63E-420E-8F75-709B392F8552}"/>
              </a:ext>
            </a:extLst>
          </p:cNvPr>
          <p:cNvSpPr>
            <a:spLocks noGrp="1"/>
          </p:cNvSpPr>
          <p:nvPr/>
        </p:nvSpPr>
        <p:spPr>
          <a:xfrm>
            <a:off x="962025" y="443865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캠페인 진입점</a:t>
            </a:r>
          </a:p>
        </p:txBody>
      </p:sp>
      <p:sp>
        <p:nvSpPr>
          <p:cNvPr id="46" name="reference-copy-2">
            <a:extLst>
              <a:ext uri="{FF2B5EF4-FFF2-40B4-BE49-F238E27FC236}">
                <a16:creationId xmlns:a16="http://schemas.microsoft.com/office/drawing/2014/main" id="{B9ABF788-B12A-477E-B662-23BD84D473A6}"/>
              </a:ext>
            </a:extLst>
          </p:cNvPr>
          <p:cNvSpPr>
            <a:spLocks noGrp="1"/>
          </p:cNvSpPr>
          <p:nvPr/>
        </p:nvSpPr>
        <p:spPr>
          <a:xfrm>
            <a:off x="962025" y="483870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사용자를 AMA, 크리에이터 콘텐츠, 승인 활동으로 유도.</a:t>
            </a:r>
          </a:p>
        </p:txBody>
      </p:sp>
      <p:sp>
        <p:nvSpPr>
          <p:cNvPr id="47" name="reference-disclaimer">
            <a:extLst>
              <a:ext uri="{FF2B5EF4-FFF2-40B4-BE49-F238E27FC236}">
                <a16:creationId xmlns:a16="http://schemas.microsoft.com/office/drawing/2014/main" id="{AF19247C-EDEC-481B-AD75-F2ED1A86813C}"/>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pic>
        <p:nvPicPr>
          <p:cNvPr id="12" name="그림 11">
            <a:extLst>
              <a:ext uri="{FF2B5EF4-FFF2-40B4-BE49-F238E27FC236}">
                <a16:creationId xmlns:a16="http://schemas.microsoft.com/office/drawing/2014/main" id="{3DCEF1A6-4E5E-9CED-14F6-88F3098925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30556" y="1231392"/>
            <a:ext cx="5932781" cy="4563678"/>
          </a:xfrm>
          <a:prstGeom prst="rect">
            <a:avLst/>
          </a:prstGeom>
        </p:spPr>
      </p:pic>
    </p:spTree>
    <p:extLst>
      <p:ext uri="{BB962C8B-B14F-4D97-AF65-F5344CB8AC3E}">
        <p14:creationId xmlns:p14="http://schemas.microsoft.com/office/powerpoint/2010/main" val="1552853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9EEB2A-09EE-4CEB-9390-91EE4C27B9B0}"/>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0A2BAAD8-9F23-45F1-A0F3-19319BE413B8}"/>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817F25D-6358-4170-8962-AB4465AA7788}"/>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7"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478F02CD-1789-48F7-B820-D60B80D3ED4E}"/>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0E1E2052-314C-4694-BF36-AF3AB0568F9A}"/>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9EA86E01-E3C0-460D-A1A4-ACBAD368FB2A}"/>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19</a:t>
            </a:r>
          </a:p>
        </p:txBody>
      </p:sp>
      <p:sp>
        <p:nvSpPr>
          <p:cNvPr id="10" name="TextBox 9">
            <a:extLst>
              <a:ext uri="{FF2B5EF4-FFF2-40B4-BE49-F238E27FC236}">
                <a16:creationId xmlns:a16="http://schemas.microsoft.com/office/drawing/2014/main" id="{FF6B132E-0151-4CBF-8B21-E4CE10985C93}"/>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A2. AMA 포맷 참고</a:t>
            </a:r>
          </a:p>
        </p:txBody>
      </p:sp>
      <p:sp>
        <p:nvSpPr>
          <p:cNvPr id="11" name="Rectangle 10">
            <a:extLst>
              <a:ext uri="{FF2B5EF4-FFF2-40B4-BE49-F238E27FC236}">
                <a16:creationId xmlns:a16="http://schemas.microsoft.com/office/drawing/2014/main" id="{AE2F6717-1AD1-459E-8673-990D4C79AB5C}"/>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eference-label-0">
            <a:extLst>
              <a:ext uri="{FF2B5EF4-FFF2-40B4-BE49-F238E27FC236}">
                <a16:creationId xmlns:a16="http://schemas.microsoft.com/office/drawing/2014/main" id="{55E2541C-5202-4303-8D9B-63EFE4DE9669}"/>
              </a:ext>
            </a:extLst>
          </p:cNvPr>
          <p:cNvSpPr>
            <a:spLocks noGrp="1"/>
          </p:cNvSpPr>
          <p:nvPr/>
        </p:nvSpPr>
        <p:spPr>
          <a:xfrm>
            <a:off x="962025" y="205740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전문가 주도 토론</a:t>
            </a:r>
          </a:p>
        </p:txBody>
      </p:sp>
      <p:sp>
        <p:nvSpPr>
          <p:cNvPr id="37" name="reference-copy-0">
            <a:extLst>
              <a:ext uri="{FF2B5EF4-FFF2-40B4-BE49-F238E27FC236}">
                <a16:creationId xmlns:a16="http://schemas.microsoft.com/office/drawing/2014/main" id="{35EDF254-8B10-4465-B623-CE9E76E4D74F}"/>
              </a:ext>
            </a:extLst>
          </p:cNvPr>
          <p:cNvSpPr>
            <a:spLocks noGrp="1"/>
          </p:cNvSpPr>
          <p:nvPr/>
        </p:nvSpPr>
        <p:spPr>
          <a:xfrm>
            <a:off x="962025" y="245745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승인된 연사로 제품과 리스크를 설명.</a:t>
            </a:r>
          </a:p>
        </p:txBody>
      </p:sp>
      <p:sp>
        <p:nvSpPr>
          <p:cNvPr id="38" name="reference-label-1">
            <a:extLst>
              <a:ext uri="{FF2B5EF4-FFF2-40B4-BE49-F238E27FC236}">
                <a16:creationId xmlns:a16="http://schemas.microsoft.com/office/drawing/2014/main" id="{403784A4-806D-40EE-BC24-4B00B5F3F174}"/>
              </a:ext>
            </a:extLst>
          </p:cNvPr>
          <p:cNvSpPr>
            <a:spLocks noGrp="1"/>
          </p:cNvSpPr>
          <p:nvPr/>
        </p:nvSpPr>
        <p:spPr>
          <a:xfrm>
            <a:off x="962025" y="3248025"/>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재사용 가능한 한국어 요약</a:t>
            </a:r>
          </a:p>
        </p:txBody>
      </p:sp>
      <p:sp>
        <p:nvSpPr>
          <p:cNvPr id="39" name="reference-copy-1">
            <a:extLst>
              <a:ext uri="{FF2B5EF4-FFF2-40B4-BE49-F238E27FC236}">
                <a16:creationId xmlns:a16="http://schemas.microsoft.com/office/drawing/2014/main" id="{63DBB78F-03E2-43EC-B585-FA38B9B378C3}"/>
              </a:ext>
            </a:extLst>
          </p:cNvPr>
          <p:cNvSpPr>
            <a:spLocks noGrp="1"/>
          </p:cNvSpPr>
          <p:nvPr/>
        </p:nvSpPr>
        <p:spPr>
          <a:xfrm>
            <a:off x="962025" y="3648075"/>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승인된 핵심을 지속 가능한 로컬 교육으로 전환.</a:t>
            </a:r>
          </a:p>
        </p:txBody>
      </p:sp>
      <p:sp>
        <p:nvSpPr>
          <p:cNvPr id="40" name="reference-label-2">
            <a:extLst>
              <a:ext uri="{FF2B5EF4-FFF2-40B4-BE49-F238E27FC236}">
                <a16:creationId xmlns:a16="http://schemas.microsoft.com/office/drawing/2014/main" id="{8A2FEC98-BD2C-42B0-9188-9D4F29BCD5AC}"/>
              </a:ext>
            </a:extLst>
          </p:cNvPr>
          <p:cNvSpPr>
            <a:spLocks noGrp="1"/>
          </p:cNvSpPr>
          <p:nvPr/>
        </p:nvSpPr>
        <p:spPr>
          <a:xfrm>
            <a:off x="962025" y="443865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참여 측정</a:t>
            </a:r>
          </a:p>
        </p:txBody>
      </p:sp>
      <p:sp>
        <p:nvSpPr>
          <p:cNvPr id="41" name="reference-copy-2">
            <a:extLst>
              <a:ext uri="{FF2B5EF4-FFF2-40B4-BE49-F238E27FC236}">
                <a16:creationId xmlns:a16="http://schemas.microsoft.com/office/drawing/2014/main" id="{EC06559B-CC3F-4272-8044-0F4110F3CF6D}"/>
              </a:ext>
            </a:extLst>
          </p:cNvPr>
          <p:cNvSpPr>
            <a:spLocks noGrp="1"/>
          </p:cNvSpPr>
          <p:nvPr/>
        </p:nvSpPr>
        <p:spPr>
          <a:xfrm>
            <a:off x="962025" y="483870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검증 가능한 라이브 참여자와 리플레이 조회수를 구분.</a:t>
            </a:r>
          </a:p>
        </p:txBody>
      </p:sp>
      <p:sp>
        <p:nvSpPr>
          <p:cNvPr id="42" name="reference-disclaimer">
            <a:extLst>
              <a:ext uri="{FF2B5EF4-FFF2-40B4-BE49-F238E27FC236}">
                <a16:creationId xmlns:a16="http://schemas.microsoft.com/office/drawing/2014/main" id="{207CB578-23AB-4A79-8641-27DE00D956F3}"/>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pic>
        <p:nvPicPr>
          <p:cNvPr id="12" name="그림 11">
            <a:extLst>
              <a:ext uri="{FF2B5EF4-FFF2-40B4-BE49-F238E27FC236}">
                <a16:creationId xmlns:a16="http://schemas.microsoft.com/office/drawing/2014/main" id="{6A914B93-6E90-44C7-B8DF-30C65714B8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94915" y="1835881"/>
            <a:ext cx="1366520" cy="524588"/>
          </a:xfrm>
          <a:prstGeom prst="rect">
            <a:avLst/>
          </a:prstGeom>
        </p:spPr>
      </p:pic>
      <p:pic>
        <p:nvPicPr>
          <p:cNvPr id="14" name="그림 13">
            <a:extLst>
              <a:ext uri="{FF2B5EF4-FFF2-40B4-BE49-F238E27FC236}">
                <a16:creationId xmlns:a16="http://schemas.microsoft.com/office/drawing/2014/main" id="{4386EAB7-54A4-9C47-8E28-EA492ADFBC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30115" y="742757"/>
            <a:ext cx="5255635" cy="4987831"/>
          </a:xfrm>
          <a:prstGeom prst="rect">
            <a:avLst/>
          </a:prstGeom>
        </p:spPr>
      </p:pic>
    </p:spTree>
    <p:extLst>
      <p:ext uri="{BB962C8B-B14F-4D97-AF65-F5344CB8AC3E}">
        <p14:creationId xmlns:p14="http://schemas.microsoft.com/office/powerpoint/2010/main" val="2129828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5F1F57-AD7C-41A7-A758-FACD55F30799}"/>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9570554B-72C5-4D04-A3BB-800113B8D0CA}"/>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F6FFF33-1AD8-4AAF-99BA-BC1EA7E4D51A}"/>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7"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216292C0-1A36-444E-BF60-C1F539F2E555}"/>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626064A6-82F4-4E43-8A4D-BAB79E4284A3}"/>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9D1A15B1-537D-46D1-8DB8-97664EA20520}"/>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20</a:t>
            </a:r>
          </a:p>
        </p:txBody>
      </p:sp>
      <p:sp>
        <p:nvSpPr>
          <p:cNvPr id="10" name="TextBox 9">
            <a:extLst>
              <a:ext uri="{FF2B5EF4-FFF2-40B4-BE49-F238E27FC236}">
                <a16:creationId xmlns:a16="http://schemas.microsoft.com/office/drawing/2014/main" id="{137B251B-E8B7-4212-87DB-835FDA993430}"/>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A3. 유료 배포 참고</a:t>
            </a:r>
          </a:p>
        </p:txBody>
      </p:sp>
      <p:sp>
        <p:nvSpPr>
          <p:cNvPr id="11" name="Rectangle 10">
            <a:extLst>
              <a:ext uri="{FF2B5EF4-FFF2-40B4-BE49-F238E27FC236}">
                <a16:creationId xmlns:a16="http://schemas.microsoft.com/office/drawing/2014/main" id="{66DD7F9C-DC92-405D-B5B6-CF1F2B413A3E}"/>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eference-label-0">
            <a:extLst>
              <a:ext uri="{FF2B5EF4-FFF2-40B4-BE49-F238E27FC236}">
                <a16:creationId xmlns:a16="http://schemas.microsoft.com/office/drawing/2014/main" id="{4FFC9C4C-1F85-4AB2-992C-DE7C14AD1268}"/>
              </a:ext>
            </a:extLst>
          </p:cNvPr>
          <p:cNvSpPr>
            <a:spLocks noGrp="1"/>
          </p:cNvSpPr>
          <p:nvPr/>
        </p:nvSpPr>
        <p:spPr>
          <a:xfrm>
            <a:off x="962025" y="205740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관련 오디언스 적합성</a:t>
            </a:r>
          </a:p>
        </p:txBody>
      </p:sp>
      <p:sp>
        <p:nvSpPr>
          <p:cNvPr id="37" name="reference-copy-0">
            <a:extLst>
              <a:ext uri="{FF2B5EF4-FFF2-40B4-BE49-F238E27FC236}">
                <a16:creationId xmlns:a16="http://schemas.microsoft.com/office/drawing/2014/main" id="{01CBEA80-7DC8-4012-B434-DB17F1AB8800}"/>
              </a:ext>
            </a:extLst>
          </p:cNvPr>
          <p:cNvSpPr>
            <a:spLocks noGrp="1"/>
          </p:cNvSpPr>
          <p:nvPr/>
        </p:nvSpPr>
        <p:spPr>
          <a:xfrm>
            <a:off x="962025" y="245745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오디언스 품질과 주제 전문성으로 크리에이터 선정.</a:t>
            </a:r>
          </a:p>
        </p:txBody>
      </p:sp>
      <p:sp>
        <p:nvSpPr>
          <p:cNvPr id="38" name="reference-label-1">
            <a:extLst>
              <a:ext uri="{FF2B5EF4-FFF2-40B4-BE49-F238E27FC236}">
                <a16:creationId xmlns:a16="http://schemas.microsoft.com/office/drawing/2014/main" id="{680614A3-9AC9-4495-9CCD-A293EE60710B}"/>
              </a:ext>
            </a:extLst>
          </p:cNvPr>
          <p:cNvSpPr>
            <a:spLocks noGrp="1"/>
          </p:cNvSpPr>
          <p:nvPr/>
        </p:nvSpPr>
        <p:spPr>
          <a:xfrm>
            <a:off x="962025" y="3248025"/>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명확한 캠페인 링크</a:t>
            </a:r>
          </a:p>
        </p:txBody>
      </p:sp>
      <p:sp>
        <p:nvSpPr>
          <p:cNvPr id="39" name="reference-copy-1">
            <a:extLst>
              <a:ext uri="{FF2B5EF4-FFF2-40B4-BE49-F238E27FC236}">
                <a16:creationId xmlns:a16="http://schemas.microsoft.com/office/drawing/2014/main" id="{787197B9-890C-4396-8DA1-1F9E90CDC43C}"/>
              </a:ext>
            </a:extLst>
          </p:cNvPr>
          <p:cNvSpPr>
            <a:spLocks noGrp="1"/>
          </p:cNvSpPr>
          <p:nvPr/>
        </p:nvSpPr>
        <p:spPr>
          <a:xfrm>
            <a:off x="962025" y="3648075"/>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스폰서십 고지와 태그된 도착 링크 사용.</a:t>
            </a:r>
          </a:p>
        </p:txBody>
      </p:sp>
      <p:sp>
        <p:nvSpPr>
          <p:cNvPr id="40" name="reference-label-2">
            <a:extLst>
              <a:ext uri="{FF2B5EF4-FFF2-40B4-BE49-F238E27FC236}">
                <a16:creationId xmlns:a16="http://schemas.microsoft.com/office/drawing/2014/main" id="{55EEA79B-1787-4B81-911D-F59CE327F3F2}"/>
              </a:ext>
            </a:extLst>
          </p:cNvPr>
          <p:cNvSpPr>
            <a:spLocks noGrp="1"/>
          </p:cNvSpPr>
          <p:nvPr/>
        </p:nvSpPr>
        <p:spPr>
          <a:xfrm>
            <a:off x="962025" y="443865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근거 기반 최적화</a:t>
            </a:r>
          </a:p>
        </p:txBody>
      </p:sp>
      <p:sp>
        <p:nvSpPr>
          <p:cNvPr id="41" name="reference-copy-2">
            <a:extLst>
              <a:ext uri="{FF2B5EF4-FFF2-40B4-BE49-F238E27FC236}">
                <a16:creationId xmlns:a16="http://schemas.microsoft.com/office/drawing/2014/main" id="{D63F7A63-ED94-41BC-A189-FF8F9767D94B}"/>
              </a:ext>
            </a:extLst>
          </p:cNvPr>
          <p:cNvSpPr>
            <a:spLocks noGrp="1"/>
          </p:cNvSpPr>
          <p:nvPr/>
        </p:nvSpPr>
        <p:spPr>
          <a:xfrm>
            <a:off x="962025" y="483870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스케일 전 게재·조회·클릭 검토.</a:t>
            </a:r>
          </a:p>
        </p:txBody>
      </p:sp>
      <p:sp>
        <p:nvSpPr>
          <p:cNvPr id="42" name="reference-disclaimer">
            <a:extLst>
              <a:ext uri="{FF2B5EF4-FFF2-40B4-BE49-F238E27FC236}">
                <a16:creationId xmlns:a16="http://schemas.microsoft.com/office/drawing/2014/main" id="{88EBEB65-BC15-4B9A-97CD-D39D96E3239A}"/>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pic>
        <p:nvPicPr>
          <p:cNvPr id="12" name="그림 11">
            <a:extLst>
              <a:ext uri="{FF2B5EF4-FFF2-40B4-BE49-F238E27FC236}">
                <a16:creationId xmlns:a16="http://schemas.microsoft.com/office/drawing/2014/main" id="{DC9B264E-7842-62E6-1AEB-D06DAE144B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5900" y="1792605"/>
            <a:ext cx="6012645" cy="3928122"/>
          </a:xfrm>
          <a:prstGeom prst="rect">
            <a:avLst/>
          </a:prstGeom>
        </p:spPr>
      </p:pic>
    </p:spTree>
    <p:extLst>
      <p:ext uri="{BB962C8B-B14F-4D97-AF65-F5344CB8AC3E}">
        <p14:creationId xmlns:p14="http://schemas.microsoft.com/office/powerpoint/2010/main" val="155277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FFFBCC-47E5-45B0-A0E5-4BBD0F5F1027}"/>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EF5D7F34-C35F-4C10-800F-41412745A209}"/>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66FB55AC-7C9F-4C29-8C18-836184412BA8}"/>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7"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499F88AB-7172-4750-AF27-0AF1A8F01FFA}"/>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872712E8-CDC0-4579-87BA-5B4B2F026594}"/>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4482C2FB-D7C0-459F-B654-B4EBF6598EEF}"/>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21</a:t>
            </a:r>
          </a:p>
        </p:txBody>
      </p:sp>
      <p:sp>
        <p:nvSpPr>
          <p:cNvPr id="10" name="TextBox 9">
            <a:extLst>
              <a:ext uri="{FF2B5EF4-FFF2-40B4-BE49-F238E27FC236}">
                <a16:creationId xmlns:a16="http://schemas.microsoft.com/office/drawing/2014/main" id="{A6572E4C-80CD-48B0-872F-A7335566042A}"/>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A4. UGC 포맷 참고</a:t>
            </a:r>
          </a:p>
        </p:txBody>
      </p:sp>
      <p:sp>
        <p:nvSpPr>
          <p:cNvPr id="11" name="Rectangle 10">
            <a:extLst>
              <a:ext uri="{FF2B5EF4-FFF2-40B4-BE49-F238E27FC236}">
                <a16:creationId xmlns:a16="http://schemas.microsoft.com/office/drawing/2014/main" id="{2AD07222-7461-4A04-86A7-54E2BF416980}"/>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eference-label-0">
            <a:extLst>
              <a:ext uri="{FF2B5EF4-FFF2-40B4-BE49-F238E27FC236}">
                <a16:creationId xmlns:a16="http://schemas.microsoft.com/office/drawing/2014/main" id="{0271309B-88E9-4C8D-AF76-06E8A6CF9EE1}"/>
              </a:ext>
            </a:extLst>
          </p:cNvPr>
          <p:cNvSpPr>
            <a:spLocks noGrp="1"/>
          </p:cNvSpPr>
          <p:nvPr/>
        </p:nvSpPr>
        <p:spPr>
          <a:xfrm>
            <a:off x="962025" y="205740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유용한 크리에이터 산출물</a:t>
            </a:r>
          </a:p>
        </p:txBody>
      </p:sp>
      <p:sp>
        <p:nvSpPr>
          <p:cNvPr id="37" name="reference-copy-0">
            <a:extLst>
              <a:ext uri="{FF2B5EF4-FFF2-40B4-BE49-F238E27FC236}">
                <a16:creationId xmlns:a16="http://schemas.microsoft.com/office/drawing/2014/main" id="{C6725409-8D38-45CE-8D9F-BDE252FA24D6}"/>
              </a:ext>
            </a:extLst>
          </p:cNvPr>
          <p:cNvSpPr>
            <a:spLocks noGrp="1"/>
          </p:cNvSpPr>
          <p:nvPr/>
        </p:nvSpPr>
        <p:spPr>
          <a:xfrm>
            <a:off x="962025" y="245745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명확한 설명과 정확한 워크스루 우선.</a:t>
            </a:r>
          </a:p>
        </p:txBody>
      </p:sp>
      <p:sp>
        <p:nvSpPr>
          <p:cNvPr id="38" name="reference-label-1">
            <a:extLst>
              <a:ext uri="{FF2B5EF4-FFF2-40B4-BE49-F238E27FC236}">
                <a16:creationId xmlns:a16="http://schemas.microsoft.com/office/drawing/2014/main" id="{56005756-509C-4AA0-8735-F7F93F805A2D}"/>
              </a:ext>
            </a:extLst>
          </p:cNvPr>
          <p:cNvSpPr>
            <a:spLocks noGrp="1"/>
          </p:cNvSpPr>
          <p:nvPr/>
        </p:nvSpPr>
        <p:spPr>
          <a:xfrm>
            <a:off x="962025" y="3248025"/>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투명한 선정</a:t>
            </a:r>
          </a:p>
        </p:txBody>
      </p:sp>
      <p:sp>
        <p:nvSpPr>
          <p:cNvPr id="39" name="reference-copy-1">
            <a:extLst>
              <a:ext uri="{FF2B5EF4-FFF2-40B4-BE49-F238E27FC236}">
                <a16:creationId xmlns:a16="http://schemas.microsoft.com/office/drawing/2014/main" id="{00AA8F40-90C1-42CB-8BD2-1F59BD17DEE5}"/>
              </a:ext>
            </a:extLst>
          </p:cNvPr>
          <p:cNvSpPr>
            <a:spLocks noGrp="1"/>
          </p:cNvSpPr>
          <p:nvPr/>
        </p:nvSpPr>
        <p:spPr>
          <a:xfrm>
            <a:off x="962025" y="3648075"/>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심사 기준, 보상 조건, 적격성 공개.</a:t>
            </a:r>
          </a:p>
        </p:txBody>
      </p:sp>
      <p:sp>
        <p:nvSpPr>
          <p:cNvPr id="40" name="reference-label-2">
            <a:extLst>
              <a:ext uri="{FF2B5EF4-FFF2-40B4-BE49-F238E27FC236}">
                <a16:creationId xmlns:a16="http://schemas.microsoft.com/office/drawing/2014/main" id="{57FD689D-AA31-4B04-A5F0-64B912C21ADD}"/>
              </a:ext>
            </a:extLst>
          </p:cNvPr>
          <p:cNvSpPr>
            <a:spLocks noGrp="1"/>
          </p:cNvSpPr>
          <p:nvPr/>
        </p:nvSpPr>
        <p:spPr>
          <a:xfrm>
            <a:off x="962025" y="443865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도달보다 품질</a:t>
            </a:r>
          </a:p>
        </p:txBody>
      </p:sp>
      <p:sp>
        <p:nvSpPr>
          <p:cNvPr id="41" name="reference-copy-2">
            <a:extLst>
              <a:ext uri="{FF2B5EF4-FFF2-40B4-BE49-F238E27FC236}">
                <a16:creationId xmlns:a16="http://schemas.microsoft.com/office/drawing/2014/main" id="{3D8F4940-41D9-43FF-B746-38C89C72DF55}"/>
              </a:ext>
            </a:extLst>
          </p:cNvPr>
          <p:cNvSpPr>
            <a:spLocks noGrp="1"/>
          </p:cNvSpPr>
          <p:nvPr/>
        </p:nvSpPr>
        <p:spPr>
          <a:xfrm>
            <a:off x="962025" y="483870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제품 정확성, 리스크 균형, 재사용 권리 검토.</a:t>
            </a:r>
          </a:p>
        </p:txBody>
      </p:sp>
      <p:sp>
        <p:nvSpPr>
          <p:cNvPr id="42" name="reference-disclaimer">
            <a:extLst>
              <a:ext uri="{FF2B5EF4-FFF2-40B4-BE49-F238E27FC236}">
                <a16:creationId xmlns:a16="http://schemas.microsoft.com/office/drawing/2014/main" id="{822B9635-2205-4D4F-BD2E-ADAC0DFDB161}"/>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pic>
        <p:nvPicPr>
          <p:cNvPr id="12" name="그림 11">
            <a:extLst>
              <a:ext uri="{FF2B5EF4-FFF2-40B4-BE49-F238E27FC236}">
                <a16:creationId xmlns:a16="http://schemas.microsoft.com/office/drawing/2014/main" id="{94A9EBDC-6849-F4CC-C7E0-01DF246893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9275" y="728768"/>
            <a:ext cx="5572125" cy="5083006"/>
          </a:xfrm>
          <a:prstGeom prst="rect">
            <a:avLst/>
          </a:prstGeom>
        </p:spPr>
      </p:pic>
    </p:spTree>
    <p:extLst>
      <p:ext uri="{BB962C8B-B14F-4D97-AF65-F5344CB8AC3E}">
        <p14:creationId xmlns:p14="http://schemas.microsoft.com/office/powerpoint/2010/main" val="120879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028B1D-AA7B-41A6-B064-AD0BC962683F}"/>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4D9B0E50-D7BD-4305-9E70-728C513C4112}"/>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CADD6A2-B82D-43D1-A261-43CA1E91F1EB}"/>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52"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E629FBC2-031B-4CDC-AAEA-D183FC039DC1}"/>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E8E0EA46-36EA-4E04-AE25-ED5ACC450456}"/>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7AC02C8C-D6E9-44FF-8AEB-C44E1165C4BF}"/>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22</a:t>
            </a:r>
          </a:p>
        </p:txBody>
      </p:sp>
      <p:sp>
        <p:nvSpPr>
          <p:cNvPr id="10" name="TextBox 9">
            <a:extLst>
              <a:ext uri="{FF2B5EF4-FFF2-40B4-BE49-F238E27FC236}">
                <a16:creationId xmlns:a16="http://schemas.microsoft.com/office/drawing/2014/main" id="{FAD50081-8A68-40B9-A634-4F1A2C4263A3}"/>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A5. 보도 및 검색 참고</a:t>
            </a:r>
          </a:p>
        </p:txBody>
      </p:sp>
      <p:sp>
        <p:nvSpPr>
          <p:cNvPr id="11" name="Rectangle 10">
            <a:extLst>
              <a:ext uri="{FF2B5EF4-FFF2-40B4-BE49-F238E27FC236}">
                <a16:creationId xmlns:a16="http://schemas.microsoft.com/office/drawing/2014/main" id="{6A795A90-CE8B-4B6A-9ADB-7BE4CE248A8E}"/>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reference-label-0">
            <a:extLst>
              <a:ext uri="{FF2B5EF4-FFF2-40B4-BE49-F238E27FC236}">
                <a16:creationId xmlns:a16="http://schemas.microsoft.com/office/drawing/2014/main" id="{577154CB-BAD9-4A61-B2C4-B4D7EA8EFF6F}"/>
              </a:ext>
            </a:extLst>
          </p:cNvPr>
          <p:cNvSpPr>
            <a:spLocks noGrp="1"/>
          </p:cNvSpPr>
          <p:nvPr/>
        </p:nvSpPr>
        <p:spPr>
          <a:xfrm>
            <a:off x="962025" y="205740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현지 언어 설명</a:t>
            </a:r>
          </a:p>
        </p:txBody>
      </p:sp>
      <p:sp>
        <p:nvSpPr>
          <p:cNvPr id="42" name="reference-copy-0">
            <a:extLst>
              <a:ext uri="{FF2B5EF4-FFF2-40B4-BE49-F238E27FC236}">
                <a16:creationId xmlns:a16="http://schemas.microsoft.com/office/drawing/2014/main" id="{EC80BAC0-7646-47A4-AA40-8F44977B23D8}"/>
              </a:ext>
            </a:extLst>
          </p:cNvPr>
          <p:cNvSpPr>
            <a:spLocks noGrp="1"/>
          </p:cNvSpPr>
          <p:nvPr/>
        </p:nvSpPr>
        <p:spPr>
          <a:xfrm>
            <a:off x="962025" y="245745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승인된 정보를 더 쉽게 발견·공유할 수 있게.</a:t>
            </a:r>
          </a:p>
        </p:txBody>
      </p:sp>
      <p:sp>
        <p:nvSpPr>
          <p:cNvPr id="43" name="reference-label-1">
            <a:extLst>
              <a:ext uri="{FF2B5EF4-FFF2-40B4-BE49-F238E27FC236}">
                <a16:creationId xmlns:a16="http://schemas.microsoft.com/office/drawing/2014/main" id="{BDC16544-9203-40D7-86FE-DF660271FA63}"/>
              </a:ext>
            </a:extLst>
          </p:cNvPr>
          <p:cNvSpPr>
            <a:spLocks noGrp="1"/>
          </p:cNvSpPr>
          <p:nvPr/>
        </p:nvSpPr>
        <p:spPr>
          <a:xfrm>
            <a:off x="962025" y="3248025"/>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검증 가능한 게재</a:t>
            </a:r>
          </a:p>
        </p:txBody>
      </p:sp>
      <p:sp>
        <p:nvSpPr>
          <p:cNvPr id="44" name="reference-copy-1">
            <a:extLst>
              <a:ext uri="{FF2B5EF4-FFF2-40B4-BE49-F238E27FC236}">
                <a16:creationId xmlns:a16="http://schemas.microsoft.com/office/drawing/2014/main" id="{E6EEB203-D6BC-4D85-8036-45AA63DF97B4}"/>
              </a:ext>
            </a:extLst>
          </p:cNvPr>
          <p:cNvSpPr>
            <a:spLocks noGrp="1"/>
          </p:cNvSpPr>
          <p:nvPr/>
        </p:nvSpPr>
        <p:spPr>
          <a:xfrm>
            <a:off x="962025" y="3648075"/>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라이브 링크 수집, 유료·어닝 커버리지 구분.</a:t>
            </a:r>
          </a:p>
        </p:txBody>
      </p:sp>
      <p:sp>
        <p:nvSpPr>
          <p:cNvPr id="45" name="reference-label-2">
            <a:extLst>
              <a:ext uri="{FF2B5EF4-FFF2-40B4-BE49-F238E27FC236}">
                <a16:creationId xmlns:a16="http://schemas.microsoft.com/office/drawing/2014/main" id="{4C69B18F-D20A-4498-B359-385FB0740EC0}"/>
              </a:ext>
            </a:extLst>
          </p:cNvPr>
          <p:cNvSpPr>
            <a:spLocks noGrp="1"/>
          </p:cNvSpPr>
          <p:nvPr/>
        </p:nvSpPr>
        <p:spPr>
          <a:xfrm>
            <a:off x="962025" y="443865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검색 가시성 관측</a:t>
            </a:r>
          </a:p>
        </p:txBody>
      </p:sp>
      <p:sp>
        <p:nvSpPr>
          <p:cNvPr id="46" name="reference-copy-2">
            <a:extLst>
              <a:ext uri="{FF2B5EF4-FFF2-40B4-BE49-F238E27FC236}">
                <a16:creationId xmlns:a16="http://schemas.microsoft.com/office/drawing/2014/main" id="{94FCC01F-42E9-4855-B4A6-AD7C66B55C9A}"/>
              </a:ext>
            </a:extLst>
          </p:cNvPr>
          <p:cNvSpPr>
            <a:spLocks noGrp="1"/>
          </p:cNvSpPr>
          <p:nvPr/>
        </p:nvSpPr>
        <p:spPr>
          <a:xfrm>
            <a:off x="962025" y="483870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관측된 색인만 보고; 순위를 약속하지 않음.</a:t>
            </a:r>
          </a:p>
        </p:txBody>
      </p:sp>
      <p:sp>
        <p:nvSpPr>
          <p:cNvPr id="47" name="reference-disclaimer">
            <a:extLst>
              <a:ext uri="{FF2B5EF4-FFF2-40B4-BE49-F238E27FC236}">
                <a16:creationId xmlns:a16="http://schemas.microsoft.com/office/drawing/2014/main" id="{08B11E97-C133-4A8A-901A-5CE8FF435D61}"/>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pic>
        <p:nvPicPr>
          <p:cNvPr id="12" name="그림 11">
            <a:extLst>
              <a:ext uri="{FF2B5EF4-FFF2-40B4-BE49-F238E27FC236}">
                <a16:creationId xmlns:a16="http://schemas.microsoft.com/office/drawing/2014/main" id="{EB2F7A8F-0A61-EFCC-8362-8E9AF9758F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1150" y="1920241"/>
            <a:ext cx="5910389" cy="3898583"/>
          </a:xfrm>
          <a:prstGeom prst="rect">
            <a:avLst/>
          </a:prstGeom>
        </p:spPr>
      </p:pic>
    </p:spTree>
    <p:extLst>
      <p:ext uri="{BB962C8B-B14F-4D97-AF65-F5344CB8AC3E}">
        <p14:creationId xmlns:p14="http://schemas.microsoft.com/office/powerpoint/2010/main" val="156849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42C3C4-8D4A-4FBC-8524-FB87EC2C3449}"/>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99DA0394-EC05-4A2B-AF26-F48A8EB50BBB}"/>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22FE83B1-42ED-4FFA-A1AA-A30A86E7A7D8}"/>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7"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E1EC28AF-6EC4-4201-90C1-C376CA95FFF8}"/>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296819A6-1EF5-48B1-AA29-D678FD2F8A89}"/>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0E415B6E-1540-46DC-A449-F1B6090041C2}"/>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23</a:t>
            </a:r>
          </a:p>
        </p:txBody>
      </p:sp>
      <p:sp>
        <p:nvSpPr>
          <p:cNvPr id="10" name="TextBox 9">
            <a:extLst>
              <a:ext uri="{FF2B5EF4-FFF2-40B4-BE49-F238E27FC236}">
                <a16:creationId xmlns:a16="http://schemas.microsoft.com/office/drawing/2014/main" id="{AF48BAED-BF44-4FA5-890A-8EF1B365FC57}"/>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A6. 인터뷰 포맷 참고</a:t>
            </a:r>
          </a:p>
        </p:txBody>
      </p:sp>
      <p:sp>
        <p:nvSpPr>
          <p:cNvPr id="11" name="Rectangle 10">
            <a:extLst>
              <a:ext uri="{FF2B5EF4-FFF2-40B4-BE49-F238E27FC236}">
                <a16:creationId xmlns:a16="http://schemas.microsoft.com/office/drawing/2014/main" id="{6454D53D-6714-4804-B0B1-1D9A831DB29C}"/>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eference-label-0">
            <a:extLst>
              <a:ext uri="{FF2B5EF4-FFF2-40B4-BE49-F238E27FC236}">
                <a16:creationId xmlns:a16="http://schemas.microsoft.com/office/drawing/2014/main" id="{ADC593F5-8BB0-40F1-A993-92D80D5E9238}"/>
              </a:ext>
            </a:extLst>
          </p:cNvPr>
          <p:cNvSpPr>
            <a:spLocks noGrp="1"/>
          </p:cNvSpPr>
          <p:nvPr/>
        </p:nvSpPr>
        <p:spPr>
          <a:xfrm>
            <a:off x="962025" y="205740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깊이와 맥락</a:t>
            </a:r>
          </a:p>
        </p:txBody>
      </p:sp>
      <p:sp>
        <p:nvSpPr>
          <p:cNvPr id="37" name="reference-copy-0">
            <a:extLst>
              <a:ext uri="{FF2B5EF4-FFF2-40B4-BE49-F238E27FC236}">
                <a16:creationId xmlns:a16="http://schemas.microsoft.com/office/drawing/2014/main" id="{9D702EDE-9124-49A0-AF3E-95AEC7DD975C}"/>
              </a:ext>
            </a:extLst>
          </p:cNvPr>
          <p:cNvSpPr>
            <a:spLocks noGrp="1"/>
          </p:cNvSpPr>
          <p:nvPr/>
        </p:nvSpPr>
        <p:spPr>
          <a:xfrm>
            <a:off x="962025" y="245745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제품 구조와 한국 시장 진출 계획 설명.</a:t>
            </a:r>
          </a:p>
        </p:txBody>
      </p:sp>
      <p:sp>
        <p:nvSpPr>
          <p:cNvPr id="38" name="reference-label-1">
            <a:extLst>
              <a:ext uri="{FF2B5EF4-FFF2-40B4-BE49-F238E27FC236}">
                <a16:creationId xmlns:a16="http://schemas.microsoft.com/office/drawing/2014/main" id="{6D348B19-93F2-48C2-8773-6A929C13FB64}"/>
              </a:ext>
            </a:extLst>
          </p:cNvPr>
          <p:cNvSpPr>
            <a:spLocks noGrp="1"/>
          </p:cNvSpPr>
          <p:nvPr/>
        </p:nvSpPr>
        <p:spPr>
          <a:xfrm>
            <a:off x="962025" y="3248025"/>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승인된 대변인</a:t>
            </a:r>
          </a:p>
        </p:txBody>
      </p:sp>
      <p:sp>
        <p:nvSpPr>
          <p:cNvPr id="39" name="reference-copy-1">
            <a:extLst>
              <a:ext uri="{FF2B5EF4-FFF2-40B4-BE49-F238E27FC236}">
                <a16:creationId xmlns:a16="http://schemas.microsoft.com/office/drawing/2014/main" id="{B598C9B2-7D9F-4773-B335-DFA3668E50BA}"/>
              </a:ext>
            </a:extLst>
          </p:cNvPr>
          <p:cNvSpPr>
            <a:spLocks noGrp="1"/>
          </p:cNvSpPr>
          <p:nvPr/>
        </p:nvSpPr>
        <p:spPr>
          <a:xfrm>
            <a:off x="962025" y="3648075"/>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가용성이 확인된 팀 대표 사용.</a:t>
            </a:r>
          </a:p>
        </p:txBody>
      </p:sp>
      <p:sp>
        <p:nvSpPr>
          <p:cNvPr id="40" name="reference-label-2">
            <a:extLst>
              <a:ext uri="{FF2B5EF4-FFF2-40B4-BE49-F238E27FC236}">
                <a16:creationId xmlns:a16="http://schemas.microsoft.com/office/drawing/2014/main" id="{05AA18A1-CC19-4E2F-B1AD-5E44E6D71CEC}"/>
              </a:ext>
            </a:extLst>
          </p:cNvPr>
          <p:cNvSpPr>
            <a:spLocks noGrp="1"/>
          </p:cNvSpPr>
          <p:nvPr/>
        </p:nvSpPr>
        <p:spPr>
          <a:xfrm>
            <a:off x="962025" y="443865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재사용 참고 자산</a:t>
            </a:r>
          </a:p>
        </p:txBody>
      </p:sp>
      <p:sp>
        <p:nvSpPr>
          <p:cNvPr id="41" name="reference-copy-2">
            <a:extLst>
              <a:ext uri="{FF2B5EF4-FFF2-40B4-BE49-F238E27FC236}">
                <a16:creationId xmlns:a16="http://schemas.microsoft.com/office/drawing/2014/main" id="{6ADF1E64-7E22-4AE4-AADC-3292EF91694F}"/>
              </a:ext>
            </a:extLst>
          </p:cNvPr>
          <p:cNvSpPr>
            <a:spLocks noGrp="1"/>
          </p:cNvSpPr>
          <p:nvPr/>
        </p:nvSpPr>
        <p:spPr>
          <a:xfrm>
            <a:off x="962025" y="483870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커뮤니티 콘텐츠에서 승인된 인터뷰 자료 링크.</a:t>
            </a:r>
          </a:p>
        </p:txBody>
      </p:sp>
      <p:sp>
        <p:nvSpPr>
          <p:cNvPr id="42" name="reference-disclaimer">
            <a:extLst>
              <a:ext uri="{FF2B5EF4-FFF2-40B4-BE49-F238E27FC236}">
                <a16:creationId xmlns:a16="http://schemas.microsoft.com/office/drawing/2014/main" id="{1564BD03-F46D-4218-A0CC-481243139360}"/>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pic>
        <p:nvPicPr>
          <p:cNvPr id="12" name="그림 11">
            <a:extLst>
              <a:ext uri="{FF2B5EF4-FFF2-40B4-BE49-F238E27FC236}">
                <a16:creationId xmlns:a16="http://schemas.microsoft.com/office/drawing/2014/main" id="{CE783C52-8620-BD4C-6141-2B2938893C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1150" y="1664208"/>
            <a:ext cx="5896278" cy="4060106"/>
          </a:xfrm>
          <a:prstGeom prst="rect">
            <a:avLst/>
          </a:prstGeom>
        </p:spPr>
      </p:pic>
    </p:spTree>
    <p:extLst>
      <p:ext uri="{BB962C8B-B14F-4D97-AF65-F5344CB8AC3E}">
        <p14:creationId xmlns:p14="http://schemas.microsoft.com/office/powerpoint/2010/main" val="738320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C91394-CEBD-4B57-891D-B6C4A04AF1F8}"/>
              </a:ext>
            </a:extLst>
          </p:cNvPr>
          <p:cNvSpPr>
            <a:spLocks noGrp="1"/>
          </p:cNvSpPr>
          <p:nvPr/>
        </p:nvSpPr>
        <p:spPr>
          <a:xfrm>
            <a:off x="0" y="256032"/>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6B1DBA29-7BF8-43DE-B724-7C9666D8F095}"/>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8D3C790D-A8CE-4108-BB45-AEB0DEE9F8B3}"/>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50"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1B6759B7-6BAC-401B-BF8B-0AD20DD5FCD3}"/>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FD7806F8-8928-41AF-B150-0E3E82B43495}"/>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62F6A39B-FF36-4A4D-A8CE-CC83E171AFC9}"/>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24</a:t>
            </a:r>
          </a:p>
        </p:txBody>
      </p:sp>
      <p:sp>
        <p:nvSpPr>
          <p:cNvPr id="10" name="TextBox 9">
            <a:extLst>
              <a:ext uri="{FF2B5EF4-FFF2-40B4-BE49-F238E27FC236}">
                <a16:creationId xmlns:a16="http://schemas.microsoft.com/office/drawing/2014/main" id="{FA358EB9-92A9-440B-BD11-20FE07D0C021}"/>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A7. 오프라인 이벤트 포맷 참고</a:t>
            </a:r>
          </a:p>
        </p:txBody>
      </p:sp>
      <p:sp>
        <p:nvSpPr>
          <p:cNvPr id="11" name="Rectangle 10">
            <a:extLst>
              <a:ext uri="{FF2B5EF4-FFF2-40B4-BE49-F238E27FC236}">
                <a16:creationId xmlns:a16="http://schemas.microsoft.com/office/drawing/2014/main" id="{37299C1C-2431-4034-B03E-C954055BB5B8}"/>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reference-disclaimer">
            <a:extLst>
              <a:ext uri="{FF2B5EF4-FFF2-40B4-BE49-F238E27FC236}">
                <a16:creationId xmlns:a16="http://schemas.microsoft.com/office/drawing/2014/main" id="{AD15D5A0-7133-4948-ADD3-D4BC57CCE326}"/>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sp>
        <p:nvSpPr>
          <p:cNvPr id="40" name="event-choice">
            <a:extLst>
              <a:ext uri="{FF2B5EF4-FFF2-40B4-BE49-F238E27FC236}">
                <a16:creationId xmlns:a16="http://schemas.microsoft.com/office/drawing/2014/main" id="{17BC4E09-9044-4A28-B02D-78CFC8AA1306}"/>
              </a:ext>
            </a:extLst>
          </p:cNvPr>
          <p:cNvSpPr>
            <a:spLocks noGrp="1"/>
          </p:cNvSpPr>
          <p:nvPr/>
        </p:nvSpPr>
        <p:spPr>
          <a:xfrm>
            <a:off x="962025" y="5314950"/>
            <a:ext cx="3143250" cy="228600"/>
          </a:xfrm>
          <a:prstGeom prst="rect">
            <a:avLst/>
          </a:prstGeom>
          <a:noFill/>
          <a:ln w="0">
            <a:noFill/>
          </a:ln>
        </p:spPr>
        <p:txBody>
          <a:bodyPr wrap="square" lIns="0" tIns="0" rIns="0" bIns="0" anchor="t">
            <a:noAutofit/>
          </a:bodyPr>
          <a:lstStyle/>
          <a:p>
            <a:pPr algn="l">
              <a:defRPr sz="1275" b="1">
                <a:solidFill>
                  <a:srgbClr val="0B39FF"/>
                </a:solidFill>
                <a:latin typeface="Arial"/>
                <a:ea typeface="Arial"/>
                <a:cs typeface="Arial"/>
              </a:defRPr>
            </a:pPr>
            <a:r>
              <a:rPr sz="1275" b="1">
                <a:solidFill>
                  <a:srgbClr val="0B39FF"/>
                </a:solidFill>
                <a:latin typeface="Arial"/>
                <a:ea typeface="Arial"/>
                <a:cs typeface="Arial"/>
              </a:rPr>
              <a:t>포맷 1개</a:t>
            </a:r>
          </a:p>
        </p:txBody>
      </p:sp>
      <p:sp>
        <p:nvSpPr>
          <p:cNvPr id="41" name="event-choice-copy">
            <a:extLst>
              <a:ext uri="{FF2B5EF4-FFF2-40B4-BE49-F238E27FC236}">
                <a16:creationId xmlns:a16="http://schemas.microsoft.com/office/drawing/2014/main" id="{184B468D-2243-44E6-8B0E-08D8AEA0D958}"/>
              </a:ext>
            </a:extLst>
          </p:cNvPr>
          <p:cNvSpPr>
            <a:spLocks noGrp="1"/>
          </p:cNvSpPr>
          <p:nvPr/>
        </p:nvSpPr>
        <p:spPr>
          <a:xfrm>
            <a:off x="962025" y="5600700"/>
            <a:ext cx="3143250" cy="266700"/>
          </a:xfrm>
          <a:prstGeom prst="rect">
            <a:avLst/>
          </a:prstGeom>
          <a:noFill/>
          <a:ln w="0">
            <a:noFill/>
          </a:ln>
        </p:spPr>
        <p:txBody>
          <a:bodyPr wrap="square" lIns="0" tIns="0" rIns="0" bIns="0" anchor="t">
            <a:noAutofit/>
          </a:bodyPr>
          <a:lstStyle/>
          <a:p>
            <a:pPr algn="l">
              <a:defRPr sz="1275">
                <a:solidFill>
                  <a:srgbClr val="334155"/>
                </a:solidFill>
                <a:latin typeface="Arial"/>
                <a:ea typeface="Arial"/>
                <a:cs typeface="Arial"/>
              </a:defRPr>
            </a:pPr>
            <a:r>
              <a:rPr sz="1275">
                <a:solidFill>
                  <a:srgbClr val="334155"/>
                </a:solidFill>
                <a:latin typeface="Arial"/>
                <a:ea typeface="Arial"/>
                <a:cs typeface="Arial"/>
              </a:rPr>
              <a:t>밋업(최대 100) 또는 디너(약 20).</a:t>
            </a:r>
          </a:p>
        </p:txBody>
      </p:sp>
      <p:sp>
        <p:nvSpPr>
          <p:cNvPr id="42" name="event-focus">
            <a:extLst>
              <a:ext uri="{FF2B5EF4-FFF2-40B4-BE49-F238E27FC236}">
                <a16:creationId xmlns:a16="http://schemas.microsoft.com/office/drawing/2014/main" id="{83465760-805A-430B-B060-2B84E525B92C}"/>
              </a:ext>
            </a:extLst>
          </p:cNvPr>
          <p:cNvSpPr>
            <a:spLocks noGrp="1"/>
          </p:cNvSpPr>
          <p:nvPr/>
        </p:nvSpPr>
        <p:spPr>
          <a:xfrm>
            <a:off x="4467225" y="5314950"/>
            <a:ext cx="3143250" cy="228600"/>
          </a:xfrm>
          <a:prstGeom prst="rect">
            <a:avLst/>
          </a:prstGeom>
          <a:noFill/>
          <a:ln w="0">
            <a:noFill/>
          </a:ln>
        </p:spPr>
        <p:txBody>
          <a:bodyPr wrap="square" lIns="0" tIns="0" rIns="0" bIns="0" anchor="t">
            <a:noAutofit/>
          </a:bodyPr>
          <a:lstStyle/>
          <a:p>
            <a:pPr algn="l">
              <a:defRPr sz="1275" b="1">
                <a:solidFill>
                  <a:srgbClr val="0B39FF"/>
                </a:solidFill>
                <a:latin typeface="Arial"/>
                <a:ea typeface="Arial"/>
                <a:cs typeface="Arial"/>
              </a:defRPr>
            </a:pPr>
            <a:r>
              <a:rPr sz="1275" b="1">
                <a:solidFill>
                  <a:srgbClr val="0B39FF"/>
                </a:solidFill>
                <a:latin typeface="Arial"/>
                <a:ea typeface="Arial"/>
                <a:cs typeface="Arial"/>
              </a:rPr>
              <a:t>집중 토론</a:t>
            </a:r>
          </a:p>
        </p:txBody>
      </p:sp>
      <p:sp>
        <p:nvSpPr>
          <p:cNvPr id="43" name="event-focus-copy">
            <a:extLst>
              <a:ext uri="{FF2B5EF4-FFF2-40B4-BE49-F238E27FC236}">
                <a16:creationId xmlns:a16="http://schemas.microsoft.com/office/drawing/2014/main" id="{6F820D04-A194-409E-BD73-2D098B8000B9}"/>
              </a:ext>
            </a:extLst>
          </p:cNvPr>
          <p:cNvSpPr>
            <a:spLocks noGrp="1"/>
          </p:cNvSpPr>
          <p:nvPr/>
        </p:nvSpPr>
        <p:spPr>
          <a:xfrm>
            <a:off x="4467225" y="5600700"/>
            <a:ext cx="3143250" cy="266700"/>
          </a:xfrm>
          <a:prstGeom prst="rect">
            <a:avLst/>
          </a:prstGeom>
          <a:noFill/>
          <a:ln w="0">
            <a:noFill/>
          </a:ln>
        </p:spPr>
        <p:txBody>
          <a:bodyPr wrap="square" lIns="0" tIns="0" rIns="0" bIns="0" anchor="t">
            <a:noAutofit/>
          </a:bodyPr>
          <a:lstStyle/>
          <a:p>
            <a:pPr algn="l">
              <a:defRPr sz="1275">
                <a:solidFill>
                  <a:srgbClr val="334155"/>
                </a:solidFill>
                <a:latin typeface="Arial"/>
                <a:ea typeface="Arial"/>
                <a:cs typeface="Arial"/>
              </a:defRPr>
            </a:pPr>
            <a:r>
              <a:rPr sz="1275">
                <a:solidFill>
                  <a:srgbClr val="334155"/>
                </a:solidFill>
                <a:latin typeface="Arial"/>
                <a:ea typeface="Arial"/>
                <a:cs typeface="Arial"/>
              </a:rPr>
              <a:t>관련 공급자, LP, 빌더.</a:t>
            </a:r>
          </a:p>
        </p:txBody>
      </p:sp>
      <p:sp>
        <p:nvSpPr>
          <p:cNvPr id="44" name="event-followup">
            <a:extLst>
              <a:ext uri="{FF2B5EF4-FFF2-40B4-BE49-F238E27FC236}">
                <a16:creationId xmlns:a16="http://schemas.microsoft.com/office/drawing/2014/main" id="{5255F3DA-F5D9-49B3-9B82-751A5E23859E}"/>
              </a:ext>
            </a:extLst>
          </p:cNvPr>
          <p:cNvSpPr>
            <a:spLocks noGrp="1"/>
          </p:cNvSpPr>
          <p:nvPr/>
        </p:nvSpPr>
        <p:spPr>
          <a:xfrm>
            <a:off x="7972425" y="5314950"/>
            <a:ext cx="3238500" cy="228600"/>
          </a:xfrm>
          <a:prstGeom prst="rect">
            <a:avLst/>
          </a:prstGeom>
          <a:noFill/>
          <a:ln w="0">
            <a:noFill/>
          </a:ln>
        </p:spPr>
        <p:txBody>
          <a:bodyPr wrap="square" lIns="0" tIns="0" rIns="0" bIns="0" anchor="t">
            <a:noAutofit/>
          </a:bodyPr>
          <a:lstStyle/>
          <a:p>
            <a:pPr algn="l">
              <a:defRPr sz="1275" b="1">
                <a:solidFill>
                  <a:srgbClr val="0B39FF"/>
                </a:solidFill>
                <a:latin typeface="Arial"/>
                <a:ea typeface="Arial"/>
                <a:cs typeface="Arial"/>
              </a:defRPr>
            </a:pPr>
            <a:r>
              <a:rPr sz="1275" b="1">
                <a:solidFill>
                  <a:srgbClr val="0B39FF"/>
                </a:solidFill>
                <a:latin typeface="Arial"/>
                <a:ea typeface="Arial"/>
                <a:cs typeface="Arial"/>
              </a:rPr>
              <a:t>동의 기반 후속</a:t>
            </a:r>
          </a:p>
        </p:txBody>
      </p:sp>
      <p:sp>
        <p:nvSpPr>
          <p:cNvPr id="45" name="event-followup-copy">
            <a:extLst>
              <a:ext uri="{FF2B5EF4-FFF2-40B4-BE49-F238E27FC236}">
                <a16:creationId xmlns:a16="http://schemas.microsoft.com/office/drawing/2014/main" id="{C5A0712A-373F-4861-BB21-3FD72036E83B}"/>
              </a:ext>
            </a:extLst>
          </p:cNvPr>
          <p:cNvSpPr>
            <a:spLocks noGrp="1"/>
          </p:cNvSpPr>
          <p:nvPr/>
        </p:nvSpPr>
        <p:spPr>
          <a:xfrm>
            <a:off x="7972425" y="5600700"/>
            <a:ext cx="3238500" cy="266700"/>
          </a:xfrm>
          <a:prstGeom prst="rect">
            <a:avLst/>
          </a:prstGeom>
          <a:noFill/>
          <a:ln w="0">
            <a:noFill/>
          </a:ln>
        </p:spPr>
        <p:txBody>
          <a:bodyPr wrap="square" lIns="0" tIns="0" rIns="0" bIns="0" anchor="t">
            <a:noAutofit/>
          </a:bodyPr>
          <a:lstStyle/>
          <a:p>
            <a:pPr algn="l">
              <a:defRPr sz="1275">
                <a:solidFill>
                  <a:srgbClr val="334155"/>
                </a:solidFill>
                <a:latin typeface="Arial"/>
                <a:ea typeface="Arial"/>
                <a:cs typeface="Arial"/>
              </a:defRPr>
            </a:pPr>
            <a:r>
              <a:rPr sz="1275">
                <a:solidFill>
                  <a:srgbClr val="334155"/>
                </a:solidFill>
                <a:latin typeface="Arial"/>
                <a:ea typeface="Arial"/>
                <a:cs typeface="Arial"/>
              </a:rPr>
              <a:t>체크인과 옵트인 리드 추적.</a:t>
            </a:r>
          </a:p>
        </p:txBody>
      </p:sp>
      <p:pic>
        <p:nvPicPr>
          <p:cNvPr id="6" name="그림 5">
            <a:extLst>
              <a:ext uri="{FF2B5EF4-FFF2-40B4-BE49-F238E27FC236}">
                <a16:creationId xmlns:a16="http://schemas.microsoft.com/office/drawing/2014/main" id="{15C86A6E-2F61-F18D-D1C2-BF95178B42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0240" y="1543000"/>
            <a:ext cx="7844254" cy="3420668"/>
          </a:xfrm>
          <a:prstGeom prst="rect">
            <a:avLst/>
          </a:prstGeom>
        </p:spPr>
      </p:pic>
    </p:spTree>
    <p:extLst>
      <p:ext uri="{BB962C8B-B14F-4D97-AF65-F5344CB8AC3E}">
        <p14:creationId xmlns:p14="http://schemas.microsoft.com/office/powerpoint/2010/main" val="712020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4335</Words>
  <Application>Microsoft Macintosh PowerPoint</Application>
  <DocSecurity>0</DocSecurity>
  <PresentationFormat>와이드스크린</PresentationFormat>
  <Paragraphs>488</Paragraphs>
  <Slides>24</Slides>
  <Notes>24</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24</vt:i4>
      </vt:variant>
    </vt:vector>
  </HeadingPairs>
  <TitlesOfParts>
    <vt:vector size="27" baseType="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김해인</cp:lastModifiedBy>
  <cp:revision>3</cp:revision>
  <dcterms:created xsi:type="dcterms:W3CDTF">2026-09-16T14:08:05Z</dcterms:created>
  <dcterms:modified xsi:type="dcterms:W3CDTF">2026-09-16T15:02:45Z</dcterms:modified>
</cp:coreProperties>
</file>