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18"/>
  </p:notesMasterIdLst>
  <p:sldIdLst>
    <p:sldId id="256" r:id="rId3"/>
    <p:sldId id="262" r:id="rId4"/>
    <p:sldId id="259" r:id="rId5"/>
    <p:sldId id="257" r:id="rId6"/>
    <p:sldId id="258" r:id="rId7"/>
    <p:sldId id="260" r:id="rId8"/>
    <p:sldId id="261"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11"/>
    <p:restoredTop sz="94640"/>
  </p:normalViewPr>
  <p:slideViewPr>
    <p:cSldViewPr snapToGrid="0">
      <p:cViewPr>
        <p:scale>
          <a:sx n="71" d="100"/>
          <a:sy n="71" d="100"/>
        </p:scale>
        <p:origin x="32" y="8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dirty="0"/>
          </a:p>
        </p:txBody>
      </p:sp>
      <p:sp>
        <p:nvSpPr>
          <p:cNvPr id="3" name="Date Placeholder"/>
          <p:cNvSpPr>
            <a:spLocks noGrp="1"/>
          </p:cNvSpPr>
          <p:nvPr>
            <p:ph type="dt" sz="quarter" idx="1"/>
          </p:nvPr>
        </p:nvSpPr>
        <p:spPr>
          <a:prstGeom prst="rect">
            <a:avLst/>
          </a:prstGeom>
        </p:spPr>
        <p:txBody>
          <a:bodyPr/>
          <a:lstStyle/>
          <a:p>
            <a:endParaRPr dirty="0"/>
          </a:p>
        </p:txBody>
      </p:sp>
      <p:sp>
        <p:nvSpPr>
          <p:cNvPr id="4" name="Slide Image Placeholder"/>
          <p:cNvSpPr>
            <a:spLocks noGrp="1" noRot="1" noChangeAspect="1"/>
          </p:cNvSpPr>
          <p:nvPr>
            <p:ph type="sldImg" idx="2"/>
          </p:nvPr>
        </p:nvSpPr>
        <p:spPr>
          <a:prstGeom prst="rect">
            <a:avLst/>
          </a:prstGeom>
        </p:spPr>
        <p:txBody>
          <a:bodyPr/>
          <a:lstStyle/>
          <a:p>
            <a:endParaRPr dirty="0"/>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dirty="0"/>
          </a:p>
        </p:txBody>
      </p:sp>
      <p:sp>
        <p:nvSpPr>
          <p:cNvPr id="7" name="Slide Number Placeholder"/>
          <p:cNvSpPr>
            <a:spLocks noGrp="1"/>
          </p:cNvSpPr>
          <p:nvPr>
            <p:ph type="sldNum" sz="quarter" idx="5"/>
          </p:nvPr>
        </p:nvSpPr>
        <p:spPr>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Commercial proposal by HOPE. Three month execution budget: $50,000. Advisory: $3,000 per month, $9,000 for three months. Total proposed engagement: $59,000.</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figures USD. Marketing: 4000+6000+9000+5000+6000+5000+15000=50000. Advisory: 3000*3=9000. Total: 50000+9000=59000. Routine tracking and reporting sit within execution. Third-party costs, applicable taxes and payment charges must fit the approved budget or receive separate written approval. No automatic overrun or extra agency fee.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schedule from agreed kickoff, not confirmed bookings. Product activation depends on eligible access. Final reporting is due within ten business days after close. Source scope: 3Jane_Korea_Market.docx and supplied 3Jane_Korea_Proposal_260917.pptx.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Official positioning and products checked 17 September 2026: https://www.3jane.xyz/ and https://docs.3jane.xyz/. Official X launch post, 1 September 2026: https://</a:t>
            </a:r>
            <a:r>
              <a:rPr dirty="0" err="1"/>
              <a:t>x.com</a:t>
            </a:r>
            <a:r>
              <a:rPr dirty="0"/>
              <a:t>/3janexyz/status/2094793000853659652. Official X institutional financing message, 16 September 2026: https://</a:t>
            </a:r>
            <a:r>
              <a:rPr dirty="0" err="1"/>
              <a:t>x.com</a:t>
            </a:r>
            <a:r>
              <a:rPr dirty="0"/>
              <a:t>/3janexyz/status/2100229217409794323. Korean demand and acquisition economics are hypotheses to test, not established market findings. Borrower acquisition is outside the initial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checked 17 September 2026: https://docs.3jane.xyz/ (USD3 senior and sUSD3 junior first-loss); https://www.3jane.xyz/reports/fractionally-reserved-crypto (8 September 2026, LCC commitments, margin slashing and APY denominator); https://x.com/3janexyz/status/2099504714220253206 (14 September, public LCC dashboard and concentration risk); https://x.com/3janexyz/status/2097670865802735977 (9 September, first weekly promise fees). Product communication must include relevant credit, liquidity and smart-contract risks. Do not imply guaranteed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 condensed from the original proposal. Community $4,000 includes $1,000 entry rewards and $3,000 moderation. UGC $5,000 includes rewards and operations. PR $6,000 contains three $2,000 packages. Offline $5,000 includes venue, food and beverages, operations and photography. No outcome or earned media guarantee.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Planning ranges are from the supplied proposal, not historical results or guarantees. Qualified members exclude bots and duplicates and complete community onboarding. Track retained participation, tagged visits, verified eligible product actions and cost per action by channel. Reserve controls are proposed terms. Weekly dashboard, monthly reviews and a final report within ten business days of close. No ROI claim is implied without verified product contribution economics.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review window: two business days. HOPE submits commitments for approval before booking. Material budget reallocations and any total spend increase require written approval. Product changes pause affected calls to action until corrections are ready. The following seven reference slides are retained from the user supplied PPTX, unchanged in their original slide content and assets.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3Jane Korea Market Entry and Growth Proposal, revised Word proposal prepared by HOPE. Proposed scope and planning targets; not historical campaign results. Costs in USD.</a:t>
            </a:r>
          </a:p>
          <a:p>
            <a:endParaRPr/>
          </a:p>
          <a:p>
            <a:r>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Baseline: 3Jane Korea Market Entry and Growth Proposal, revised Word proposal prepared by HOPE. Proposed scope and planning targets; not historical campaign results. Costs in USD.</a:t>
            </a:r>
          </a:p>
          <a:p>
            <a:endParaRPr dirty="0"/>
          </a:p>
          <a:p>
            <a:r>
              <a:rPr dirty="0"/>
              <a:t>Asset source: visual reference embedded in the user-provided original PowerPoint and original proposal. Retained for format illustration only; not a 3Jane campaign result, partner endorsement or confirmed media placement. Final reuse rights and creative require approval.</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DCD18-2522-456B-8E60-AF1E5389FBD8}"/>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FA162AF9-B378-4BCC-8A1C-DB43B9B8CD10}"/>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2B3A39AD-627F-4A8F-B982-122F2CA05B1D}"/>
              </a:ext>
            </a:extLst>
          </p:cNvPr>
          <p:cNvSpPr>
            <a:spLocks noGrp="1"/>
          </p:cNvSpPr>
          <p:nvPr>
            <p:ph type="dt" idx="10"/>
          </p:nvPr>
        </p:nvSpPr>
        <p:spPr/>
        <p:txBody>
          <a:bodyPr/>
          <a:lstStyle/>
          <a:p>
            <a:fld id="{5BCAD085-E8A6-8845-BD4E-CB4CCA059FC4}" type="datetimeFigureOut">
              <a:rPr/>
              <a:t>2026. 9. 17.</a:t>
            </a:fld>
            <a:endParaRPr dirty="0"/>
          </a:p>
        </p:txBody>
      </p:sp>
      <p:sp>
        <p:nvSpPr>
          <p:cNvPr id="5" name="Footer Placeholder 4">
            <a:extLst>
              <a:ext uri="{FF2B5EF4-FFF2-40B4-BE49-F238E27FC236}">
                <a16:creationId xmlns:a16="http://schemas.microsoft.com/office/drawing/2014/main" id="{9447CD97-116F-4392-98CB-9329CC468581}"/>
              </a:ext>
            </a:extLst>
          </p:cNvPr>
          <p:cNvSpPr>
            <a:spLocks noGrp="1"/>
          </p:cNvSpPr>
          <p:nvPr>
            <p:ph type="ftr" idx="11"/>
          </p:nvPr>
        </p:nvSpPr>
        <p:spPr/>
        <p:txBody>
          <a:bodyPr/>
          <a:lstStyle/>
          <a:p>
            <a:endParaRPr dirty="0"/>
          </a:p>
        </p:txBody>
      </p:sp>
      <p:sp>
        <p:nvSpPr>
          <p:cNvPr id="6" name="Slide Number Placeholder 5">
            <a:extLst>
              <a:ext uri="{FF2B5EF4-FFF2-40B4-BE49-F238E27FC236}">
                <a16:creationId xmlns:a16="http://schemas.microsoft.com/office/drawing/2014/main" id="{6933B1A1-F395-4E42-918E-5C98C894C56A}"/>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925C7-24F1-46FB-9B31-F1F81445287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F48BCCC-706B-44B5-81CB-09AF8F654E8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C902EA-4B23-41FA-8CB3-B11D48E1BDB5}"/>
              </a:ext>
            </a:extLst>
          </p:cNvPr>
          <p:cNvSpPr>
            <a:spLocks noGrp="1"/>
          </p:cNvSpPr>
          <p:nvPr>
            <p:ph type="dt" idx="10"/>
          </p:nvPr>
        </p:nvSpPr>
        <p:spPr/>
        <p:txBody>
          <a:bodyPr/>
          <a:lstStyle/>
          <a:p>
            <a:fld id="{5BCAD085-E8A6-8845-BD4E-CB4CCA059FC4}" type="datetimeFigureOut">
              <a:rPr/>
              <a:t>2026. 9. 17.</a:t>
            </a:fld>
            <a:endParaRPr dirty="0"/>
          </a:p>
        </p:txBody>
      </p:sp>
      <p:sp>
        <p:nvSpPr>
          <p:cNvPr id="5" name="Footer Placeholder 4">
            <a:extLst>
              <a:ext uri="{FF2B5EF4-FFF2-40B4-BE49-F238E27FC236}">
                <a16:creationId xmlns:a16="http://schemas.microsoft.com/office/drawing/2014/main" id="{FB609E62-DA77-4E4F-8A64-AD8AFBE2FFC8}"/>
              </a:ext>
            </a:extLst>
          </p:cNvPr>
          <p:cNvSpPr>
            <a:spLocks noGrp="1"/>
          </p:cNvSpPr>
          <p:nvPr>
            <p:ph type="ftr" idx="11"/>
          </p:nvPr>
        </p:nvSpPr>
        <p:spPr/>
        <p:txBody>
          <a:bodyPr/>
          <a:lstStyle/>
          <a:p>
            <a:endParaRPr dirty="0"/>
          </a:p>
        </p:txBody>
      </p:sp>
      <p:sp>
        <p:nvSpPr>
          <p:cNvPr id="6" name="Slide Number Placeholder 5">
            <a:extLst>
              <a:ext uri="{FF2B5EF4-FFF2-40B4-BE49-F238E27FC236}">
                <a16:creationId xmlns:a16="http://schemas.microsoft.com/office/drawing/2014/main" id="{6EFBE40F-AE8D-4A8D-ABFD-E76AA7C3EEF6}"/>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65F30-7CEF-4812-94E6-2CB7B4C72495}"/>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528D63AD-549B-42BB-8C46-50B9BF7D1327}"/>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714CCADB-C26B-4198-B8F3-9156BF0223CF}"/>
              </a:ext>
            </a:extLst>
          </p:cNvPr>
          <p:cNvSpPr>
            <a:spLocks noGrp="1"/>
          </p:cNvSpPr>
          <p:nvPr>
            <p:ph type="dt" idx="10"/>
          </p:nvPr>
        </p:nvSpPr>
        <p:spPr/>
        <p:txBody>
          <a:bodyPr/>
          <a:lstStyle/>
          <a:p>
            <a:fld id="{5BCAD085-E8A6-8845-BD4E-CB4CCA059FC4}" type="datetimeFigureOut">
              <a:rPr/>
              <a:t>2026. 9. 17.</a:t>
            </a:fld>
            <a:endParaRPr dirty="0"/>
          </a:p>
        </p:txBody>
      </p:sp>
      <p:sp>
        <p:nvSpPr>
          <p:cNvPr id="5" name="Footer Placeholder 4">
            <a:extLst>
              <a:ext uri="{FF2B5EF4-FFF2-40B4-BE49-F238E27FC236}">
                <a16:creationId xmlns:a16="http://schemas.microsoft.com/office/drawing/2014/main" id="{401A6728-F82E-4926-BEAA-EFA3398E3606}"/>
              </a:ext>
            </a:extLst>
          </p:cNvPr>
          <p:cNvSpPr>
            <a:spLocks noGrp="1"/>
          </p:cNvSpPr>
          <p:nvPr>
            <p:ph type="ftr" idx="11"/>
          </p:nvPr>
        </p:nvSpPr>
        <p:spPr/>
        <p:txBody>
          <a:bodyPr/>
          <a:lstStyle/>
          <a:p>
            <a:endParaRPr dirty="0"/>
          </a:p>
        </p:txBody>
      </p:sp>
      <p:sp>
        <p:nvSpPr>
          <p:cNvPr id="6" name="Slide Number Placeholder 5">
            <a:extLst>
              <a:ext uri="{FF2B5EF4-FFF2-40B4-BE49-F238E27FC236}">
                <a16:creationId xmlns:a16="http://schemas.microsoft.com/office/drawing/2014/main" id="{DB6E6997-7BBF-460F-86D9-6D20B8D33D32}"/>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E8DE3-D7B3-4D84-8E5F-239DF0AEDC2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4179654-AE9D-4B9A-BBA2-EC5B15F7436D}"/>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59799D4C-0B67-4BE3-A930-FD5E6DFF9827}"/>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B5AF465-673E-461A-80C4-6685F8F09921}"/>
              </a:ext>
            </a:extLst>
          </p:cNvPr>
          <p:cNvSpPr>
            <a:spLocks noGrp="1"/>
          </p:cNvSpPr>
          <p:nvPr>
            <p:ph type="dt" idx="10"/>
          </p:nvPr>
        </p:nvSpPr>
        <p:spPr/>
        <p:txBody>
          <a:bodyPr/>
          <a:lstStyle/>
          <a:p>
            <a:fld id="{5BCAD085-E8A6-8845-BD4E-CB4CCA059FC4}" type="datetimeFigureOut">
              <a:rPr/>
              <a:t>2026. 9. 17.</a:t>
            </a:fld>
            <a:endParaRPr dirty="0"/>
          </a:p>
        </p:txBody>
      </p:sp>
      <p:sp>
        <p:nvSpPr>
          <p:cNvPr id="6" name="Footer Placeholder 5">
            <a:extLst>
              <a:ext uri="{FF2B5EF4-FFF2-40B4-BE49-F238E27FC236}">
                <a16:creationId xmlns:a16="http://schemas.microsoft.com/office/drawing/2014/main" id="{DC54791B-F8B1-40AA-BC67-2267C45B9582}"/>
              </a:ext>
            </a:extLst>
          </p:cNvPr>
          <p:cNvSpPr>
            <a:spLocks noGrp="1"/>
          </p:cNvSpPr>
          <p:nvPr>
            <p:ph type="ftr" idx="11"/>
          </p:nvPr>
        </p:nvSpPr>
        <p:spPr/>
        <p:txBody>
          <a:bodyPr/>
          <a:lstStyle/>
          <a:p>
            <a:endParaRPr dirty="0"/>
          </a:p>
        </p:txBody>
      </p:sp>
      <p:sp>
        <p:nvSpPr>
          <p:cNvPr id="7" name="Slide Number Placeholder 6">
            <a:extLst>
              <a:ext uri="{FF2B5EF4-FFF2-40B4-BE49-F238E27FC236}">
                <a16:creationId xmlns:a16="http://schemas.microsoft.com/office/drawing/2014/main" id="{FFE83793-C75E-4CE4-8919-FB61BC19AC9A}"/>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5C126-659B-4BF3-87F9-0FD6B0536D9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C6D245F8-07F7-4905-BEBF-68FAAD7B1ABD}"/>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7F0415B-920D-42C5-B74A-9379C56F7B42}"/>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368397A5-67A4-4E4D-B6A5-992D0105435E}"/>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FCCE9F9B-A31F-476B-A81C-116299F2798F}"/>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E553B42F-0A9C-49CB-838F-EC6F853BF689}"/>
              </a:ext>
            </a:extLst>
          </p:cNvPr>
          <p:cNvSpPr>
            <a:spLocks noGrp="1"/>
          </p:cNvSpPr>
          <p:nvPr>
            <p:ph type="dt" idx="10"/>
          </p:nvPr>
        </p:nvSpPr>
        <p:spPr/>
        <p:txBody>
          <a:bodyPr/>
          <a:lstStyle/>
          <a:p>
            <a:fld id="{5BCAD085-E8A6-8845-BD4E-CB4CCA059FC4}" type="datetimeFigureOut">
              <a:rPr/>
              <a:t>2026. 9. 17.</a:t>
            </a:fld>
            <a:endParaRPr dirty="0"/>
          </a:p>
        </p:txBody>
      </p:sp>
      <p:sp>
        <p:nvSpPr>
          <p:cNvPr id="8" name="Footer Placeholder 7">
            <a:extLst>
              <a:ext uri="{FF2B5EF4-FFF2-40B4-BE49-F238E27FC236}">
                <a16:creationId xmlns:a16="http://schemas.microsoft.com/office/drawing/2014/main" id="{03A69C8F-BAB2-4A9F-A131-8FBFC463AFF4}"/>
              </a:ext>
            </a:extLst>
          </p:cNvPr>
          <p:cNvSpPr>
            <a:spLocks noGrp="1"/>
          </p:cNvSpPr>
          <p:nvPr>
            <p:ph type="ftr" idx="11"/>
          </p:nvPr>
        </p:nvSpPr>
        <p:spPr/>
        <p:txBody>
          <a:bodyPr/>
          <a:lstStyle/>
          <a:p>
            <a:endParaRPr dirty="0"/>
          </a:p>
        </p:txBody>
      </p:sp>
      <p:sp>
        <p:nvSpPr>
          <p:cNvPr id="9" name="Slide Number Placeholder 8">
            <a:extLst>
              <a:ext uri="{FF2B5EF4-FFF2-40B4-BE49-F238E27FC236}">
                <a16:creationId xmlns:a16="http://schemas.microsoft.com/office/drawing/2014/main" id="{E5B8D43D-38CC-4B6A-9D2A-3C8904B6B2A8}"/>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1C032-0EFC-4830-8E3E-601380F5AFF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F6D5240-5AAA-4B81-8D5E-5553C37C7541}"/>
              </a:ext>
            </a:extLst>
          </p:cNvPr>
          <p:cNvSpPr>
            <a:spLocks noGrp="1"/>
          </p:cNvSpPr>
          <p:nvPr>
            <p:ph type="dt" idx="10"/>
          </p:nvPr>
        </p:nvSpPr>
        <p:spPr/>
        <p:txBody>
          <a:bodyPr/>
          <a:lstStyle/>
          <a:p>
            <a:fld id="{5BCAD085-E8A6-8845-BD4E-CB4CCA059FC4}" type="datetimeFigureOut">
              <a:rPr/>
              <a:t>2026. 9. 17.</a:t>
            </a:fld>
            <a:endParaRPr dirty="0"/>
          </a:p>
        </p:txBody>
      </p:sp>
      <p:sp>
        <p:nvSpPr>
          <p:cNvPr id="4" name="Footer Placeholder 3">
            <a:extLst>
              <a:ext uri="{FF2B5EF4-FFF2-40B4-BE49-F238E27FC236}">
                <a16:creationId xmlns:a16="http://schemas.microsoft.com/office/drawing/2014/main" id="{D8D32798-5642-43B8-B2C2-A3675C56D357}"/>
              </a:ext>
            </a:extLst>
          </p:cNvPr>
          <p:cNvSpPr>
            <a:spLocks noGrp="1"/>
          </p:cNvSpPr>
          <p:nvPr>
            <p:ph type="ftr" idx="11"/>
          </p:nvPr>
        </p:nvSpPr>
        <p:spPr/>
        <p:txBody>
          <a:bodyPr/>
          <a:lstStyle/>
          <a:p>
            <a:endParaRPr dirty="0"/>
          </a:p>
        </p:txBody>
      </p:sp>
      <p:sp>
        <p:nvSpPr>
          <p:cNvPr id="5" name="Slide Number Placeholder 4">
            <a:extLst>
              <a:ext uri="{FF2B5EF4-FFF2-40B4-BE49-F238E27FC236}">
                <a16:creationId xmlns:a16="http://schemas.microsoft.com/office/drawing/2014/main" id="{F5998C21-32D1-41C7-B440-CB5E0893FDDF}"/>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B9A85C-32C2-4598-ADF2-FBD30F4B6DA6}"/>
              </a:ext>
            </a:extLst>
          </p:cNvPr>
          <p:cNvSpPr>
            <a:spLocks noGrp="1"/>
          </p:cNvSpPr>
          <p:nvPr>
            <p:ph type="dt" idx="10"/>
          </p:nvPr>
        </p:nvSpPr>
        <p:spPr/>
        <p:txBody>
          <a:bodyPr/>
          <a:lstStyle/>
          <a:p>
            <a:fld id="{5BCAD085-E8A6-8845-BD4E-CB4CCA059FC4}" type="datetimeFigureOut">
              <a:rPr/>
              <a:t>2026. 9. 17.</a:t>
            </a:fld>
            <a:endParaRPr dirty="0"/>
          </a:p>
        </p:txBody>
      </p:sp>
      <p:sp>
        <p:nvSpPr>
          <p:cNvPr id="3" name="Footer Placeholder 2">
            <a:extLst>
              <a:ext uri="{FF2B5EF4-FFF2-40B4-BE49-F238E27FC236}">
                <a16:creationId xmlns:a16="http://schemas.microsoft.com/office/drawing/2014/main" id="{B700E4AF-C410-4E0D-81A9-E8C1146A7269}"/>
              </a:ext>
            </a:extLst>
          </p:cNvPr>
          <p:cNvSpPr>
            <a:spLocks noGrp="1"/>
          </p:cNvSpPr>
          <p:nvPr>
            <p:ph type="ftr" idx="11"/>
          </p:nvPr>
        </p:nvSpPr>
        <p:spPr/>
        <p:txBody>
          <a:bodyPr/>
          <a:lstStyle/>
          <a:p>
            <a:endParaRPr dirty="0"/>
          </a:p>
        </p:txBody>
      </p:sp>
      <p:sp>
        <p:nvSpPr>
          <p:cNvPr id="4" name="Slide Number Placeholder 3">
            <a:extLst>
              <a:ext uri="{FF2B5EF4-FFF2-40B4-BE49-F238E27FC236}">
                <a16:creationId xmlns:a16="http://schemas.microsoft.com/office/drawing/2014/main" id="{61BD1AED-5672-4112-ADE9-B8C5F112201F}"/>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61F0E-0C76-4FF0-9A03-2D28616FF280}"/>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E2760BC9-30C4-44BC-8F5B-78E79D50F862}"/>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70169CC9-A147-482A-A915-B8389067A07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C0613AB-B484-4554-BCC6-0C34C76F4555}"/>
              </a:ext>
            </a:extLst>
          </p:cNvPr>
          <p:cNvSpPr>
            <a:spLocks noGrp="1"/>
          </p:cNvSpPr>
          <p:nvPr>
            <p:ph type="dt" idx="10"/>
          </p:nvPr>
        </p:nvSpPr>
        <p:spPr/>
        <p:txBody>
          <a:bodyPr/>
          <a:lstStyle/>
          <a:p>
            <a:fld id="{5BCAD085-E8A6-8845-BD4E-CB4CCA059FC4}" type="datetimeFigureOut">
              <a:rPr/>
              <a:t>2026. 9. 17.</a:t>
            </a:fld>
            <a:endParaRPr dirty="0"/>
          </a:p>
        </p:txBody>
      </p:sp>
      <p:sp>
        <p:nvSpPr>
          <p:cNvPr id="6" name="Footer Placeholder 5">
            <a:extLst>
              <a:ext uri="{FF2B5EF4-FFF2-40B4-BE49-F238E27FC236}">
                <a16:creationId xmlns:a16="http://schemas.microsoft.com/office/drawing/2014/main" id="{E224610E-DA3B-4112-B17F-54C5F2C62C99}"/>
              </a:ext>
            </a:extLst>
          </p:cNvPr>
          <p:cNvSpPr>
            <a:spLocks noGrp="1"/>
          </p:cNvSpPr>
          <p:nvPr>
            <p:ph type="ftr" idx="11"/>
          </p:nvPr>
        </p:nvSpPr>
        <p:spPr/>
        <p:txBody>
          <a:bodyPr/>
          <a:lstStyle/>
          <a:p>
            <a:endParaRPr dirty="0"/>
          </a:p>
        </p:txBody>
      </p:sp>
      <p:sp>
        <p:nvSpPr>
          <p:cNvPr id="7" name="Slide Number Placeholder 6">
            <a:extLst>
              <a:ext uri="{FF2B5EF4-FFF2-40B4-BE49-F238E27FC236}">
                <a16:creationId xmlns:a16="http://schemas.microsoft.com/office/drawing/2014/main" id="{09027817-0BCD-4E18-9BAA-9B6CF2FA891C}"/>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BD23F-8C1B-4CF2-B067-AD1A440B3EA4}"/>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464622E1-EB62-4909-90AF-95D10E2B8DDF}"/>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dirty="0"/>
          </a:p>
        </p:txBody>
      </p:sp>
      <p:sp>
        <p:nvSpPr>
          <p:cNvPr id="4" name="Text Placeholder 3">
            <a:extLst>
              <a:ext uri="{FF2B5EF4-FFF2-40B4-BE49-F238E27FC236}">
                <a16:creationId xmlns:a16="http://schemas.microsoft.com/office/drawing/2014/main" id="{635A8232-2FE5-499C-A568-5468BD9C4987}"/>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F63F382-FF72-4437-85AC-A738319449D0}"/>
              </a:ext>
            </a:extLst>
          </p:cNvPr>
          <p:cNvSpPr>
            <a:spLocks noGrp="1"/>
          </p:cNvSpPr>
          <p:nvPr>
            <p:ph type="dt" idx="10"/>
          </p:nvPr>
        </p:nvSpPr>
        <p:spPr/>
        <p:txBody>
          <a:bodyPr/>
          <a:lstStyle/>
          <a:p>
            <a:fld id="{5BCAD085-E8A6-8845-BD4E-CB4CCA059FC4}" type="datetimeFigureOut">
              <a:rPr/>
              <a:t>2026. 9. 17.</a:t>
            </a:fld>
            <a:endParaRPr dirty="0"/>
          </a:p>
        </p:txBody>
      </p:sp>
      <p:sp>
        <p:nvSpPr>
          <p:cNvPr id="6" name="Footer Placeholder 5">
            <a:extLst>
              <a:ext uri="{FF2B5EF4-FFF2-40B4-BE49-F238E27FC236}">
                <a16:creationId xmlns:a16="http://schemas.microsoft.com/office/drawing/2014/main" id="{726543B7-D3F3-4FD2-852B-39FBC67E4B1B}"/>
              </a:ext>
            </a:extLst>
          </p:cNvPr>
          <p:cNvSpPr>
            <a:spLocks noGrp="1"/>
          </p:cNvSpPr>
          <p:nvPr>
            <p:ph type="ftr" idx="11"/>
          </p:nvPr>
        </p:nvSpPr>
        <p:spPr/>
        <p:txBody>
          <a:bodyPr/>
          <a:lstStyle/>
          <a:p>
            <a:endParaRPr dirty="0"/>
          </a:p>
        </p:txBody>
      </p:sp>
      <p:sp>
        <p:nvSpPr>
          <p:cNvPr id="7" name="Slide Number Placeholder 6">
            <a:extLst>
              <a:ext uri="{FF2B5EF4-FFF2-40B4-BE49-F238E27FC236}">
                <a16:creationId xmlns:a16="http://schemas.microsoft.com/office/drawing/2014/main" id="{2ABA530E-F03D-471D-BCE0-5C85578FE29D}"/>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31E6-48A6-4686-8D93-7B7155836FA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12439D8-4560-4472-953E-518C51B2D6A7}"/>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DFC61D5-526A-4DD5-B4E9-CF13F89B5B11}"/>
              </a:ext>
            </a:extLst>
          </p:cNvPr>
          <p:cNvSpPr>
            <a:spLocks noGrp="1"/>
          </p:cNvSpPr>
          <p:nvPr>
            <p:ph type="dt" idx="10"/>
          </p:nvPr>
        </p:nvSpPr>
        <p:spPr/>
        <p:txBody>
          <a:bodyPr/>
          <a:lstStyle/>
          <a:p>
            <a:fld id="{5BCAD085-E8A6-8845-BD4E-CB4CCA059FC4}" type="datetimeFigureOut">
              <a:rPr/>
              <a:t>2026. 9. 17.</a:t>
            </a:fld>
            <a:endParaRPr dirty="0"/>
          </a:p>
        </p:txBody>
      </p:sp>
      <p:sp>
        <p:nvSpPr>
          <p:cNvPr id="5" name="Footer Placeholder 4">
            <a:extLst>
              <a:ext uri="{FF2B5EF4-FFF2-40B4-BE49-F238E27FC236}">
                <a16:creationId xmlns:a16="http://schemas.microsoft.com/office/drawing/2014/main" id="{74A872C3-C974-465F-91CD-617F6F48C680}"/>
              </a:ext>
            </a:extLst>
          </p:cNvPr>
          <p:cNvSpPr>
            <a:spLocks noGrp="1"/>
          </p:cNvSpPr>
          <p:nvPr>
            <p:ph type="ftr" idx="11"/>
          </p:nvPr>
        </p:nvSpPr>
        <p:spPr/>
        <p:txBody>
          <a:bodyPr/>
          <a:lstStyle/>
          <a:p>
            <a:endParaRPr dirty="0"/>
          </a:p>
        </p:txBody>
      </p:sp>
      <p:sp>
        <p:nvSpPr>
          <p:cNvPr id="6" name="Slide Number Placeholder 5">
            <a:extLst>
              <a:ext uri="{FF2B5EF4-FFF2-40B4-BE49-F238E27FC236}">
                <a16:creationId xmlns:a16="http://schemas.microsoft.com/office/drawing/2014/main" id="{6391344C-C39D-4D22-936F-6A317D7181F4}"/>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9ECFE9-3D44-4E1B-B8A0-F3DFEAB24F7C}"/>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BEC60E6B-9511-434C-B322-2AF9F46FCBCF}"/>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9A17908-DAAD-4D67-B0C5-11EA477C0DD3}"/>
              </a:ext>
            </a:extLst>
          </p:cNvPr>
          <p:cNvSpPr>
            <a:spLocks noGrp="1"/>
          </p:cNvSpPr>
          <p:nvPr>
            <p:ph type="dt" idx="10"/>
          </p:nvPr>
        </p:nvSpPr>
        <p:spPr/>
        <p:txBody>
          <a:bodyPr/>
          <a:lstStyle/>
          <a:p>
            <a:fld id="{5BCAD085-E8A6-8845-BD4E-CB4CCA059FC4}" type="datetimeFigureOut">
              <a:rPr/>
              <a:t>2026. 9. 17.</a:t>
            </a:fld>
            <a:endParaRPr dirty="0"/>
          </a:p>
        </p:txBody>
      </p:sp>
      <p:sp>
        <p:nvSpPr>
          <p:cNvPr id="5" name="Footer Placeholder 4">
            <a:extLst>
              <a:ext uri="{FF2B5EF4-FFF2-40B4-BE49-F238E27FC236}">
                <a16:creationId xmlns:a16="http://schemas.microsoft.com/office/drawing/2014/main" id="{520C17E0-C07A-4E59-97E0-341394666FE6}"/>
              </a:ext>
            </a:extLst>
          </p:cNvPr>
          <p:cNvSpPr>
            <a:spLocks noGrp="1"/>
          </p:cNvSpPr>
          <p:nvPr>
            <p:ph type="ftr" idx="11"/>
          </p:nvPr>
        </p:nvSpPr>
        <p:spPr/>
        <p:txBody>
          <a:bodyPr/>
          <a:lstStyle/>
          <a:p>
            <a:endParaRPr dirty="0"/>
          </a:p>
        </p:txBody>
      </p:sp>
      <p:sp>
        <p:nvSpPr>
          <p:cNvPr id="6" name="Slide Number Placeholder 5">
            <a:extLst>
              <a:ext uri="{FF2B5EF4-FFF2-40B4-BE49-F238E27FC236}">
                <a16:creationId xmlns:a16="http://schemas.microsoft.com/office/drawing/2014/main" id="{94AB413D-DB5D-452F-8AE7-72B26F7E3551}"/>
              </a:ext>
            </a:extLst>
          </p:cNvPr>
          <p:cNvSpPr>
            <a:spLocks noGrp="1"/>
          </p:cNvSpPr>
          <p:nvPr>
            <p:ph type="sldNum" idx="12"/>
          </p:nvPr>
        </p:nvSpPr>
        <p:spPr/>
        <p:txBody>
          <a:bodyPr/>
          <a:lstStyle/>
          <a:p>
            <a:fld id="{C1FF6DA9-008F-8B48-92A6-B652298478BF}" type="slidenum">
              <a:r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7F47C4-9087-4D7D-B71F-7A021BBC0792}"/>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2DF464A8-D03E-4EA1-AB0B-20A7B7146E2D}"/>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3937CB0-4AFF-4FF7-B306-C1FA83A6209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rPr/>
              <a:t>2026. 9. 17.</a:t>
            </a:fld>
            <a:endParaRPr dirty="0"/>
          </a:p>
        </p:txBody>
      </p:sp>
      <p:sp>
        <p:nvSpPr>
          <p:cNvPr id="5" name="Footer Placeholder 4">
            <a:extLst>
              <a:ext uri="{FF2B5EF4-FFF2-40B4-BE49-F238E27FC236}">
                <a16:creationId xmlns:a16="http://schemas.microsoft.com/office/drawing/2014/main" id="{56A73B3D-CAF5-4643-A914-8BCDC592638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dirty="0"/>
          </a:p>
        </p:txBody>
      </p:sp>
      <p:sp>
        <p:nvSpPr>
          <p:cNvPr id="6" name="Slide Number Placeholder 5">
            <a:extLst>
              <a:ext uri="{FF2B5EF4-FFF2-40B4-BE49-F238E27FC236}">
                <a16:creationId xmlns:a16="http://schemas.microsoft.com/office/drawing/2014/main" id="{28B9253C-C519-492F-B0E0-B21B4209CA0D}"/>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rPr/>
              <a:t>‹#›</a:t>
            </a:fld>
            <a:endParaRPr dirty="0"/>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5F7"/>
        </a:solidFill>
        <a:effectLst/>
      </p:bgPr>
    </p:bg>
    <p:spTree>
      <p:nvGrpSpPr>
        <p:cNvPr id="1" name=""/>
        <p:cNvGrpSpPr/>
        <p:nvPr/>
      </p:nvGrpSpPr>
      <p:grpSpPr>
        <a:xfrm>
          <a:off x="0" y="0"/>
          <a:ext cx="0" cy="0"/>
          <a:chOff x="0" y="0"/>
          <a:chExt cx="0" cy="0"/>
        </a:xfrm>
      </p:grpSpPr>
      <p:pic>
        <p:nvPicPr>
          <p:cNvPr id="8" name="그림 7"/>
          <p:cNvPicPr>
            <a:picLocks noChangeAspect="1"/>
          </p:cNvPicPr>
          <p:nvPr/>
        </p:nvPicPr>
        <p:blipFill>
          <a:blip r:embed="rId3"/>
          <a:stretch/>
        </p:blipFill>
        <p:spPr>
          <a:xfrm>
            <a:off x="647700" y="533400"/>
            <a:ext cx="723900" cy="723900"/>
          </a:xfrm>
          <a:prstGeom prst="rect">
            <a:avLst/>
          </a:prstGeom>
        </p:spPr>
      </p:pic>
      <p:sp>
        <p:nvSpPr>
          <p:cNvPr id="2" name="3Jane">
            <a:extLst>
              <a:ext uri="{FF2B5EF4-FFF2-40B4-BE49-F238E27FC236}">
                <a16:creationId xmlns:a16="http://schemas.microsoft.com/office/drawing/2014/main" id="{8F463EF0-4C22-4FB6-9DE2-D3F82D0BA0B6}"/>
              </a:ext>
            </a:extLst>
          </p:cNvPr>
          <p:cNvSpPr>
            <a:spLocks noGrp="1"/>
          </p:cNvSpPr>
          <p:nvPr/>
        </p:nvSpPr>
        <p:spPr>
          <a:xfrm>
            <a:off x="1504950" y="695325"/>
            <a:ext cx="3333750" cy="571500"/>
          </a:xfrm>
          <a:prstGeom prst="rect">
            <a:avLst/>
          </a:prstGeom>
          <a:noFill/>
          <a:ln w="0">
            <a:noFill/>
          </a:ln>
        </p:spPr>
        <p:txBody>
          <a:bodyPr lIns="0" tIns="0" rIns="0" bIns="0" anchor="t">
            <a:noAutofit/>
          </a:bodyPr>
          <a:lstStyle/>
          <a:p>
            <a:pPr>
              <a:defRPr sz="2775" b="1">
                <a:solidFill>
                  <a:srgbClr val="FFFFFF"/>
                </a:solidFill>
                <a:latin typeface="Arial"/>
                <a:ea typeface="Arial"/>
                <a:cs typeface="Arial"/>
              </a:defRPr>
            </a:pPr>
            <a:r>
              <a:rPr sz="2775" b="1" dirty="0">
                <a:solidFill>
                  <a:srgbClr val="FFFFFF"/>
                </a:solidFill>
                <a:latin typeface="Arial"/>
                <a:ea typeface="Arial"/>
                <a:cs typeface="Arial"/>
              </a:rPr>
              <a:t>3Jane</a:t>
            </a:r>
          </a:p>
        </p:txBody>
      </p:sp>
      <p:sp>
        <p:nvSpPr>
          <p:cNvPr id="3" name="Korea Marketing&#10;Proposal">
            <a:extLst>
              <a:ext uri="{FF2B5EF4-FFF2-40B4-BE49-F238E27FC236}">
                <a16:creationId xmlns:a16="http://schemas.microsoft.com/office/drawing/2014/main" id="{439D8D6E-47CB-4837-A750-F82F83546D74}"/>
              </a:ext>
            </a:extLst>
          </p:cNvPr>
          <p:cNvSpPr>
            <a:spLocks noGrp="1"/>
          </p:cNvSpPr>
          <p:nvPr/>
        </p:nvSpPr>
        <p:spPr>
          <a:xfrm>
            <a:off x="647700" y="2133600"/>
            <a:ext cx="10763250" cy="1905000"/>
          </a:xfrm>
          <a:prstGeom prst="rect">
            <a:avLst/>
          </a:prstGeom>
          <a:noFill/>
          <a:ln w="0">
            <a:noFill/>
          </a:ln>
        </p:spPr>
        <p:txBody>
          <a:bodyPr lIns="0" tIns="0" rIns="0" bIns="0" anchor="t">
            <a:noAutofit/>
          </a:bodyPr>
          <a:lstStyle/>
          <a:p>
            <a:pPr>
              <a:defRPr sz="5700" b="1">
                <a:solidFill>
                  <a:srgbClr val="FFFFFF"/>
                </a:solidFill>
                <a:latin typeface="Arial"/>
                <a:ea typeface="Arial"/>
                <a:cs typeface="Arial"/>
              </a:defRPr>
            </a:pPr>
            <a:r>
              <a:rPr sz="5700" b="1" dirty="0">
                <a:solidFill>
                  <a:srgbClr val="FFFFFF"/>
                </a:solidFill>
                <a:latin typeface="Arial"/>
                <a:ea typeface="Arial"/>
                <a:cs typeface="Arial"/>
              </a:rPr>
              <a:t>Korea Marketing
Proposal</a:t>
            </a:r>
          </a:p>
          <a:p>
            <a:pPr>
              <a:defRPr sz="5700" b="1">
                <a:solidFill>
                  <a:srgbClr val="FFFFFF"/>
                </a:solidFill>
                <a:latin typeface="Arial"/>
                <a:ea typeface="Arial"/>
                <a:cs typeface="Arial"/>
              </a:defRPr>
            </a:pPr>
            <a:r>
              <a:rPr sz="5700" b="1" dirty="0">
                <a:solidFill>
                  <a:srgbClr val="FFFFFF"/>
                </a:solidFill>
                <a:latin typeface="Arial"/>
                <a:ea typeface="Arial"/>
                <a:cs typeface="Arial"/>
              </a:rPr>
              <a:t/>
            </a:r>
          </a:p>
        </p:txBody>
      </p:sp>
      <p:sp>
        <p:nvSpPr>
          <p:cNvPr id="4" name="Three months to validate qualified supplier d">
            <a:extLst>
              <a:ext uri="{FF2B5EF4-FFF2-40B4-BE49-F238E27FC236}">
                <a16:creationId xmlns:a16="http://schemas.microsoft.com/office/drawing/2014/main" id="{CF1F3DBC-F770-4449-87DC-27FFFCEF9DF8}"/>
              </a:ext>
            </a:extLst>
          </p:cNvPr>
          <p:cNvSpPr>
            <a:spLocks noGrp="1"/>
          </p:cNvSpPr>
          <p:nvPr/>
        </p:nvSpPr>
        <p:spPr>
          <a:xfrm>
            <a:off x="685800" y="4305300"/>
            <a:ext cx="10668000" cy="523875"/>
          </a:xfrm>
          <a:prstGeom prst="rect">
            <a:avLst/>
          </a:prstGeom>
          <a:noFill/>
          <a:ln w="0">
            <a:noFill/>
          </a:ln>
        </p:spPr>
        <p:txBody>
          <a:bodyPr lIns="0" tIns="0" rIns="0" bIns="0" anchor="t">
            <a:noAutofit/>
          </a:bodyPr>
          <a:lstStyle/>
          <a:p>
            <a:pPr>
              <a:defRPr sz="2250" b="0">
                <a:solidFill>
                  <a:srgbClr val="FFFFFF"/>
                </a:solidFill>
                <a:latin typeface="Arial"/>
                <a:ea typeface="Arial"/>
                <a:cs typeface="Arial"/>
              </a:defRPr>
            </a:pPr>
            <a:r>
              <a:rPr sz="2250" b="0" dirty="0">
                <a:solidFill>
                  <a:srgbClr val="FFFFFF"/>
                </a:solidFill>
                <a:latin typeface="Arial"/>
                <a:ea typeface="Arial"/>
                <a:cs typeface="Arial"/>
              </a:rPr>
              <a:t>적격 공급자 수요를 검증하는 3개월</a:t>
            </a:r>
          </a:p>
        </p:txBody>
      </p:sp>
      <p:sp>
        <p:nvSpPr>
          <p:cNvPr id="5" name="$50,000 execution budget">
            <a:extLst>
              <a:ext uri="{FF2B5EF4-FFF2-40B4-BE49-F238E27FC236}">
                <a16:creationId xmlns:a16="http://schemas.microsoft.com/office/drawing/2014/main" id="{8CD70006-1959-4EAB-88B4-EB55C03141DE}"/>
              </a:ext>
            </a:extLst>
          </p:cNvPr>
          <p:cNvSpPr>
            <a:spLocks noGrp="1"/>
          </p:cNvSpPr>
          <p:nvPr/>
        </p:nvSpPr>
        <p:spPr>
          <a:xfrm>
            <a:off x="685800" y="5334000"/>
            <a:ext cx="6096000" cy="381000"/>
          </a:xfrm>
          <a:prstGeom prst="rect">
            <a:avLst/>
          </a:prstGeom>
          <a:noFill/>
          <a:ln w="0">
            <a:noFill/>
          </a:ln>
        </p:spPr>
        <p:txBody>
          <a:bodyPr lIns="0" tIns="0" rIns="0" bIns="0" anchor="t">
            <a:noAutofit/>
          </a:bodyPr>
          <a:lstStyle/>
          <a:p>
            <a:pPr>
              <a:defRPr sz="2175" b="1">
                <a:solidFill>
                  <a:srgbClr val="FFFFFF"/>
                </a:solidFill>
                <a:latin typeface="Arial"/>
                <a:ea typeface="Arial"/>
                <a:cs typeface="Arial"/>
              </a:defRPr>
            </a:pPr>
            <a:r>
              <a:rPr sz="2175" b="1" dirty="0">
                <a:solidFill>
                  <a:srgbClr val="FFFFFF"/>
                </a:solidFill>
                <a:latin typeface="Arial"/>
                <a:ea typeface="Arial"/>
                <a:cs typeface="Arial"/>
              </a:rPr>
              <a:t>실행 예산 $50,000</a:t>
            </a:r>
          </a:p>
        </p:txBody>
      </p:sp>
      <p:sp>
        <p:nvSpPr>
          <p:cNvPr id="6" name="$3,000 per month advisory">
            <a:extLst>
              <a:ext uri="{FF2B5EF4-FFF2-40B4-BE49-F238E27FC236}">
                <a16:creationId xmlns:a16="http://schemas.microsoft.com/office/drawing/2014/main" id="{9F3F6DC6-21B9-43E1-98C0-6CFC9A6D369C}"/>
              </a:ext>
            </a:extLst>
          </p:cNvPr>
          <p:cNvSpPr>
            <a:spLocks noGrp="1"/>
          </p:cNvSpPr>
          <p:nvPr/>
        </p:nvSpPr>
        <p:spPr>
          <a:xfrm>
            <a:off x="685800" y="5772150"/>
            <a:ext cx="6096000" cy="361950"/>
          </a:xfrm>
          <a:prstGeom prst="rect">
            <a:avLst/>
          </a:prstGeom>
          <a:noFill/>
          <a:ln w="0">
            <a:noFill/>
          </a:ln>
        </p:spPr>
        <p:txBody>
          <a:bodyPr lIns="0" tIns="0" rIns="0" bIns="0" anchor="t">
            <a:noAutofit/>
          </a:bodyPr>
          <a:lstStyle/>
          <a:p>
            <a:pPr>
              <a:defRPr sz="1950" b="0">
                <a:solidFill>
                  <a:srgbClr val="FFFFFF"/>
                </a:solidFill>
                <a:latin typeface="Arial"/>
                <a:ea typeface="Arial"/>
                <a:cs typeface="Arial"/>
              </a:defRPr>
            </a:pPr>
            <a:r>
              <a:rPr sz="1950" b="0" dirty="0">
                <a:solidFill>
                  <a:srgbClr val="FFFFFF"/>
                </a:solidFill>
                <a:latin typeface="Arial"/>
                <a:ea typeface="Arial"/>
                <a:cs typeface="Arial"/>
              </a:rPr>
              <a:t>월 자문비 $3,000</a:t>
            </a:r>
          </a:p>
        </p:txBody>
      </p:sp>
      <p:sp>
        <p:nvSpPr>
          <p:cNvPr id="7" name="Prepared by HOPE&#10;17 September 2026">
            <a:extLst>
              <a:ext uri="{FF2B5EF4-FFF2-40B4-BE49-F238E27FC236}">
                <a16:creationId xmlns:a16="http://schemas.microsoft.com/office/drawing/2014/main" id="{028C3644-D127-49CB-946A-360032A3D18E}"/>
              </a:ext>
            </a:extLst>
          </p:cNvPr>
          <p:cNvSpPr>
            <a:spLocks noGrp="1"/>
          </p:cNvSpPr>
          <p:nvPr/>
        </p:nvSpPr>
        <p:spPr>
          <a:xfrm>
            <a:off x="10325986" y="6238875"/>
            <a:ext cx="2809875" cy="619125"/>
          </a:xfrm>
          <a:prstGeom prst="rect">
            <a:avLst/>
          </a:prstGeom>
          <a:noFill/>
          <a:ln w="0">
            <a:noFill/>
          </a:ln>
        </p:spPr>
        <p:txBody>
          <a:bodyPr lIns="0" tIns="0" rIns="0" bIns="0" anchor="t">
            <a:noAutofit/>
          </a:bodyPr>
          <a:lstStyle/>
          <a:p>
            <a:pPr>
              <a:defRPr sz="1500" b="0">
                <a:solidFill>
                  <a:srgbClr val="FFFFFF"/>
                </a:solidFill>
                <a:latin typeface="Arial"/>
                <a:ea typeface="Arial"/>
                <a:cs typeface="Arial"/>
              </a:defRPr>
            </a:pPr>
            <a:r>
              <a:rPr sz="1500" b="0" dirty="0">
                <a:solidFill>
                  <a:srgbClr val="FFFFFF"/>
                </a:solidFill>
                <a:latin typeface="Arial"/>
                <a:ea typeface="Arial"/>
                <a:cs typeface="Arial"/>
              </a:rPr>
              <a:t>작성: HOPE
2026년 9월 17일</a:t>
            </a:r>
          </a:p>
          <a:p>
            <a:pPr>
              <a:defRPr sz="1500" b="0">
                <a:solidFill>
                  <a:srgbClr val="FFFFFF"/>
                </a:solidFill>
                <a:latin typeface="Arial"/>
                <a:ea typeface="Arial"/>
                <a:cs typeface="Arial"/>
              </a:defRPr>
            </a:pPr>
            <a:r>
              <a:rPr sz="1500" b="0" dirty="0">
                <a:solidFill>
                  <a:srgbClr val="FFFFFF"/>
                </a:solidFill>
                <a:latin typeface="Arial"/>
                <a:ea typeface="Arial"/>
                <a:cs typeface="Arial"/>
              </a:rPr>
              <a:t/>
            </a:r>
          </a:p>
        </p:txBody>
      </p:sp>
      <p:pic>
        <p:nvPicPr>
          <p:cNvPr id="10" name="그림 9">
            <a:extLst>
              <a:ext uri="{FF2B5EF4-FFF2-40B4-BE49-F238E27FC236}">
                <a16:creationId xmlns:a16="http://schemas.microsoft.com/office/drawing/2014/main" id="{FCAC5CD7-9B0E-06A6-E226-FEDDA2B73F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4303" y="4927378"/>
            <a:ext cx="1213293" cy="1213293"/>
          </a:xfrm>
          <a:prstGeom prst="rect">
            <a:avLst/>
          </a:prstGeom>
        </p:spPr>
      </p:pic>
    </p:spTree>
    <p:extLst>
      <p:ext uri="{BB962C8B-B14F-4D97-AF65-F5344CB8AC3E}">
        <p14:creationId xmlns:p14="http://schemas.microsoft.com/office/powerpoint/2010/main" val="446273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Budget and advisory retainer">
            <a:extLst>
              <a:ext uri="{FF2B5EF4-FFF2-40B4-BE49-F238E27FC236}">
                <a16:creationId xmlns:a16="http://schemas.microsoft.com/office/drawing/2014/main" id="{052F57D6-B30D-4139-86C4-76AC23864E0C}"/>
              </a:ext>
            </a:extLst>
          </p:cNvPr>
          <p:cNvSpPr>
            <a:spLocks noGrp="1"/>
          </p:cNvSpPr>
          <p:nvPr/>
        </p:nvSpPr>
        <p:spPr>
          <a:xfrm>
            <a:off x="647700" y="619125"/>
            <a:ext cx="10572750" cy="876300"/>
          </a:xfrm>
          <a:prstGeom prst="rect">
            <a:avLst/>
          </a:prstGeom>
          <a:noFill/>
          <a:ln w="0">
            <a:noFill/>
          </a:ln>
        </p:spPr>
        <p:txBody>
          <a:bodyPr lIns="0" tIns="0" rIns="0" bIns="0" anchor="t">
            <a:noAutofit/>
          </a:bodyPr>
          <a:lstStyle/>
          <a:p>
            <a:pPr>
              <a:defRPr sz="3300" b="1">
                <a:solidFill>
                  <a:srgbClr val="121A31"/>
                </a:solidFill>
                <a:latin typeface="Arial"/>
                <a:ea typeface="Arial"/>
                <a:cs typeface="Arial"/>
              </a:defRPr>
            </a:pPr>
            <a:r>
              <a:rPr sz="3300" b="1" dirty="0">
                <a:solidFill>
                  <a:srgbClr val="121A31"/>
                </a:solidFill>
                <a:latin typeface="Arial"/>
                <a:ea typeface="Arial"/>
                <a:cs typeface="Arial"/>
              </a:rPr>
              <a:t>예산 및 자문 리테이너</a:t>
            </a:r>
          </a:p>
        </p:txBody>
      </p:sp>
      <p:sp>
        <p:nvSpPr>
          <p:cNvPr id="2" name="HOPE">
            <a:extLst>
              <a:ext uri="{FF2B5EF4-FFF2-40B4-BE49-F238E27FC236}">
                <a16:creationId xmlns:a16="http://schemas.microsoft.com/office/drawing/2014/main" id="{82EED659-50AA-4118-82E3-DA2B726D11AB}"/>
              </a:ext>
            </a:extLst>
          </p:cNvPr>
          <p:cNvSpPr>
            <a:spLocks noGrp="1"/>
          </p:cNvSpPr>
          <p:nvPr/>
        </p:nvSpPr>
        <p:spPr>
          <a:xfrm>
            <a:off x="647700" y="6324600"/>
            <a:ext cx="1428750" cy="209550"/>
          </a:xfrm>
          <a:prstGeom prst="rect">
            <a:avLst/>
          </a:prstGeom>
          <a:noFill/>
          <a:ln w="0">
            <a:noFill/>
          </a:ln>
        </p:spPr>
        <p:txBody>
          <a:bodyPr lIns="0" tIns="0" rIns="0" bIns="0" anchor="t">
            <a:noAutofit/>
          </a:bodyPr>
          <a:lstStyle/>
          <a:p>
            <a:pPr>
              <a:defRPr sz="1125" b="1">
                <a:solidFill>
                  <a:srgbClr val="596276"/>
                </a:solidFill>
                <a:latin typeface="Arial"/>
                <a:ea typeface="Arial"/>
                <a:cs typeface="Arial"/>
              </a:defRPr>
            </a:pPr>
            <a:r>
              <a:rPr sz="1125" b="1" dirty="0">
                <a:solidFill>
                  <a:srgbClr val="596276"/>
                </a:solidFill>
                <a:latin typeface="Arial"/>
                <a:ea typeface="Arial"/>
                <a:cs typeface="Arial"/>
              </a:rPr>
              <a:t>HOPE</a:t>
            </a:r>
          </a:p>
        </p:txBody>
      </p:sp>
      <p:sp>
        <p:nvSpPr>
          <p:cNvPr id="3" name="07">
            <a:extLst>
              <a:ext uri="{FF2B5EF4-FFF2-40B4-BE49-F238E27FC236}">
                <a16:creationId xmlns:a16="http://schemas.microsoft.com/office/drawing/2014/main" id="{B156AB43-F037-46D9-82E3-E75B0E4187B9}"/>
              </a:ext>
            </a:extLst>
          </p:cNvPr>
          <p:cNvSpPr>
            <a:spLocks noGrp="1"/>
          </p:cNvSpPr>
          <p:nvPr/>
        </p:nvSpPr>
        <p:spPr>
          <a:xfrm>
            <a:off x="11239500" y="6324600"/>
            <a:ext cx="381000" cy="209550"/>
          </a:xfrm>
          <a:prstGeom prst="rect">
            <a:avLst/>
          </a:prstGeom>
          <a:noFill/>
          <a:ln w="0">
            <a:noFill/>
          </a:ln>
        </p:spPr>
        <p:txBody>
          <a:bodyPr lIns="0" tIns="0" rIns="0" bIns="0" anchor="t">
            <a:noAutofit/>
          </a:bodyPr>
          <a:lstStyle/>
          <a:p>
            <a:pPr>
              <a:defRPr sz="1125" b="0">
                <a:solidFill>
                  <a:srgbClr val="596276"/>
                </a:solidFill>
                <a:latin typeface="Arial"/>
                <a:ea typeface="Arial"/>
                <a:cs typeface="Arial"/>
              </a:defRPr>
            </a:pPr>
            <a:r>
              <a:rPr sz="1125" b="0" dirty="0">
                <a:solidFill>
                  <a:srgbClr val="596276"/>
                </a:solidFill>
                <a:latin typeface="Arial"/>
                <a:ea typeface="Arial"/>
                <a:cs typeface="Arial"/>
              </a:rPr>
              <a:t>07</a:t>
            </a:r>
          </a:p>
        </p:txBody>
      </p:sp>
      <p:graphicFrame>
        <p:nvGraphicFramePr>
          <p:cNvPr id="14" name="표 13"/>
          <p:cNvGraphicFramePr/>
          <p:nvPr/>
        </p:nvGraphicFramePr>
        <p:xfrm>
          <a:off x="647700" y="1562100"/>
          <a:ext cx="6781800" cy="4210047"/>
        </p:xfrm>
        <a:graphic>
          <a:graphicData uri="http://schemas.openxmlformats.org/drawingml/2006/table">
            <a:tbl>
              <a:tblPr firstRow="1"/>
              <a:tblGrid>
                <a:gridCol w="5019675">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tblGrid>
              <a:tr h="467783">
                <a:tc>
                  <a:txBody>
                    <a:bodyPr/>
                    <a:lstStyle/>
                    <a:p>
                      <a:r>
                        <a:rPr sz="1800" b="1" dirty="0">
                          <a:solidFill>
                            <a:srgbClr val="FFFFFF"/>
                          </a:solidFill>
                          <a:latin typeface="Arial"/>
                          <a:ea typeface="Arial"/>
                          <a:cs typeface="Arial"/>
                        </a:rPr>
                        <a:t>마케팅 실행</a:t>
                      </a:r>
                    </a:p>
                  </a:txBody>
                  <a:tcPr anchor="ctr">
                    <a:solidFill>
                      <a:srgbClr val="1235F7"/>
                    </a:solidFill>
                  </a:tcPr>
                </a:tc>
                <a:tc>
                  <a:txBody>
                    <a:bodyPr/>
                    <a:lstStyle/>
                    <a:p>
                      <a:r>
                        <a:rPr sz="1800" b="1" dirty="0">
                          <a:solidFill>
                            <a:srgbClr val="FFFFFF"/>
                          </a:solidFill>
                          <a:latin typeface="Arial"/>
                          <a:ea typeface="Arial"/>
                          <a:cs typeface="Arial"/>
                        </a:rPr>
                        <a:t>USD</a:t>
                      </a:r>
                    </a:p>
                  </a:txBody>
                  <a:tcPr anchor="ctr">
                    <a:solidFill>
                      <a:srgbClr val="1235F7"/>
                    </a:solidFill>
                  </a:tcPr>
                </a:tc>
                <a:extLst>
                  <a:ext uri="{0D108BD9-81ED-4DB2-BD59-A6C34878D82A}">
                    <a16:rowId xmlns:a16="http://schemas.microsoft.com/office/drawing/2014/main" val="10000"/>
                  </a:ext>
                </a:extLst>
              </a:tr>
              <a:tr h="467783">
                <a:tc>
                  <a:txBody>
                    <a:bodyPr/>
                    <a:lstStyle/>
                    <a:p>
                      <a:r>
                        <a:rPr sz="1800" b="0" dirty="0">
                          <a:solidFill>
                            <a:srgbClr val="121A31"/>
                          </a:solidFill>
                          <a:latin typeface="Arial"/>
                          <a:ea typeface="Arial"/>
                          <a:cs typeface="Arial"/>
                        </a:rPr>
                        <a:t>커뮤니티</a:t>
                      </a:r>
                    </a:p>
                  </a:txBody>
                  <a:tcPr anchor="ctr">
                    <a:solidFill>
                      <a:srgbClr val="FFFFFF"/>
                    </a:solidFill>
                  </a:tcPr>
                </a:tc>
                <a:tc>
                  <a:txBody>
                    <a:bodyPr/>
                    <a:lstStyle/>
                    <a:p>
                      <a:r>
                        <a:rPr sz="1800" b="0" dirty="0">
                          <a:solidFill>
                            <a:srgbClr val="121A31"/>
                          </a:solidFill>
                          <a:latin typeface="Arial"/>
                          <a:ea typeface="Arial"/>
                          <a:cs typeface="Arial"/>
                        </a:rPr>
                        <a:t>$4,000</a:t>
                      </a:r>
                    </a:p>
                  </a:txBody>
                  <a:tcPr anchor="ctr">
                    <a:solidFill>
                      <a:srgbClr val="FFFFFF"/>
                    </a:solidFill>
                  </a:tcPr>
                </a:tc>
                <a:extLst>
                  <a:ext uri="{0D108BD9-81ED-4DB2-BD59-A6C34878D82A}">
                    <a16:rowId xmlns:a16="http://schemas.microsoft.com/office/drawing/2014/main" val="10001"/>
                  </a:ext>
                </a:extLst>
              </a:tr>
              <a:tr h="467783">
                <a:tc>
                  <a:txBody>
                    <a:bodyPr/>
                    <a:lstStyle/>
                    <a:p>
                      <a:r>
                        <a:rPr sz="1800" b="0" dirty="0">
                          <a:solidFill>
                            <a:srgbClr val="121A31"/>
                          </a:solidFill>
                          <a:latin typeface="Arial"/>
                          <a:ea typeface="Arial"/>
                          <a:cs typeface="Arial"/>
                        </a:rPr>
                        <a:t>전문가 교육 및 AMA</a:t>
                      </a:r>
                    </a:p>
                  </a:txBody>
                  <a:tcPr anchor="ctr">
                    <a:solidFill>
                      <a:srgbClr val="F1F4FF"/>
                    </a:solidFill>
                  </a:tcPr>
                </a:tc>
                <a:tc>
                  <a:txBody>
                    <a:bodyPr/>
                    <a:lstStyle/>
                    <a:p>
                      <a:r>
                        <a:rPr sz="1800" b="0" dirty="0">
                          <a:solidFill>
                            <a:srgbClr val="121A31"/>
                          </a:solidFill>
                          <a:latin typeface="Arial"/>
                          <a:ea typeface="Arial"/>
                          <a:cs typeface="Arial"/>
                        </a:rPr>
                        <a:t>$6,000</a:t>
                      </a:r>
                    </a:p>
                  </a:txBody>
                  <a:tcPr anchor="ctr">
                    <a:solidFill>
                      <a:srgbClr val="F1F4FF"/>
                    </a:solidFill>
                  </a:tcPr>
                </a:tc>
                <a:extLst>
                  <a:ext uri="{0D108BD9-81ED-4DB2-BD59-A6C34878D82A}">
                    <a16:rowId xmlns:a16="http://schemas.microsoft.com/office/drawing/2014/main" val="10002"/>
                  </a:ext>
                </a:extLst>
              </a:tr>
              <a:tr h="467783">
                <a:tc>
                  <a:txBody>
                    <a:bodyPr/>
                    <a:lstStyle/>
                    <a:p>
                      <a:r>
                        <a:rPr sz="1800" b="0" dirty="0">
                          <a:solidFill>
                            <a:srgbClr val="121A31"/>
                          </a:solidFill>
                          <a:latin typeface="Arial"/>
                          <a:ea typeface="Arial"/>
                          <a:cs typeface="Arial"/>
                        </a:rPr>
                        <a:t>유료 배포</a:t>
                      </a:r>
                    </a:p>
                  </a:txBody>
                  <a:tcPr anchor="ctr">
                    <a:solidFill>
                      <a:srgbClr val="FFFFFF"/>
                    </a:solidFill>
                  </a:tcPr>
                </a:tc>
                <a:tc>
                  <a:txBody>
                    <a:bodyPr/>
                    <a:lstStyle/>
                    <a:p>
                      <a:r>
                        <a:rPr sz="1800" b="0" dirty="0">
                          <a:solidFill>
                            <a:srgbClr val="121A31"/>
                          </a:solidFill>
                          <a:latin typeface="Arial"/>
                          <a:ea typeface="Arial"/>
                          <a:cs typeface="Arial"/>
                        </a:rPr>
                        <a:t>$9,000</a:t>
                      </a:r>
                    </a:p>
                  </a:txBody>
                  <a:tcPr anchor="ctr">
                    <a:solidFill>
                      <a:srgbClr val="FFFFFF"/>
                    </a:solidFill>
                  </a:tcPr>
                </a:tc>
                <a:extLst>
                  <a:ext uri="{0D108BD9-81ED-4DB2-BD59-A6C34878D82A}">
                    <a16:rowId xmlns:a16="http://schemas.microsoft.com/office/drawing/2014/main" val="10003"/>
                  </a:ext>
                </a:extLst>
              </a:tr>
              <a:tr h="467783">
                <a:tc>
                  <a:txBody>
                    <a:bodyPr/>
                    <a:lstStyle/>
                    <a:p>
                      <a:r>
                        <a:rPr sz="1800" b="0" dirty="0">
                          <a:solidFill>
                            <a:srgbClr val="121A31"/>
                          </a:solidFill>
                          <a:latin typeface="Arial"/>
                          <a:ea typeface="Arial"/>
                          <a:cs typeface="Arial"/>
                        </a:rPr>
                        <a:t>크리에이터 프로그램</a:t>
                      </a:r>
                    </a:p>
                  </a:txBody>
                  <a:tcPr anchor="ctr">
                    <a:solidFill>
                      <a:srgbClr val="F1F4FF"/>
                    </a:solidFill>
                  </a:tcPr>
                </a:tc>
                <a:tc>
                  <a:txBody>
                    <a:bodyPr/>
                    <a:lstStyle/>
                    <a:p>
                      <a:r>
                        <a:rPr sz="1800" b="0" dirty="0">
                          <a:solidFill>
                            <a:srgbClr val="121A31"/>
                          </a:solidFill>
                          <a:latin typeface="Arial"/>
                          <a:ea typeface="Arial"/>
                          <a:cs typeface="Arial"/>
                        </a:rPr>
                        <a:t>$5,000</a:t>
                      </a:r>
                    </a:p>
                  </a:txBody>
                  <a:tcPr anchor="ctr">
                    <a:solidFill>
                      <a:srgbClr val="F1F4FF"/>
                    </a:solidFill>
                  </a:tcPr>
                </a:tc>
                <a:extLst>
                  <a:ext uri="{0D108BD9-81ED-4DB2-BD59-A6C34878D82A}">
                    <a16:rowId xmlns:a16="http://schemas.microsoft.com/office/drawing/2014/main" val="10004"/>
                  </a:ext>
                </a:extLst>
              </a:tr>
              <a:tr h="467783">
                <a:tc>
                  <a:txBody>
                    <a:bodyPr/>
                    <a:lstStyle/>
                    <a:p>
                      <a:r>
                        <a:rPr sz="1800" b="0" dirty="0">
                          <a:solidFill>
                            <a:srgbClr val="121A31"/>
                          </a:solidFill>
                          <a:latin typeface="Arial"/>
                          <a:ea typeface="Arial"/>
                          <a:cs typeface="Arial"/>
                        </a:rPr>
                        <a:t>PR 및 검색</a:t>
                      </a:r>
                    </a:p>
                  </a:txBody>
                  <a:tcPr anchor="ctr">
                    <a:solidFill>
                      <a:srgbClr val="FFFFFF"/>
                    </a:solidFill>
                  </a:tcPr>
                </a:tc>
                <a:tc>
                  <a:txBody>
                    <a:bodyPr/>
                    <a:lstStyle/>
                    <a:p>
                      <a:r>
                        <a:rPr sz="1800" b="0" dirty="0">
                          <a:solidFill>
                            <a:srgbClr val="121A31"/>
                          </a:solidFill>
                          <a:latin typeface="Arial"/>
                          <a:ea typeface="Arial"/>
                          <a:cs typeface="Arial"/>
                        </a:rPr>
                        <a:t>$6,000</a:t>
                      </a:r>
                    </a:p>
                  </a:txBody>
                  <a:tcPr anchor="ctr">
                    <a:solidFill>
                      <a:srgbClr val="FFFFFF"/>
                    </a:solidFill>
                  </a:tcPr>
                </a:tc>
                <a:extLst>
                  <a:ext uri="{0D108BD9-81ED-4DB2-BD59-A6C34878D82A}">
                    <a16:rowId xmlns:a16="http://schemas.microsoft.com/office/drawing/2014/main" val="10005"/>
                  </a:ext>
                </a:extLst>
              </a:tr>
              <a:tr h="467783">
                <a:tc>
                  <a:txBody>
                    <a:bodyPr/>
                    <a:lstStyle/>
                    <a:p>
                      <a:r>
                        <a:rPr sz="1800" b="0" dirty="0">
                          <a:solidFill>
                            <a:srgbClr val="121A31"/>
                          </a:solidFill>
                          <a:latin typeface="Arial"/>
                          <a:ea typeface="Arial"/>
                          <a:cs typeface="Arial"/>
                        </a:rPr>
                        <a:t>서울 이벤트</a:t>
                      </a:r>
                    </a:p>
                  </a:txBody>
                  <a:tcPr anchor="ctr">
                    <a:solidFill>
                      <a:srgbClr val="F1F4FF"/>
                    </a:solidFill>
                  </a:tcPr>
                </a:tc>
                <a:tc>
                  <a:txBody>
                    <a:bodyPr/>
                    <a:lstStyle/>
                    <a:p>
                      <a:r>
                        <a:rPr sz="1800" b="0" dirty="0">
                          <a:solidFill>
                            <a:srgbClr val="121A31"/>
                          </a:solidFill>
                          <a:latin typeface="Arial"/>
                          <a:ea typeface="Arial"/>
                          <a:cs typeface="Arial"/>
                        </a:rPr>
                        <a:t>$5,000</a:t>
                      </a:r>
                    </a:p>
                  </a:txBody>
                  <a:tcPr anchor="ctr">
                    <a:solidFill>
                      <a:srgbClr val="F1F4FF"/>
                    </a:solidFill>
                  </a:tcPr>
                </a:tc>
                <a:extLst>
                  <a:ext uri="{0D108BD9-81ED-4DB2-BD59-A6C34878D82A}">
                    <a16:rowId xmlns:a16="http://schemas.microsoft.com/office/drawing/2014/main" val="10006"/>
                  </a:ext>
                </a:extLst>
              </a:tr>
              <a:tr h="467783">
                <a:tc>
                  <a:txBody>
                    <a:bodyPr/>
                    <a:lstStyle/>
                    <a:p>
                      <a:r>
                        <a:rPr sz="1800" b="0" dirty="0">
                          <a:solidFill>
                            <a:srgbClr val="121A31"/>
                          </a:solidFill>
                          <a:latin typeface="Arial"/>
                          <a:ea typeface="Arial"/>
                          <a:cs typeface="Arial"/>
                        </a:rPr>
                        <a:t>증폭 리저브</a:t>
                      </a:r>
                    </a:p>
                  </a:txBody>
                  <a:tcPr anchor="ctr">
                    <a:solidFill>
                      <a:srgbClr val="FFFFFF"/>
                    </a:solidFill>
                  </a:tcPr>
                </a:tc>
                <a:tc>
                  <a:txBody>
                    <a:bodyPr/>
                    <a:lstStyle/>
                    <a:p>
                      <a:r>
                        <a:rPr sz="1800" b="0" dirty="0">
                          <a:solidFill>
                            <a:srgbClr val="121A31"/>
                          </a:solidFill>
                          <a:latin typeface="Arial"/>
                          <a:ea typeface="Arial"/>
                          <a:cs typeface="Arial"/>
                        </a:rPr>
                        <a:t>$15,000</a:t>
                      </a:r>
                    </a:p>
                  </a:txBody>
                  <a:tcPr anchor="ctr">
                    <a:solidFill>
                      <a:srgbClr val="FFFFFF"/>
                    </a:solidFill>
                  </a:tcPr>
                </a:tc>
                <a:extLst>
                  <a:ext uri="{0D108BD9-81ED-4DB2-BD59-A6C34878D82A}">
                    <a16:rowId xmlns:a16="http://schemas.microsoft.com/office/drawing/2014/main" val="10007"/>
                  </a:ext>
                </a:extLst>
              </a:tr>
              <a:tr h="467783">
                <a:tc>
                  <a:txBody>
                    <a:bodyPr/>
                    <a:lstStyle/>
                    <a:p>
                      <a:r>
                        <a:rPr sz="1800" b="0" dirty="0">
                          <a:solidFill>
                            <a:srgbClr val="121A31"/>
                          </a:solidFill>
                          <a:latin typeface="Arial"/>
                          <a:ea typeface="Arial"/>
                          <a:cs typeface="Arial"/>
                        </a:rPr>
                        <a:t>마케팅 합계</a:t>
                      </a:r>
                    </a:p>
                  </a:txBody>
                  <a:tcPr anchor="ctr">
                    <a:solidFill>
                      <a:srgbClr val="F1F4FF"/>
                    </a:solidFill>
                  </a:tcPr>
                </a:tc>
                <a:tc>
                  <a:txBody>
                    <a:bodyPr/>
                    <a:lstStyle/>
                    <a:p>
                      <a:r>
                        <a:rPr sz="1800" b="0" dirty="0">
                          <a:solidFill>
                            <a:srgbClr val="121A31"/>
                          </a:solidFill>
                          <a:latin typeface="Arial"/>
                          <a:ea typeface="Arial"/>
                          <a:cs typeface="Arial"/>
                        </a:rPr>
                        <a:t>$50,000</a:t>
                      </a:r>
                    </a:p>
                  </a:txBody>
                  <a:tcPr anchor="ctr">
                    <a:solidFill>
                      <a:srgbClr val="F1F4FF"/>
                    </a:solidFill>
                  </a:tcPr>
                </a:tc>
                <a:extLst>
                  <a:ext uri="{0D108BD9-81ED-4DB2-BD59-A6C34878D82A}">
                    <a16:rowId xmlns:a16="http://schemas.microsoft.com/office/drawing/2014/main" val="10008"/>
                  </a:ext>
                </a:extLst>
              </a:tr>
            </a:tbl>
          </a:graphicData>
        </a:graphic>
      </p:graphicFrame>
      <p:sp>
        <p:nvSpPr>
          <p:cNvPr id="5" name="Separate advisory">
            <a:extLst>
              <a:ext uri="{FF2B5EF4-FFF2-40B4-BE49-F238E27FC236}">
                <a16:creationId xmlns:a16="http://schemas.microsoft.com/office/drawing/2014/main" id="{4E7B32D5-329D-4109-B6B4-8C8978D64015}"/>
              </a:ext>
            </a:extLst>
          </p:cNvPr>
          <p:cNvSpPr>
            <a:spLocks noGrp="1"/>
          </p:cNvSpPr>
          <p:nvPr/>
        </p:nvSpPr>
        <p:spPr>
          <a:xfrm>
            <a:off x="8048625" y="1724025"/>
            <a:ext cx="3820646" cy="495300"/>
          </a:xfrm>
          <a:prstGeom prst="rect">
            <a:avLst/>
          </a:prstGeom>
          <a:noFill/>
          <a:ln w="0">
            <a:noFill/>
          </a:ln>
        </p:spPr>
        <p:txBody>
          <a:bodyPr lIns="0" tIns="0" rIns="0" bIns="0" anchor="t">
            <a:noAutofit/>
          </a:bodyPr>
          <a:lstStyle/>
          <a:p>
            <a:pPr>
              <a:defRPr sz="1950" b="1">
                <a:solidFill>
                  <a:srgbClr val="1235F7"/>
                </a:solidFill>
                <a:latin typeface="Arial"/>
                <a:ea typeface="Arial"/>
                <a:cs typeface="Arial"/>
              </a:defRPr>
            </a:pPr>
            <a:r>
              <a:rPr lang="ko-KR" altLang="ko-KR" sz="1950" b="1" dirty="0" err="1">
                <a:solidFill>
                  <a:srgbClr val="1235F7"/>
                </a:solidFill>
                <a:latin typeface="Arial"/>
              </a:rPr>
              <a:t>Operation &amp; 별도 자문</a:t>
            </a:r>
            <a:r>
              <a:rPr lang="ko-KR" altLang="ko-KR" sz="1950" b="1" dirty="0">
                <a:solidFill>
                  <a:srgbClr val="1235F7"/>
                </a:solidFill>
                <a:latin typeface="Arial"/>
              </a:rPr>
              <a:t/>
            </a:r>
            <a:r>
              <a:rPr lang="en-US" altLang="ko-KR" sz="1950" b="1" dirty="0">
                <a:solidFill>
                  <a:srgbClr val="1235F7"/>
                </a:solidFill>
                <a:latin typeface="Arial"/>
              </a:rPr>
              <a:t/>
            </a:r>
            <a:r>
              <a:rPr sz="1950" b="1" dirty="0">
                <a:solidFill>
                  <a:srgbClr val="1235F7"/>
                </a:solidFill>
                <a:latin typeface="Arial"/>
                <a:ea typeface="Arial"/>
                <a:cs typeface="Arial"/>
              </a:rPr>
              <a:t/>
            </a:r>
          </a:p>
        </p:txBody>
      </p:sp>
      <p:sp>
        <p:nvSpPr>
          <p:cNvPr id="6" name="$3,000">
            <a:extLst>
              <a:ext uri="{FF2B5EF4-FFF2-40B4-BE49-F238E27FC236}">
                <a16:creationId xmlns:a16="http://schemas.microsoft.com/office/drawing/2014/main" id="{3DFF9C8F-4FC3-4E69-A558-A7452F915D64}"/>
              </a:ext>
            </a:extLst>
          </p:cNvPr>
          <p:cNvSpPr>
            <a:spLocks noGrp="1"/>
          </p:cNvSpPr>
          <p:nvPr/>
        </p:nvSpPr>
        <p:spPr>
          <a:xfrm>
            <a:off x="8048625" y="2333625"/>
            <a:ext cx="3476625" cy="714375"/>
          </a:xfrm>
          <a:prstGeom prst="rect">
            <a:avLst/>
          </a:prstGeom>
          <a:noFill/>
          <a:ln w="0">
            <a:noFill/>
          </a:ln>
        </p:spPr>
        <p:txBody>
          <a:bodyPr lIns="0" tIns="0" rIns="0" bIns="0" anchor="t">
            <a:noAutofit/>
          </a:bodyPr>
          <a:lstStyle/>
          <a:p>
            <a:pPr>
              <a:defRPr sz="4275" b="1">
                <a:solidFill>
                  <a:srgbClr val="121A31"/>
                </a:solidFill>
                <a:latin typeface="Arial"/>
                <a:ea typeface="Arial"/>
                <a:cs typeface="Arial"/>
              </a:defRPr>
            </a:pPr>
            <a:r>
              <a:rPr sz="4275" b="1">
                <a:solidFill>
                  <a:srgbClr val="121A31"/>
                </a:solidFill>
                <a:latin typeface="Arial"/>
                <a:ea typeface="Arial"/>
                <a:cs typeface="Arial"/>
              </a:rPr>
              <a:t>$3,000</a:t>
            </a:r>
          </a:p>
        </p:txBody>
      </p:sp>
      <p:sp>
        <p:nvSpPr>
          <p:cNvPr id="7" name="per month">
            <a:extLst>
              <a:ext uri="{FF2B5EF4-FFF2-40B4-BE49-F238E27FC236}">
                <a16:creationId xmlns:a16="http://schemas.microsoft.com/office/drawing/2014/main" id="{7441CE1C-44E4-46C1-AEB6-B6CBF1CFA1A7}"/>
              </a:ext>
            </a:extLst>
          </p:cNvPr>
          <p:cNvSpPr>
            <a:spLocks noGrp="1"/>
          </p:cNvSpPr>
          <p:nvPr/>
        </p:nvSpPr>
        <p:spPr>
          <a:xfrm>
            <a:off x="8048625" y="3076575"/>
            <a:ext cx="3476625" cy="381000"/>
          </a:xfrm>
          <a:prstGeom prst="rect">
            <a:avLst/>
          </a:prstGeom>
          <a:noFill/>
          <a:ln w="0">
            <a:noFill/>
          </a:ln>
        </p:spPr>
        <p:txBody>
          <a:bodyPr lIns="0" tIns="0" rIns="0" bIns="0" anchor="t">
            <a:noAutofit/>
          </a:bodyPr>
          <a:lstStyle/>
          <a:p>
            <a:pPr>
              <a:defRPr sz="2175" b="0">
                <a:solidFill>
                  <a:srgbClr val="596276"/>
                </a:solidFill>
                <a:latin typeface="Arial"/>
                <a:ea typeface="Arial"/>
                <a:cs typeface="Arial"/>
              </a:defRPr>
            </a:pPr>
            <a:r>
              <a:rPr sz="2175" b="0">
                <a:solidFill>
                  <a:srgbClr val="596276"/>
                </a:solidFill>
                <a:latin typeface="Arial"/>
                <a:ea typeface="Arial"/>
                <a:cs typeface="Arial"/>
              </a:rPr>
              <a:t>월</a:t>
            </a:r>
          </a:p>
        </p:txBody>
      </p:sp>
      <p:sp>
        <p:nvSpPr>
          <p:cNvPr id="8" name="$9,000 over three months">
            <a:extLst>
              <a:ext uri="{FF2B5EF4-FFF2-40B4-BE49-F238E27FC236}">
                <a16:creationId xmlns:a16="http://schemas.microsoft.com/office/drawing/2014/main" id="{CABF29B3-E903-47B0-AAA4-D4E355F0CA88}"/>
              </a:ext>
            </a:extLst>
          </p:cNvPr>
          <p:cNvSpPr>
            <a:spLocks noGrp="1"/>
          </p:cNvSpPr>
          <p:nvPr/>
        </p:nvSpPr>
        <p:spPr>
          <a:xfrm>
            <a:off x="8048625" y="3705225"/>
            <a:ext cx="3476625" cy="342900"/>
          </a:xfrm>
          <a:prstGeom prst="rect">
            <a:avLst/>
          </a:prstGeom>
          <a:noFill/>
          <a:ln w="0">
            <a:noFill/>
          </a:ln>
        </p:spPr>
        <p:txBody>
          <a:bodyPr lIns="0" tIns="0" rIns="0" bIns="0" anchor="t">
            <a:noAutofit/>
          </a:bodyPr>
          <a:lstStyle/>
          <a:p>
            <a:pPr>
              <a:defRPr sz="1875" b="1">
                <a:solidFill>
                  <a:srgbClr val="121A31"/>
                </a:solidFill>
                <a:latin typeface="Arial"/>
                <a:ea typeface="Arial"/>
                <a:cs typeface="Arial"/>
              </a:defRPr>
            </a:pPr>
            <a:r>
              <a:rPr sz="1875" b="1">
                <a:solidFill>
                  <a:srgbClr val="121A31"/>
                </a:solidFill>
                <a:latin typeface="Arial"/>
                <a:ea typeface="Arial"/>
                <a:cs typeface="Arial"/>
              </a:rPr>
              <a:t>3개월 합계 $9,000</a:t>
            </a:r>
          </a:p>
        </p:txBody>
      </p:sp>
      <p:sp>
        <p:nvSpPr>
          <p:cNvPr id="9" name="Korea strategy, messaging review, partner gui">
            <a:extLst>
              <a:ext uri="{FF2B5EF4-FFF2-40B4-BE49-F238E27FC236}">
                <a16:creationId xmlns:a16="http://schemas.microsoft.com/office/drawing/2014/main" id="{BA5816D6-D24E-4D64-A543-F3F01D3B7C4A}"/>
              </a:ext>
            </a:extLst>
          </p:cNvPr>
          <p:cNvSpPr>
            <a:spLocks noGrp="1"/>
          </p:cNvSpPr>
          <p:nvPr/>
        </p:nvSpPr>
        <p:spPr>
          <a:xfrm>
            <a:off x="8048625" y="4324350"/>
            <a:ext cx="3429000" cy="1143000"/>
          </a:xfrm>
          <a:prstGeom prst="rect">
            <a:avLst/>
          </a:prstGeom>
          <a:noFill/>
          <a:ln w="0">
            <a:noFill/>
          </a:ln>
        </p:spPr>
        <p:txBody>
          <a:bodyPr lIns="0" tIns="0" rIns="0" bIns="0" anchor="t">
            <a:noAutofit/>
          </a:bodyPr>
          <a:lstStyle/>
          <a:p>
            <a:pPr>
              <a:defRPr sz="1800" b="0">
                <a:solidFill>
                  <a:srgbClr val="596276"/>
                </a:solidFill>
                <a:latin typeface="Arial"/>
                <a:ea typeface="Arial"/>
                <a:cs typeface="Arial"/>
              </a:defRPr>
            </a:pPr>
            <a:r>
              <a:rPr sz="1800" b="0" dirty="0">
                <a:solidFill>
                  <a:srgbClr val="596276"/>
                </a:solidFill>
                <a:latin typeface="Arial"/>
                <a:ea typeface="Arial"/>
                <a:cs typeface="Arial"/>
              </a:rPr>
              <a:t>한국 전략, 메시징 리뷰, 파트너 가이드, 주간 최적화 콜</a:t>
            </a:r>
          </a:p>
        </p:txBody>
      </p:sp>
      <p:sp>
        <p:nvSpPr>
          <p:cNvPr id="10" name="Total three-month engagement   $59,000">
            <a:extLst>
              <a:ext uri="{FF2B5EF4-FFF2-40B4-BE49-F238E27FC236}">
                <a16:creationId xmlns:a16="http://schemas.microsoft.com/office/drawing/2014/main" id="{8FD02E0B-1FFD-4D16-8223-63C589934F64}"/>
              </a:ext>
            </a:extLst>
          </p:cNvPr>
          <p:cNvSpPr>
            <a:spLocks noGrp="1"/>
          </p:cNvSpPr>
          <p:nvPr/>
        </p:nvSpPr>
        <p:spPr>
          <a:xfrm>
            <a:off x="647700" y="5943600"/>
            <a:ext cx="10668000" cy="400050"/>
          </a:xfrm>
          <a:prstGeom prst="rect">
            <a:avLst/>
          </a:prstGeom>
          <a:noFill/>
          <a:ln w="0">
            <a:noFill/>
          </a:ln>
        </p:spPr>
        <p:txBody>
          <a:bodyPr lIns="0" tIns="0" rIns="0" bIns="0" anchor="t">
            <a:noAutofit/>
          </a:bodyPr>
          <a:lstStyle/>
          <a:p>
            <a:pPr>
              <a:defRPr sz="2250" b="1">
                <a:solidFill>
                  <a:srgbClr val="1235F7"/>
                </a:solidFill>
                <a:latin typeface="Arial"/>
                <a:ea typeface="Arial"/>
                <a:cs typeface="Arial"/>
              </a:defRPr>
            </a:pPr>
            <a:r>
              <a:rPr sz="2250" b="1">
                <a:solidFill>
                  <a:srgbClr val="1235F7"/>
                </a:solidFill>
                <a:latin typeface="Arial"/>
                <a:ea typeface="Arial"/>
                <a:cs typeface="Arial"/>
              </a:rPr>
              <a:t>3개월 총 계약 규모   $59,000</a:t>
            </a:r>
          </a:p>
        </p:txBody>
      </p:sp>
    </p:spTree>
    <p:extLst>
      <p:ext uri="{BB962C8B-B14F-4D97-AF65-F5344CB8AC3E}">
        <p14:creationId xmlns:p14="http://schemas.microsoft.com/office/powerpoint/2010/main" val="148049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hree month execution plan">
            <a:extLst>
              <a:ext uri="{FF2B5EF4-FFF2-40B4-BE49-F238E27FC236}">
                <a16:creationId xmlns:a16="http://schemas.microsoft.com/office/drawing/2014/main" id="{128676E1-97E9-4D1C-B3D8-875666242299}"/>
              </a:ext>
            </a:extLst>
          </p:cNvPr>
          <p:cNvSpPr>
            <a:spLocks noGrp="1"/>
          </p:cNvSpPr>
          <p:nvPr/>
        </p:nvSpPr>
        <p:spPr>
          <a:xfrm>
            <a:off x="647700" y="619125"/>
            <a:ext cx="10572750" cy="876300"/>
          </a:xfrm>
          <a:prstGeom prst="rect">
            <a:avLst/>
          </a:prstGeom>
          <a:noFill/>
          <a:ln w="0">
            <a:noFill/>
          </a:ln>
        </p:spPr>
        <p:txBody>
          <a:bodyPr lIns="0" tIns="0" rIns="0" bIns="0" anchor="t">
            <a:noAutofit/>
          </a:bodyPr>
          <a:lstStyle/>
          <a:p>
            <a:pPr>
              <a:defRPr sz="3300" b="1">
                <a:solidFill>
                  <a:srgbClr val="121A31"/>
                </a:solidFill>
                <a:latin typeface="Arial"/>
                <a:ea typeface="Arial"/>
                <a:cs typeface="Arial"/>
              </a:defRPr>
            </a:pPr>
            <a:r>
              <a:rPr sz="3300" b="1">
                <a:solidFill>
                  <a:srgbClr val="121A31"/>
                </a:solidFill>
                <a:latin typeface="Arial"/>
                <a:ea typeface="Arial"/>
                <a:cs typeface="Arial"/>
              </a:rPr>
              <a:t>3개월 실행 계획</a:t>
            </a:r>
          </a:p>
        </p:txBody>
      </p:sp>
      <p:sp>
        <p:nvSpPr>
          <p:cNvPr id="2" name="HOPE">
            <a:extLst>
              <a:ext uri="{FF2B5EF4-FFF2-40B4-BE49-F238E27FC236}">
                <a16:creationId xmlns:a16="http://schemas.microsoft.com/office/drawing/2014/main" id="{8941EE78-6D4E-4D42-BB2D-9739019679C6}"/>
              </a:ext>
            </a:extLst>
          </p:cNvPr>
          <p:cNvSpPr>
            <a:spLocks noGrp="1"/>
          </p:cNvSpPr>
          <p:nvPr/>
        </p:nvSpPr>
        <p:spPr>
          <a:xfrm>
            <a:off x="647700" y="6324600"/>
            <a:ext cx="1428750" cy="209550"/>
          </a:xfrm>
          <a:prstGeom prst="rect">
            <a:avLst/>
          </a:prstGeom>
          <a:noFill/>
          <a:ln w="0">
            <a:noFill/>
          </a:ln>
        </p:spPr>
        <p:txBody>
          <a:bodyPr lIns="0" tIns="0" rIns="0" bIns="0" anchor="t">
            <a:noAutofit/>
          </a:bodyPr>
          <a:lstStyle/>
          <a:p>
            <a:pPr>
              <a:defRPr sz="1125" b="1">
                <a:solidFill>
                  <a:srgbClr val="596276"/>
                </a:solidFill>
                <a:latin typeface="Arial"/>
                <a:ea typeface="Arial"/>
                <a:cs typeface="Arial"/>
              </a:defRPr>
            </a:pPr>
            <a:r>
              <a:rPr sz="1125" b="1">
                <a:solidFill>
                  <a:srgbClr val="596276"/>
                </a:solidFill>
                <a:latin typeface="Arial"/>
                <a:ea typeface="Arial"/>
                <a:cs typeface="Arial"/>
              </a:rPr>
              <a:t>HOPE</a:t>
            </a:r>
          </a:p>
        </p:txBody>
      </p:sp>
      <p:sp>
        <p:nvSpPr>
          <p:cNvPr id="3" name="04">
            <a:extLst>
              <a:ext uri="{FF2B5EF4-FFF2-40B4-BE49-F238E27FC236}">
                <a16:creationId xmlns:a16="http://schemas.microsoft.com/office/drawing/2014/main" id="{4F26484E-9A5D-4AB6-BABC-650BD6F56184}"/>
              </a:ext>
            </a:extLst>
          </p:cNvPr>
          <p:cNvSpPr>
            <a:spLocks noGrp="1"/>
          </p:cNvSpPr>
          <p:nvPr/>
        </p:nvSpPr>
        <p:spPr>
          <a:xfrm>
            <a:off x="11239500" y="6324600"/>
            <a:ext cx="381000" cy="209550"/>
          </a:xfrm>
          <a:prstGeom prst="rect">
            <a:avLst/>
          </a:prstGeom>
          <a:noFill/>
          <a:ln w="0">
            <a:noFill/>
          </a:ln>
        </p:spPr>
        <p:txBody>
          <a:bodyPr lIns="0" tIns="0" rIns="0" bIns="0" anchor="t">
            <a:noAutofit/>
          </a:bodyPr>
          <a:lstStyle/>
          <a:p>
            <a:pPr>
              <a:defRPr sz="1125" b="0">
                <a:solidFill>
                  <a:srgbClr val="596276"/>
                </a:solidFill>
                <a:latin typeface="Arial"/>
                <a:ea typeface="Arial"/>
                <a:cs typeface="Arial"/>
              </a:defRPr>
            </a:pPr>
            <a:r>
              <a:rPr sz="1125" b="0">
                <a:solidFill>
                  <a:srgbClr val="596276"/>
                </a:solidFill>
                <a:latin typeface="Arial"/>
                <a:ea typeface="Arial"/>
                <a:cs typeface="Arial"/>
              </a:rPr>
              <a:t>04</a:t>
            </a:r>
          </a:p>
        </p:txBody>
      </p:sp>
      <p:sp>
        <p:nvSpPr>
          <p:cNvPr id="4" name="Month 1">
            <a:extLst>
              <a:ext uri="{FF2B5EF4-FFF2-40B4-BE49-F238E27FC236}">
                <a16:creationId xmlns:a16="http://schemas.microsoft.com/office/drawing/2014/main" id="{C855A992-C77F-4296-9870-4135851509E3}"/>
              </a:ext>
            </a:extLst>
          </p:cNvPr>
          <p:cNvSpPr>
            <a:spLocks noGrp="1"/>
          </p:cNvSpPr>
          <p:nvPr/>
        </p:nvSpPr>
        <p:spPr>
          <a:xfrm>
            <a:off x="647700" y="1762125"/>
            <a:ext cx="3381375" cy="381000"/>
          </a:xfrm>
          <a:prstGeom prst="rect">
            <a:avLst/>
          </a:prstGeom>
          <a:noFill/>
          <a:ln w="0">
            <a:noFill/>
          </a:ln>
        </p:spPr>
        <p:txBody>
          <a:bodyPr lIns="0" tIns="0" rIns="0" bIns="0" anchor="t">
            <a:noAutofit/>
          </a:bodyPr>
          <a:lstStyle/>
          <a:p>
            <a:pPr>
              <a:defRPr sz="1875" b="1">
                <a:solidFill>
                  <a:srgbClr val="1235F7"/>
                </a:solidFill>
                <a:latin typeface="Arial"/>
                <a:ea typeface="Arial"/>
                <a:cs typeface="Arial"/>
              </a:defRPr>
            </a:pPr>
            <a:r>
              <a:rPr sz="1875" b="1">
                <a:solidFill>
                  <a:srgbClr val="1235F7"/>
                </a:solidFill>
                <a:latin typeface="Arial"/>
                <a:ea typeface="Arial"/>
                <a:cs typeface="Arial"/>
              </a:rPr>
              <a:t>1개월 차</a:t>
            </a:r>
          </a:p>
        </p:txBody>
      </p:sp>
      <p:sp>
        <p:nvSpPr>
          <p:cNvPr id="5" name="Foundation">
            <a:extLst>
              <a:ext uri="{FF2B5EF4-FFF2-40B4-BE49-F238E27FC236}">
                <a16:creationId xmlns:a16="http://schemas.microsoft.com/office/drawing/2014/main" id="{0109EF91-8094-419A-9967-853C71C04EED}"/>
              </a:ext>
            </a:extLst>
          </p:cNvPr>
          <p:cNvSpPr>
            <a:spLocks noGrp="1"/>
          </p:cNvSpPr>
          <p:nvPr/>
        </p:nvSpPr>
        <p:spPr>
          <a:xfrm>
            <a:off x="647700" y="2343150"/>
            <a:ext cx="3381375" cy="533400"/>
          </a:xfrm>
          <a:prstGeom prst="rect">
            <a:avLst/>
          </a:prstGeom>
          <a:noFill/>
          <a:ln w="0">
            <a:noFill/>
          </a:ln>
        </p:spPr>
        <p:txBody>
          <a:bodyPr lIns="0" tIns="0" rIns="0" bIns="0" anchor="t">
            <a:noAutofit/>
          </a:bodyPr>
          <a:lstStyle/>
          <a:p>
            <a:pPr>
              <a:defRPr sz="2925" b="1">
                <a:solidFill>
                  <a:srgbClr val="121A31"/>
                </a:solidFill>
                <a:latin typeface="Arial"/>
                <a:ea typeface="Arial"/>
                <a:cs typeface="Arial"/>
              </a:defRPr>
            </a:pPr>
            <a:r>
              <a:rPr sz="2925" b="1">
                <a:solidFill>
                  <a:srgbClr val="121A31"/>
                </a:solidFill>
                <a:latin typeface="Arial"/>
                <a:ea typeface="Arial"/>
                <a:cs typeface="Arial"/>
              </a:rPr>
              <a:t>기반</a:t>
            </a:r>
          </a:p>
        </p:txBody>
      </p:sp>
      <p:sp>
        <p:nvSpPr>
          <p:cNvPr id="6" name="Korean Telegram and FAQ&#10;Tracking and baseline">
            <a:extLst>
              <a:ext uri="{FF2B5EF4-FFF2-40B4-BE49-F238E27FC236}">
                <a16:creationId xmlns:a16="http://schemas.microsoft.com/office/drawing/2014/main" id="{B3FF1250-4CEB-4800-84C3-39B1BBC2BCD0}"/>
              </a:ext>
            </a:extLst>
          </p:cNvPr>
          <p:cNvSpPr>
            <a:spLocks noGrp="1"/>
          </p:cNvSpPr>
          <p:nvPr/>
        </p:nvSpPr>
        <p:spPr>
          <a:xfrm>
            <a:off x="647700" y="3124200"/>
            <a:ext cx="3305175" cy="1619250"/>
          </a:xfrm>
          <a:prstGeom prst="rect">
            <a:avLst/>
          </a:prstGeom>
          <a:noFill/>
          <a:ln w="0">
            <a:noFill/>
          </a:ln>
        </p:spPr>
        <p:txBody>
          <a:bodyPr lIns="0" tIns="0" rIns="0" bIns="0" anchor="t">
            <a:noAutofit/>
          </a:bodyPr>
          <a:lstStyle/>
          <a:p>
            <a:pPr>
              <a:defRPr sz="1950" b="0">
                <a:solidFill>
                  <a:srgbClr val="596276"/>
                </a:solidFill>
                <a:latin typeface="Arial"/>
                <a:ea typeface="Arial"/>
                <a:cs typeface="Arial"/>
              </a:defRPr>
            </a:pPr>
            <a:r>
              <a:rPr sz="1950" b="0">
                <a:solidFill>
                  <a:srgbClr val="596276"/>
                </a:solidFill>
                <a:latin typeface="Arial"/>
                <a:ea typeface="Arial"/>
                <a:cs typeface="Arial"/>
              </a:rPr>
              <a:t>한국어 Telegram 및 FAQ
트래킹과 베이스라인
첫 설명 콘텐츠와 유료 웨이브</a:t>
            </a:r>
          </a:p>
          <a:p>
            <a:pPr>
              <a:defRPr sz="1950" b="0">
                <a:solidFill>
                  <a:srgbClr val="596276"/>
                </a:solidFill>
                <a:latin typeface="Arial"/>
                <a:ea typeface="Arial"/>
                <a:cs typeface="Arial"/>
              </a:defRPr>
            </a:pPr>
            <a:r>
              <a:rPr sz="1950" b="0">
                <a:solidFill>
                  <a:srgbClr val="596276"/>
                </a:solidFill>
                <a:latin typeface="Arial"/>
                <a:ea typeface="Arial"/>
                <a:cs typeface="Arial"/>
              </a:rPr>
              <a:t/>
            </a:r>
          </a:p>
          <a:p>
            <a:pPr>
              <a:defRPr sz="1950" b="0">
                <a:solidFill>
                  <a:srgbClr val="596276"/>
                </a:solidFill>
                <a:latin typeface="Arial"/>
                <a:ea typeface="Arial"/>
                <a:cs typeface="Arial"/>
              </a:defRPr>
            </a:pPr>
            <a:r>
              <a:rPr sz="1950" b="0">
                <a:solidFill>
                  <a:srgbClr val="596276"/>
                </a:solidFill>
                <a:latin typeface="Arial"/>
                <a:ea typeface="Arial"/>
                <a:cs typeface="Arial"/>
              </a:rPr>
              <a:t/>
            </a:r>
          </a:p>
        </p:txBody>
      </p:sp>
      <p:sp>
        <p:nvSpPr>
          <p:cNvPr id="7" name="Week 2: agree targets and cost thresholds">
            <a:extLst>
              <a:ext uri="{FF2B5EF4-FFF2-40B4-BE49-F238E27FC236}">
                <a16:creationId xmlns:a16="http://schemas.microsoft.com/office/drawing/2014/main" id="{806CF60E-4707-46D8-8BE5-EBAA7379D45D}"/>
              </a:ext>
            </a:extLst>
          </p:cNvPr>
          <p:cNvSpPr>
            <a:spLocks noGrp="1"/>
          </p:cNvSpPr>
          <p:nvPr/>
        </p:nvSpPr>
        <p:spPr>
          <a:xfrm>
            <a:off x="647700" y="5057775"/>
            <a:ext cx="3286125" cy="895350"/>
          </a:xfrm>
          <a:prstGeom prst="rect">
            <a:avLst/>
          </a:prstGeom>
          <a:noFill/>
          <a:ln w="0">
            <a:noFill/>
          </a:ln>
        </p:spPr>
        <p:txBody>
          <a:bodyPr lIns="0" tIns="0" rIns="0" bIns="0" anchor="t">
            <a:noAutofit/>
          </a:bodyPr>
          <a:lstStyle/>
          <a:p>
            <a:pPr>
              <a:defRPr sz="1875" b="1">
                <a:solidFill>
                  <a:srgbClr val="121A31"/>
                </a:solidFill>
                <a:latin typeface="Arial"/>
                <a:ea typeface="Arial"/>
                <a:cs typeface="Arial"/>
              </a:defRPr>
            </a:pPr>
            <a:r>
              <a:rPr sz="1875" b="1">
                <a:solidFill>
                  <a:srgbClr val="121A31"/>
                </a:solidFill>
                <a:latin typeface="Arial"/>
                <a:ea typeface="Arial"/>
                <a:cs typeface="Arial"/>
              </a:rPr>
              <a:t>2주차: 목표와 비용 임계치 합의</a:t>
            </a:r>
          </a:p>
        </p:txBody>
      </p:sp>
      <p:sp>
        <p:nvSpPr>
          <p:cNvPr id="8" name="Month 2">
            <a:extLst>
              <a:ext uri="{FF2B5EF4-FFF2-40B4-BE49-F238E27FC236}">
                <a16:creationId xmlns:a16="http://schemas.microsoft.com/office/drawing/2014/main" id="{7D1D80A9-DAB4-4DA0-A8CE-035B9EAF5048}"/>
              </a:ext>
            </a:extLst>
          </p:cNvPr>
          <p:cNvSpPr>
            <a:spLocks noGrp="1"/>
          </p:cNvSpPr>
          <p:nvPr/>
        </p:nvSpPr>
        <p:spPr>
          <a:xfrm>
            <a:off x="4476750" y="1762125"/>
            <a:ext cx="3381375" cy="381000"/>
          </a:xfrm>
          <a:prstGeom prst="rect">
            <a:avLst/>
          </a:prstGeom>
          <a:noFill/>
          <a:ln w="0">
            <a:noFill/>
          </a:ln>
        </p:spPr>
        <p:txBody>
          <a:bodyPr lIns="0" tIns="0" rIns="0" bIns="0" anchor="t">
            <a:noAutofit/>
          </a:bodyPr>
          <a:lstStyle/>
          <a:p>
            <a:pPr>
              <a:defRPr sz="1875" b="1">
                <a:solidFill>
                  <a:srgbClr val="1235F7"/>
                </a:solidFill>
                <a:latin typeface="Arial"/>
                <a:ea typeface="Arial"/>
                <a:cs typeface="Arial"/>
              </a:defRPr>
            </a:pPr>
            <a:r>
              <a:rPr sz="1875" b="1">
                <a:solidFill>
                  <a:srgbClr val="1235F7"/>
                </a:solidFill>
                <a:latin typeface="Arial"/>
                <a:ea typeface="Arial"/>
                <a:cs typeface="Arial"/>
              </a:rPr>
              <a:t>2개월 차</a:t>
            </a:r>
          </a:p>
        </p:txBody>
      </p:sp>
      <p:sp>
        <p:nvSpPr>
          <p:cNvPr id="9" name="Education">
            <a:extLst>
              <a:ext uri="{FF2B5EF4-FFF2-40B4-BE49-F238E27FC236}">
                <a16:creationId xmlns:a16="http://schemas.microsoft.com/office/drawing/2014/main" id="{61774A40-F7EB-4A91-8503-F6FE083E7EE1}"/>
              </a:ext>
            </a:extLst>
          </p:cNvPr>
          <p:cNvSpPr>
            <a:spLocks noGrp="1"/>
          </p:cNvSpPr>
          <p:nvPr/>
        </p:nvSpPr>
        <p:spPr>
          <a:xfrm>
            <a:off x="4476750" y="2343150"/>
            <a:ext cx="3381375" cy="533400"/>
          </a:xfrm>
          <a:prstGeom prst="rect">
            <a:avLst/>
          </a:prstGeom>
          <a:noFill/>
          <a:ln w="0">
            <a:noFill/>
          </a:ln>
        </p:spPr>
        <p:txBody>
          <a:bodyPr lIns="0" tIns="0" rIns="0" bIns="0" anchor="t">
            <a:noAutofit/>
          </a:bodyPr>
          <a:lstStyle/>
          <a:p>
            <a:pPr>
              <a:defRPr sz="2925" b="1">
                <a:solidFill>
                  <a:srgbClr val="121A31"/>
                </a:solidFill>
                <a:latin typeface="Arial"/>
                <a:ea typeface="Arial"/>
                <a:cs typeface="Arial"/>
              </a:defRPr>
            </a:pPr>
            <a:r>
              <a:rPr sz="2925" b="1">
                <a:solidFill>
                  <a:srgbClr val="121A31"/>
                </a:solidFill>
                <a:latin typeface="Arial"/>
                <a:ea typeface="Arial"/>
                <a:cs typeface="Arial"/>
              </a:rPr>
              <a:t>교육</a:t>
            </a:r>
          </a:p>
        </p:txBody>
      </p:sp>
      <p:sp>
        <p:nvSpPr>
          <p:cNvPr id="10" name="Two expert sessions and recaps&#10;Creator progra">
            <a:extLst>
              <a:ext uri="{FF2B5EF4-FFF2-40B4-BE49-F238E27FC236}">
                <a16:creationId xmlns:a16="http://schemas.microsoft.com/office/drawing/2014/main" id="{4E9A4DEA-9113-4495-94C1-331EF334FC7A}"/>
              </a:ext>
            </a:extLst>
          </p:cNvPr>
          <p:cNvSpPr>
            <a:spLocks noGrp="1"/>
          </p:cNvSpPr>
          <p:nvPr/>
        </p:nvSpPr>
        <p:spPr>
          <a:xfrm>
            <a:off x="4476750" y="3124200"/>
            <a:ext cx="3305175" cy="1619250"/>
          </a:xfrm>
          <a:prstGeom prst="rect">
            <a:avLst/>
          </a:prstGeom>
          <a:noFill/>
          <a:ln w="0">
            <a:noFill/>
          </a:ln>
        </p:spPr>
        <p:txBody>
          <a:bodyPr lIns="0" tIns="0" rIns="0" bIns="0" anchor="t">
            <a:noAutofit/>
          </a:bodyPr>
          <a:lstStyle/>
          <a:p>
            <a:pPr>
              <a:defRPr sz="1950" b="0">
                <a:solidFill>
                  <a:srgbClr val="596276"/>
                </a:solidFill>
                <a:latin typeface="Arial"/>
                <a:ea typeface="Arial"/>
                <a:cs typeface="Arial"/>
              </a:defRPr>
            </a:pPr>
            <a:r>
              <a:rPr sz="1950" b="0">
                <a:solidFill>
                  <a:srgbClr val="596276"/>
                </a:solidFill>
                <a:latin typeface="Arial"/>
                <a:ea typeface="Arial"/>
                <a:cs typeface="Arial"/>
              </a:rPr>
              <a:t>AMA 세션 2회 및 요약
크리에이터 프로그램
피처 인터뷰와
다음 웨이브</a:t>
            </a:r>
            <a:r>
              <a:rPr lang="en-US" sz="1950">
                <a:solidFill>
                  <a:srgbClr val="596276"/>
                </a:solidFill>
                <a:latin typeface="Arial"/>
                <a:ea typeface="Arial"/>
                <a:cs typeface="Arial"/>
              </a:rPr>
              <a:t/>
            </a:r>
            <a:r>
              <a:rPr sz="1950" b="0">
                <a:solidFill>
                  <a:srgbClr val="596276"/>
                </a:solidFill>
                <a:latin typeface="Arial"/>
                <a:ea typeface="Arial"/>
                <a:cs typeface="Arial"/>
              </a:rPr>
              <a:t/>
            </a:r>
            <a:r>
              <a:rPr lang="en-US" sz="1950" b="0">
                <a:solidFill>
                  <a:srgbClr val="596276"/>
                </a:solidFill>
                <a:latin typeface="Arial"/>
                <a:ea typeface="Arial"/>
                <a:cs typeface="Arial"/>
              </a:rPr>
              <a:t/>
            </a:r>
            <a:r>
              <a:rPr sz="1950" b="0">
                <a:solidFill>
                  <a:srgbClr val="596276"/>
                </a:solidFill>
                <a:latin typeface="Arial"/>
                <a:ea typeface="Arial"/>
                <a:cs typeface="Arial"/>
              </a:rPr>
              <a:t/>
            </a:r>
          </a:p>
          <a:p>
            <a:pPr>
              <a:defRPr sz="1950" b="0">
                <a:solidFill>
                  <a:srgbClr val="596276"/>
                </a:solidFill>
                <a:latin typeface="Arial"/>
                <a:ea typeface="Arial"/>
                <a:cs typeface="Arial"/>
              </a:defRPr>
            </a:pPr>
            <a:r>
              <a:rPr sz="1950" b="0">
                <a:solidFill>
                  <a:srgbClr val="596276"/>
                </a:solidFill>
                <a:latin typeface="Arial"/>
                <a:ea typeface="Arial"/>
                <a:cs typeface="Arial"/>
              </a:rPr>
              <a:t/>
            </a:r>
          </a:p>
          <a:p>
            <a:pPr>
              <a:defRPr sz="1950" b="0">
                <a:solidFill>
                  <a:srgbClr val="596276"/>
                </a:solidFill>
                <a:latin typeface="Arial"/>
                <a:ea typeface="Arial"/>
                <a:cs typeface="Arial"/>
              </a:defRPr>
            </a:pPr>
            <a:r>
              <a:rPr sz="1950" b="0">
                <a:solidFill>
                  <a:srgbClr val="596276"/>
                </a:solidFill>
                <a:latin typeface="Arial"/>
                <a:ea typeface="Arial"/>
                <a:cs typeface="Arial"/>
              </a:rPr>
              <a:t/>
            </a:r>
            <a:endParaRPr lang="en-US" sz="1950" b="0">
              <a:solidFill>
                <a:srgbClr val="596276"/>
              </a:solidFill>
              <a:latin typeface="Arial"/>
              <a:ea typeface="Arial"/>
              <a:cs typeface="Arial"/>
            </a:endParaRPr>
          </a:p>
          <a:p>
            <a:pPr>
              <a:defRPr sz="1950" b="0">
                <a:solidFill>
                  <a:srgbClr val="596276"/>
                </a:solidFill>
                <a:latin typeface="Arial"/>
                <a:ea typeface="Arial"/>
                <a:cs typeface="Arial"/>
              </a:defRPr>
            </a:pPr>
            <a:r>
              <a:rPr sz="1950" b="0">
                <a:solidFill>
                  <a:srgbClr val="596276"/>
                </a:solidFill>
                <a:latin typeface="Arial"/>
                <a:ea typeface="Arial"/>
                <a:cs typeface="Arial"/>
              </a:rPr>
              <a:t/>
            </a:r>
          </a:p>
        </p:txBody>
      </p:sp>
      <p:sp>
        <p:nvSpPr>
          <p:cNvPr id="11" name="Review qualified participation and channel co">
            <a:extLst>
              <a:ext uri="{FF2B5EF4-FFF2-40B4-BE49-F238E27FC236}">
                <a16:creationId xmlns:a16="http://schemas.microsoft.com/office/drawing/2014/main" id="{4C2592E7-84FF-415A-8FE5-D701DEBC7FDE}"/>
              </a:ext>
            </a:extLst>
          </p:cNvPr>
          <p:cNvSpPr>
            <a:spLocks noGrp="1"/>
          </p:cNvSpPr>
          <p:nvPr/>
        </p:nvSpPr>
        <p:spPr>
          <a:xfrm>
            <a:off x="4476750" y="5057775"/>
            <a:ext cx="3286125" cy="895350"/>
          </a:xfrm>
          <a:prstGeom prst="rect">
            <a:avLst/>
          </a:prstGeom>
          <a:noFill/>
          <a:ln w="0">
            <a:noFill/>
          </a:ln>
        </p:spPr>
        <p:txBody>
          <a:bodyPr lIns="0" tIns="0" rIns="0" bIns="0" anchor="t">
            <a:noAutofit/>
          </a:bodyPr>
          <a:lstStyle/>
          <a:p>
            <a:pPr>
              <a:defRPr sz="1875" b="1">
                <a:solidFill>
                  <a:srgbClr val="121A31"/>
                </a:solidFill>
                <a:latin typeface="Arial"/>
                <a:ea typeface="Arial"/>
                <a:cs typeface="Arial"/>
              </a:defRPr>
            </a:pPr>
            <a:r>
              <a:rPr sz="1875" b="1">
                <a:solidFill>
                  <a:srgbClr val="121A31"/>
                </a:solidFill>
                <a:latin typeface="Arial"/>
                <a:ea typeface="Arial"/>
                <a:cs typeface="Arial"/>
              </a:rPr>
              <a:t>적격 참여와 채널 비용 검토</a:t>
            </a:r>
          </a:p>
        </p:txBody>
      </p:sp>
      <p:sp>
        <p:nvSpPr>
          <p:cNvPr id="12" name="Month 3">
            <a:extLst>
              <a:ext uri="{FF2B5EF4-FFF2-40B4-BE49-F238E27FC236}">
                <a16:creationId xmlns:a16="http://schemas.microsoft.com/office/drawing/2014/main" id="{252E65B4-AB10-45CC-88B3-08526F2B6087}"/>
              </a:ext>
            </a:extLst>
          </p:cNvPr>
          <p:cNvSpPr>
            <a:spLocks noGrp="1"/>
          </p:cNvSpPr>
          <p:nvPr/>
        </p:nvSpPr>
        <p:spPr>
          <a:xfrm>
            <a:off x="8305800" y="1762125"/>
            <a:ext cx="3381375" cy="381000"/>
          </a:xfrm>
          <a:prstGeom prst="rect">
            <a:avLst/>
          </a:prstGeom>
          <a:noFill/>
          <a:ln w="0">
            <a:noFill/>
          </a:ln>
        </p:spPr>
        <p:txBody>
          <a:bodyPr lIns="0" tIns="0" rIns="0" bIns="0" anchor="t">
            <a:noAutofit/>
          </a:bodyPr>
          <a:lstStyle/>
          <a:p>
            <a:pPr>
              <a:defRPr sz="1875" b="1">
                <a:solidFill>
                  <a:srgbClr val="1235F7"/>
                </a:solidFill>
                <a:latin typeface="Arial"/>
                <a:ea typeface="Arial"/>
                <a:cs typeface="Arial"/>
              </a:defRPr>
            </a:pPr>
            <a:r>
              <a:rPr sz="1875" b="1">
                <a:solidFill>
                  <a:srgbClr val="1235F7"/>
                </a:solidFill>
                <a:latin typeface="Arial"/>
                <a:ea typeface="Arial"/>
                <a:cs typeface="Arial"/>
              </a:rPr>
              <a:t>3개월 차</a:t>
            </a:r>
          </a:p>
        </p:txBody>
      </p:sp>
      <p:sp>
        <p:nvSpPr>
          <p:cNvPr id="13" name="Activation">
            <a:extLst>
              <a:ext uri="{FF2B5EF4-FFF2-40B4-BE49-F238E27FC236}">
                <a16:creationId xmlns:a16="http://schemas.microsoft.com/office/drawing/2014/main" id="{4533D01E-19F8-42E9-9BEA-77E16326BEFF}"/>
              </a:ext>
            </a:extLst>
          </p:cNvPr>
          <p:cNvSpPr>
            <a:spLocks noGrp="1"/>
          </p:cNvSpPr>
          <p:nvPr/>
        </p:nvSpPr>
        <p:spPr>
          <a:xfrm>
            <a:off x="8305800" y="2343150"/>
            <a:ext cx="3381375" cy="533400"/>
          </a:xfrm>
          <a:prstGeom prst="rect">
            <a:avLst/>
          </a:prstGeom>
          <a:noFill/>
          <a:ln w="0">
            <a:noFill/>
          </a:ln>
        </p:spPr>
        <p:txBody>
          <a:bodyPr lIns="0" tIns="0" rIns="0" bIns="0" anchor="t">
            <a:noAutofit/>
          </a:bodyPr>
          <a:lstStyle/>
          <a:p>
            <a:pPr>
              <a:defRPr sz="2925" b="1">
                <a:solidFill>
                  <a:srgbClr val="121A31"/>
                </a:solidFill>
                <a:latin typeface="Arial"/>
                <a:ea typeface="Arial"/>
                <a:cs typeface="Arial"/>
              </a:defRPr>
            </a:pPr>
            <a:r>
              <a:rPr sz="2925" b="1">
                <a:solidFill>
                  <a:srgbClr val="121A31"/>
                </a:solidFill>
                <a:latin typeface="Arial"/>
                <a:ea typeface="Arial"/>
                <a:cs typeface="Arial"/>
              </a:rPr>
              <a:t>활성화</a:t>
            </a:r>
          </a:p>
        </p:txBody>
      </p:sp>
      <p:sp>
        <p:nvSpPr>
          <p:cNvPr id="14" name="Amplify effective content&#10;Video and one Seoul">
            <a:extLst>
              <a:ext uri="{FF2B5EF4-FFF2-40B4-BE49-F238E27FC236}">
                <a16:creationId xmlns:a16="http://schemas.microsoft.com/office/drawing/2014/main" id="{E82795C8-C956-4F9C-AAC3-79368FF2FFA1}"/>
              </a:ext>
            </a:extLst>
          </p:cNvPr>
          <p:cNvSpPr>
            <a:spLocks noGrp="1"/>
          </p:cNvSpPr>
          <p:nvPr/>
        </p:nvSpPr>
        <p:spPr>
          <a:xfrm>
            <a:off x="8305800" y="3124200"/>
            <a:ext cx="3305175" cy="1619250"/>
          </a:xfrm>
          <a:prstGeom prst="rect">
            <a:avLst/>
          </a:prstGeom>
          <a:noFill/>
          <a:ln w="0">
            <a:noFill/>
          </a:ln>
        </p:spPr>
        <p:txBody>
          <a:bodyPr lIns="0" tIns="0" rIns="0" bIns="0" anchor="t">
            <a:noAutofit/>
          </a:bodyPr>
          <a:lstStyle/>
          <a:p>
            <a:pPr>
              <a:defRPr sz="1950" b="0">
                <a:solidFill>
                  <a:srgbClr val="596276"/>
                </a:solidFill>
                <a:latin typeface="Arial"/>
                <a:ea typeface="Arial"/>
                <a:cs typeface="Arial"/>
              </a:defRPr>
            </a:pPr>
            <a:r>
              <a:rPr lang="en-US" sz="1950">
                <a:solidFill>
                  <a:srgbClr val="596276"/>
                </a:solidFill>
                <a:latin typeface="Arial"/>
                <a:ea typeface="Arial"/>
                <a:cs typeface="Arial"/>
              </a:rPr>
              <a:t>콘텐츠·영상
서울 이벤트(옵션)
동의한 리드
후속 연락</a:t>
            </a:r>
            <a:r>
              <a:rPr sz="1950" b="0">
                <a:solidFill>
                  <a:srgbClr val="596276"/>
                </a:solidFill>
                <a:latin typeface="Arial"/>
                <a:ea typeface="Arial"/>
                <a:cs typeface="Arial"/>
              </a:rPr>
              <a:t/>
            </a:r>
            <a:r>
              <a:rPr lang="en-US" sz="1950">
                <a:solidFill>
                  <a:srgbClr val="596276"/>
                </a:solidFill>
                <a:latin typeface="Arial"/>
                <a:ea typeface="Arial"/>
                <a:cs typeface="Arial"/>
              </a:rPr>
              <a:t/>
            </a:r>
            <a:r>
              <a:rPr sz="1950" b="0">
                <a:solidFill>
                  <a:srgbClr val="596276"/>
                </a:solidFill>
                <a:latin typeface="Arial"/>
                <a:ea typeface="Arial"/>
                <a:cs typeface="Arial"/>
              </a:rPr>
              <a:t/>
            </a:r>
            <a:endParaRPr lang="en-US" sz="1950">
              <a:solidFill>
                <a:srgbClr val="596276"/>
              </a:solidFill>
              <a:latin typeface="Arial"/>
              <a:ea typeface="Arial"/>
              <a:cs typeface="Arial"/>
            </a:endParaRPr>
          </a:p>
          <a:p>
            <a:pPr>
              <a:defRPr sz="1950" b="0">
                <a:solidFill>
                  <a:srgbClr val="596276"/>
                </a:solidFill>
                <a:latin typeface="Arial"/>
                <a:ea typeface="Arial"/>
                <a:cs typeface="Arial"/>
              </a:defRPr>
            </a:pPr>
            <a:r>
              <a:rPr sz="1950" b="0">
                <a:solidFill>
                  <a:srgbClr val="596276"/>
                </a:solidFill>
                <a:latin typeface="Arial"/>
                <a:ea typeface="Arial"/>
                <a:cs typeface="Arial"/>
              </a:rPr>
              <a:t/>
            </a:r>
            <a:r>
              <a:rPr lang="en-US" sz="1950" b="0">
                <a:solidFill>
                  <a:srgbClr val="596276"/>
                </a:solidFill>
                <a:latin typeface="Arial"/>
                <a:ea typeface="Arial"/>
                <a:cs typeface="Arial"/>
              </a:rPr>
              <a:t/>
            </a:r>
            <a:r>
              <a:rPr lang="en-US" sz="1950">
                <a:solidFill>
                  <a:srgbClr val="596276"/>
                </a:solidFill>
                <a:latin typeface="Arial"/>
                <a:ea typeface="Arial"/>
                <a:cs typeface="Arial"/>
              </a:rPr>
              <a:t/>
            </a:r>
            <a:endParaRPr sz="1950" b="0">
              <a:solidFill>
                <a:srgbClr val="596276"/>
              </a:solidFill>
              <a:latin typeface="Arial"/>
              <a:ea typeface="Arial"/>
              <a:cs typeface="Arial"/>
            </a:endParaRPr>
          </a:p>
          <a:p>
            <a:pPr>
              <a:defRPr sz="1950" b="0">
                <a:solidFill>
                  <a:srgbClr val="596276"/>
                </a:solidFill>
                <a:latin typeface="Arial"/>
                <a:ea typeface="Arial"/>
                <a:cs typeface="Arial"/>
              </a:defRPr>
            </a:pPr>
            <a:r>
              <a:rPr sz="1950" b="0">
                <a:solidFill>
                  <a:srgbClr val="596276"/>
                </a:solidFill>
                <a:latin typeface="Arial"/>
                <a:ea typeface="Arial"/>
                <a:cs typeface="Arial"/>
              </a:rPr>
              <a:t/>
            </a:r>
            <a:endParaRPr lang="en-US" sz="1950" b="0">
              <a:solidFill>
                <a:srgbClr val="596276"/>
              </a:solidFill>
              <a:latin typeface="Arial"/>
              <a:ea typeface="Arial"/>
              <a:cs typeface="Arial"/>
            </a:endParaRPr>
          </a:p>
          <a:p>
            <a:pPr>
              <a:defRPr sz="1950" b="0">
                <a:solidFill>
                  <a:srgbClr val="596276"/>
                </a:solidFill>
                <a:latin typeface="Arial"/>
                <a:ea typeface="Arial"/>
                <a:cs typeface="Arial"/>
              </a:defRPr>
            </a:pPr>
            <a:r>
              <a:rPr sz="1950" b="0">
                <a:solidFill>
                  <a:srgbClr val="596276"/>
                </a:solidFill>
                <a:latin typeface="Arial"/>
                <a:ea typeface="Arial"/>
                <a:cs typeface="Arial"/>
              </a:rPr>
              <a:t/>
            </a:r>
          </a:p>
        </p:txBody>
      </p:sp>
      <p:sp>
        <p:nvSpPr>
          <p:cNvPr id="15" name="Evaluate eligible actions and continuation">
            <a:extLst>
              <a:ext uri="{FF2B5EF4-FFF2-40B4-BE49-F238E27FC236}">
                <a16:creationId xmlns:a16="http://schemas.microsoft.com/office/drawing/2014/main" id="{F0A0645F-FD25-4376-BB01-175F14A1DA8E}"/>
              </a:ext>
            </a:extLst>
          </p:cNvPr>
          <p:cNvSpPr>
            <a:spLocks noGrp="1"/>
          </p:cNvSpPr>
          <p:nvPr/>
        </p:nvSpPr>
        <p:spPr>
          <a:xfrm>
            <a:off x="8305800" y="5057775"/>
            <a:ext cx="3286125" cy="895350"/>
          </a:xfrm>
          <a:prstGeom prst="rect">
            <a:avLst/>
          </a:prstGeom>
          <a:noFill/>
          <a:ln w="0">
            <a:noFill/>
          </a:ln>
        </p:spPr>
        <p:txBody>
          <a:bodyPr lIns="0" tIns="0" rIns="0" bIns="0" anchor="t">
            <a:noAutofit/>
          </a:bodyPr>
          <a:lstStyle/>
          <a:p>
            <a:pPr>
              <a:defRPr sz="1875" b="1">
                <a:solidFill>
                  <a:srgbClr val="121A31"/>
                </a:solidFill>
                <a:latin typeface="Arial"/>
                <a:ea typeface="Arial"/>
                <a:cs typeface="Arial"/>
              </a:defRPr>
            </a:pPr>
            <a:r>
              <a:rPr sz="1875" b="1">
                <a:solidFill>
                  <a:srgbClr val="121A31"/>
                </a:solidFill>
                <a:latin typeface="Arial"/>
                <a:ea typeface="Arial"/>
                <a:cs typeface="Arial"/>
              </a:rPr>
              <a:t>적격 행동과 지속 여부 평가</a:t>
            </a:r>
          </a:p>
        </p:txBody>
      </p:sp>
    </p:spTree>
    <p:extLst>
      <p:ext uri="{BB962C8B-B14F-4D97-AF65-F5344CB8AC3E}">
        <p14:creationId xmlns:p14="http://schemas.microsoft.com/office/powerpoint/2010/main" val="329948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Korea market entry priority">
            <a:extLst>
              <a:ext uri="{FF2B5EF4-FFF2-40B4-BE49-F238E27FC236}">
                <a16:creationId xmlns:a16="http://schemas.microsoft.com/office/drawing/2014/main" id="{CC80C8AA-5BF5-4F10-9A10-D6995E66B2FB}"/>
              </a:ext>
            </a:extLst>
          </p:cNvPr>
          <p:cNvSpPr>
            <a:spLocks noGrp="1"/>
          </p:cNvSpPr>
          <p:nvPr/>
        </p:nvSpPr>
        <p:spPr>
          <a:xfrm>
            <a:off x="647700" y="619125"/>
            <a:ext cx="10572750" cy="876300"/>
          </a:xfrm>
          <a:prstGeom prst="rect">
            <a:avLst/>
          </a:prstGeom>
          <a:noFill/>
          <a:ln w="0">
            <a:noFill/>
          </a:ln>
        </p:spPr>
        <p:txBody>
          <a:bodyPr lIns="0" tIns="0" rIns="0" bIns="0" anchor="t">
            <a:noAutofit/>
          </a:bodyPr>
          <a:lstStyle/>
          <a:p>
            <a:pPr>
              <a:defRPr sz="3300" b="1">
                <a:solidFill>
                  <a:srgbClr val="121A31"/>
                </a:solidFill>
                <a:latin typeface="Arial"/>
                <a:ea typeface="Arial"/>
                <a:cs typeface="Arial"/>
              </a:defRPr>
            </a:pPr>
            <a:r>
              <a:rPr sz="3300" b="1" dirty="0">
                <a:solidFill>
                  <a:srgbClr val="121A31"/>
                </a:solidFill>
                <a:latin typeface="Arial"/>
                <a:ea typeface="Arial"/>
                <a:cs typeface="Arial"/>
              </a:rPr>
              <a:t>한국 시장 진출 우선순위</a:t>
            </a:r>
          </a:p>
        </p:txBody>
      </p:sp>
      <p:sp>
        <p:nvSpPr>
          <p:cNvPr id="2" name="HOPE">
            <a:extLst>
              <a:ext uri="{FF2B5EF4-FFF2-40B4-BE49-F238E27FC236}">
                <a16:creationId xmlns:a16="http://schemas.microsoft.com/office/drawing/2014/main" id="{460D72EB-0322-49F3-8B18-EF36446EFD61}"/>
              </a:ext>
            </a:extLst>
          </p:cNvPr>
          <p:cNvSpPr>
            <a:spLocks noGrp="1"/>
          </p:cNvSpPr>
          <p:nvPr/>
        </p:nvSpPr>
        <p:spPr>
          <a:xfrm>
            <a:off x="647700" y="6324600"/>
            <a:ext cx="1428750" cy="209550"/>
          </a:xfrm>
          <a:prstGeom prst="rect">
            <a:avLst/>
          </a:prstGeom>
          <a:noFill/>
          <a:ln w="0">
            <a:noFill/>
          </a:ln>
        </p:spPr>
        <p:txBody>
          <a:bodyPr lIns="0" tIns="0" rIns="0" bIns="0" anchor="t">
            <a:noAutofit/>
          </a:bodyPr>
          <a:lstStyle/>
          <a:p>
            <a:pPr>
              <a:defRPr sz="1125" b="1">
                <a:solidFill>
                  <a:srgbClr val="596276"/>
                </a:solidFill>
                <a:latin typeface="Arial"/>
                <a:ea typeface="Arial"/>
                <a:cs typeface="Arial"/>
              </a:defRPr>
            </a:pPr>
            <a:r>
              <a:rPr sz="1125" b="1" dirty="0">
                <a:solidFill>
                  <a:srgbClr val="596276"/>
                </a:solidFill>
                <a:latin typeface="Arial"/>
                <a:ea typeface="Arial"/>
                <a:cs typeface="Arial"/>
              </a:rPr>
              <a:t>HOPE</a:t>
            </a:r>
          </a:p>
        </p:txBody>
      </p:sp>
      <p:sp>
        <p:nvSpPr>
          <p:cNvPr id="3" name="02">
            <a:extLst>
              <a:ext uri="{FF2B5EF4-FFF2-40B4-BE49-F238E27FC236}">
                <a16:creationId xmlns:a16="http://schemas.microsoft.com/office/drawing/2014/main" id="{597560AA-4568-4CA5-90F4-A6F3E7F120E4}"/>
              </a:ext>
            </a:extLst>
          </p:cNvPr>
          <p:cNvSpPr>
            <a:spLocks noGrp="1"/>
          </p:cNvSpPr>
          <p:nvPr/>
        </p:nvSpPr>
        <p:spPr>
          <a:xfrm>
            <a:off x="11239500" y="6324600"/>
            <a:ext cx="381000" cy="209550"/>
          </a:xfrm>
          <a:prstGeom prst="rect">
            <a:avLst/>
          </a:prstGeom>
          <a:noFill/>
          <a:ln w="0">
            <a:noFill/>
          </a:ln>
        </p:spPr>
        <p:txBody>
          <a:bodyPr lIns="0" tIns="0" rIns="0" bIns="0" anchor="t">
            <a:noAutofit/>
          </a:bodyPr>
          <a:lstStyle/>
          <a:p>
            <a:pPr>
              <a:defRPr sz="1125" b="0">
                <a:solidFill>
                  <a:srgbClr val="596276"/>
                </a:solidFill>
                <a:latin typeface="Arial"/>
                <a:ea typeface="Arial"/>
                <a:cs typeface="Arial"/>
              </a:defRPr>
            </a:pPr>
            <a:r>
              <a:rPr sz="1125" b="0" dirty="0">
                <a:solidFill>
                  <a:srgbClr val="596276"/>
                </a:solidFill>
                <a:latin typeface="Arial"/>
                <a:ea typeface="Arial"/>
                <a:cs typeface="Arial"/>
              </a:rPr>
              <a:t>02</a:t>
            </a:r>
          </a:p>
        </p:txBody>
      </p:sp>
      <p:sp>
        <p:nvSpPr>
          <p:cNvPr id="4" name="Current position">
            <a:extLst>
              <a:ext uri="{FF2B5EF4-FFF2-40B4-BE49-F238E27FC236}">
                <a16:creationId xmlns:a16="http://schemas.microsoft.com/office/drawing/2014/main" id="{707089B7-7051-4E6C-9A12-ACAF10F6DF6D}"/>
              </a:ext>
            </a:extLst>
          </p:cNvPr>
          <p:cNvSpPr>
            <a:spLocks noGrp="1"/>
          </p:cNvSpPr>
          <p:nvPr/>
        </p:nvSpPr>
        <p:spPr>
          <a:xfrm>
            <a:off x="647700" y="1762125"/>
            <a:ext cx="4762500" cy="400050"/>
          </a:xfrm>
          <a:prstGeom prst="rect">
            <a:avLst/>
          </a:prstGeom>
          <a:noFill/>
          <a:ln w="0">
            <a:noFill/>
          </a:ln>
        </p:spPr>
        <p:txBody>
          <a:bodyPr lIns="0" tIns="0" rIns="0" bIns="0" anchor="t">
            <a:noAutofit/>
          </a:bodyPr>
          <a:lstStyle/>
          <a:p>
            <a:pPr>
              <a:defRPr sz="2100" b="1">
                <a:solidFill>
                  <a:srgbClr val="1235F7"/>
                </a:solidFill>
                <a:latin typeface="Arial"/>
                <a:ea typeface="Arial"/>
                <a:cs typeface="Arial"/>
              </a:defRPr>
            </a:pPr>
            <a:r>
              <a:rPr sz="2100" b="1" dirty="0">
                <a:solidFill>
                  <a:srgbClr val="1235F7"/>
                </a:solidFill>
                <a:latin typeface="Arial"/>
                <a:ea typeface="Arial"/>
                <a:cs typeface="Arial"/>
              </a:rPr>
              <a:t>현재 포지션</a:t>
            </a:r>
          </a:p>
        </p:txBody>
      </p:sp>
      <p:sp>
        <p:nvSpPr>
          <p:cNvPr id="5" name="3Jane funds fintech credit and has launched L">
            <a:extLst>
              <a:ext uri="{FF2B5EF4-FFF2-40B4-BE49-F238E27FC236}">
                <a16:creationId xmlns:a16="http://schemas.microsoft.com/office/drawing/2014/main" id="{C635D20D-F59E-4A14-8A7B-E4000069BC24}"/>
              </a:ext>
            </a:extLst>
          </p:cNvPr>
          <p:cNvSpPr>
            <a:spLocks noGrp="1"/>
          </p:cNvSpPr>
          <p:nvPr/>
        </p:nvSpPr>
        <p:spPr>
          <a:xfrm>
            <a:off x="647700" y="2352675"/>
            <a:ext cx="4714875" cy="952500"/>
          </a:xfrm>
          <a:prstGeom prst="rect">
            <a:avLst/>
          </a:prstGeom>
          <a:noFill/>
          <a:ln w="0">
            <a:noFill/>
          </a:ln>
        </p:spPr>
        <p:txBody>
          <a:bodyPr lIns="0" tIns="0" rIns="0" bIns="0" anchor="t">
            <a:noAutofit/>
          </a:bodyPr>
          <a:lstStyle/>
          <a:p>
            <a:pPr>
              <a:defRPr sz="2400" b="1">
                <a:solidFill>
                  <a:srgbClr val="121A31"/>
                </a:solidFill>
                <a:latin typeface="Arial"/>
                <a:ea typeface="Arial"/>
                <a:cs typeface="Arial"/>
              </a:defRPr>
            </a:pPr>
            <a:r>
              <a:rPr sz="2400" b="1" dirty="0">
                <a:solidFill>
                  <a:srgbClr val="121A31"/>
                </a:solidFill>
                <a:latin typeface="Arial"/>
                <a:ea typeface="Arial"/>
                <a:cs typeface="Arial"/>
              </a:rPr>
              <a:t>3Jane은 핀테크 신용에 자금을 공급하며
Levered Callable Capital을 론칭했습니다.</a:t>
            </a:r>
            <a:endParaRPr lang="en-US" sz="2400" b="1" dirty="0">
              <a:solidFill>
                <a:srgbClr val="121A31"/>
              </a:solidFill>
              <a:latin typeface="Arial"/>
              <a:ea typeface="Arial"/>
              <a:cs typeface="Arial"/>
            </a:endParaRPr>
          </a:p>
          <a:p>
            <a:pPr>
              <a:defRPr sz="2400" b="1">
                <a:solidFill>
                  <a:srgbClr val="121A31"/>
                </a:solidFill>
                <a:latin typeface="Arial"/>
                <a:ea typeface="Arial"/>
                <a:cs typeface="Arial"/>
              </a:defRPr>
            </a:pPr>
            <a:r>
              <a:rPr sz="2400" b="1" dirty="0">
                <a:solidFill>
                  <a:srgbClr val="121A31"/>
                </a:solidFill>
                <a:latin typeface="Arial"/>
                <a:ea typeface="Arial"/>
                <a:cs typeface="Arial"/>
              </a:rPr>
              <a:t/>
            </a:r>
          </a:p>
        </p:txBody>
      </p:sp>
      <p:sp>
        <p:nvSpPr>
          <p:cNvPr id="6" name="Korean demand and acquisition costs still nee">
            <a:extLst>
              <a:ext uri="{FF2B5EF4-FFF2-40B4-BE49-F238E27FC236}">
                <a16:creationId xmlns:a16="http://schemas.microsoft.com/office/drawing/2014/main" id="{371E52EA-8E5C-43C1-B47D-2BCE4B27DBDF}"/>
              </a:ext>
            </a:extLst>
          </p:cNvPr>
          <p:cNvSpPr>
            <a:spLocks noGrp="1"/>
          </p:cNvSpPr>
          <p:nvPr/>
        </p:nvSpPr>
        <p:spPr>
          <a:xfrm>
            <a:off x="647700" y="3590925"/>
            <a:ext cx="4572000" cy="895350"/>
          </a:xfrm>
          <a:prstGeom prst="rect">
            <a:avLst/>
          </a:prstGeom>
          <a:noFill/>
          <a:ln w="0">
            <a:noFill/>
          </a:ln>
        </p:spPr>
        <p:txBody>
          <a:bodyPr lIns="0" tIns="0" rIns="0" bIns="0" anchor="t">
            <a:noAutofit/>
          </a:bodyPr>
          <a:lstStyle/>
          <a:p>
            <a:pPr>
              <a:defRPr sz="2100" b="0">
                <a:solidFill>
                  <a:srgbClr val="596276"/>
                </a:solidFill>
                <a:latin typeface="Arial"/>
                <a:ea typeface="Arial"/>
                <a:cs typeface="Arial"/>
              </a:defRPr>
            </a:pPr>
            <a:r>
              <a:rPr sz="2100" b="0" dirty="0">
                <a:solidFill>
                  <a:srgbClr val="596276"/>
                </a:solidFill>
                <a:latin typeface="Arial"/>
                <a:ea typeface="Arial"/>
                <a:cs typeface="Arial"/>
              </a:rPr>
              <a:t>한국 수요와 획득 비용은 여전히 검증이 필요합니다.</a:t>
            </a:r>
          </a:p>
        </p:txBody>
      </p:sp>
      <p:sp>
        <p:nvSpPr>
          <p:cNvPr id="7" name="Recommended focus">
            <a:extLst>
              <a:ext uri="{FF2B5EF4-FFF2-40B4-BE49-F238E27FC236}">
                <a16:creationId xmlns:a16="http://schemas.microsoft.com/office/drawing/2014/main" id="{61376507-1B1E-4482-95EC-0F9E45A1E0F1}"/>
              </a:ext>
            </a:extLst>
          </p:cNvPr>
          <p:cNvSpPr>
            <a:spLocks noGrp="1"/>
          </p:cNvSpPr>
          <p:nvPr/>
        </p:nvSpPr>
        <p:spPr>
          <a:xfrm>
            <a:off x="6496050" y="1762125"/>
            <a:ext cx="4762500" cy="400050"/>
          </a:xfrm>
          <a:prstGeom prst="rect">
            <a:avLst/>
          </a:prstGeom>
          <a:noFill/>
          <a:ln w="0">
            <a:noFill/>
          </a:ln>
        </p:spPr>
        <p:txBody>
          <a:bodyPr lIns="0" tIns="0" rIns="0" bIns="0" anchor="t">
            <a:noAutofit/>
          </a:bodyPr>
          <a:lstStyle/>
          <a:p>
            <a:pPr>
              <a:defRPr sz="2100" b="1">
                <a:solidFill>
                  <a:srgbClr val="1235F7"/>
                </a:solidFill>
                <a:latin typeface="Arial"/>
                <a:ea typeface="Arial"/>
                <a:cs typeface="Arial"/>
              </a:defRPr>
            </a:pPr>
            <a:r>
              <a:rPr sz="2100" b="1" dirty="0">
                <a:solidFill>
                  <a:srgbClr val="1235F7"/>
                </a:solidFill>
                <a:latin typeface="Arial"/>
                <a:ea typeface="Arial"/>
                <a:cs typeface="Arial"/>
              </a:rPr>
              <a:t>권장 포커스</a:t>
            </a:r>
          </a:p>
        </p:txBody>
      </p:sp>
      <p:sp>
        <p:nvSpPr>
          <p:cNvPr id="8" name="Experienced stablecoin suppliers and larger l">
            <a:extLst>
              <a:ext uri="{FF2B5EF4-FFF2-40B4-BE49-F238E27FC236}">
                <a16:creationId xmlns:a16="http://schemas.microsoft.com/office/drawing/2014/main" id="{C6E0AB29-C572-47F0-9065-9524FB7AC3CA}"/>
              </a:ext>
            </a:extLst>
          </p:cNvPr>
          <p:cNvSpPr>
            <a:spLocks noGrp="1"/>
          </p:cNvSpPr>
          <p:nvPr/>
        </p:nvSpPr>
        <p:spPr>
          <a:xfrm>
            <a:off x="6496050" y="2352675"/>
            <a:ext cx="4923317" cy="1238250"/>
          </a:xfrm>
          <a:prstGeom prst="rect">
            <a:avLst/>
          </a:prstGeom>
          <a:noFill/>
          <a:ln w="0">
            <a:noFill/>
          </a:ln>
        </p:spPr>
        <p:txBody>
          <a:bodyPr lIns="0" tIns="0" rIns="0" bIns="0" anchor="t">
            <a:noAutofit/>
          </a:bodyPr>
          <a:lstStyle/>
          <a:p>
            <a:pPr>
              <a:defRPr sz="2400" b="1">
                <a:solidFill>
                  <a:srgbClr val="121A31"/>
                </a:solidFill>
                <a:latin typeface="Arial"/>
                <a:ea typeface="Arial"/>
                <a:cs typeface="Arial"/>
              </a:defRPr>
            </a:pPr>
            <a:r>
              <a:rPr sz="2400" b="1" dirty="0">
                <a:solidFill>
                  <a:srgbClr val="121A31"/>
                </a:solidFill>
                <a:latin typeface="Arial"/>
                <a:ea typeface="Arial"/>
                <a:cs typeface="Arial"/>
              </a:rPr>
              <a:t>경험 있는 스테이블코인 공급자와 대형 유동성 공급자</a:t>
            </a:r>
          </a:p>
        </p:txBody>
      </p:sp>
      <p:sp>
        <p:nvSpPr>
          <p:cNvPr id="9" name="Specialist creators bring users to Korean edu">
            <a:extLst>
              <a:ext uri="{FF2B5EF4-FFF2-40B4-BE49-F238E27FC236}">
                <a16:creationId xmlns:a16="http://schemas.microsoft.com/office/drawing/2014/main" id="{D777F252-1DE8-4D67-A52D-9F86336899E7}"/>
              </a:ext>
            </a:extLst>
          </p:cNvPr>
          <p:cNvSpPr>
            <a:spLocks noGrp="1"/>
          </p:cNvSpPr>
          <p:nvPr/>
        </p:nvSpPr>
        <p:spPr>
          <a:xfrm>
            <a:off x="6448425" y="3924300"/>
            <a:ext cx="4810125" cy="1143000"/>
          </a:xfrm>
          <a:prstGeom prst="rect">
            <a:avLst/>
          </a:prstGeom>
          <a:noFill/>
          <a:ln w="0">
            <a:noFill/>
          </a:ln>
        </p:spPr>
        <p:txBody>
          <a:bodyPr lIns="0" tIns="0" rIns="0" bIns="0" anchor="t">
            <a:noAutofit/>
          </a:bodyPr>
          <a:lstStyle/>
          <a:p>
            <a:pPr>
              <a:defRPr sz="2100" b="0">
                <a:solidFill>
                  <a:srgbClr val="596276"/>
                </a:solidFill>
                <a:latin typeface="Arial"/>
                <a:ea typeface="Arial"/>
                <a:cs typeface="Arial"/>
              </a:defRPr>
            </a:pPr>
            <a:r>
              <a:rPr sz="2100" b="0" dirty="0">
                <a:solidFill>
                  <a:srgbClr val="596276"/>
                </a:solidFill>
                <a:latin typeface="Arial"/>
                <a:ea typeface="Arial"/>
                <a:cs typeface="Arial"/>
              </a:rPr>
              <a:t>전문 크리에이터가 사용자를 한국어 교육, 전문가 Q&amp;A, 적격 제품 여정으로 연결합니다.</a:t>
            </a:r>
          </a:p>
        </p:txBody>
      </p:sp>
      <p:sp>
        <p:nvSpPr>
          <p:cNvPr id="10" name="Campaign objective: qualified supplier intere">
            <a:extLst>
              <a:ext uri="{FF2B5EF4-FFF2-40B4-BE49-F238E27FC236}">
                <a16:creationId xmlns:a16="http://schemas.microsoft.com/office/drawing/2014/main" id="{782B57AA-D0C8-42EA-9496-910B1659EA04}"/>
              </a:ext>
            </a:extLst>
          </p:cNvPr>
          <p:cNvSpPr>
            <a:spLocks noGrp="1"/>
          </p:cNvSpPr>
          <p:nvPr/>
        </p:nvSpPr>
        <p:spPr>
          <a:xfrm>
            <a:off x="647700" y="5524500"/>
            <a:ext cx="10896600" cy="514350"/>
          </a:xfrm>
          <a:prstGeom prst="rect">
            <a:avLst/>
          </a:prstGeom>
          <a:noFill/>
          <a:ln w="0">
            <a:noFill/>
          </a:ln>
        </p:spPr>
        <p:txBody>
          <a:bodyPr lIns="0" tIns="0" rIns="0" bIns="0" anchor="t">
            <a:noAutofit/>
          </a:bodyPr>
          <a:lstStyle/>
          <a:p>
            <a:pPr>
              <a:defRPr sz="2025" b="1">
                <a:solidFill>
                  <a:srgbClr val="1235F7"/>
                </a:solidFill>
                <a:latin typeface="Arial"/>
                <a:ea typeface="Arial"/>
                <a:cs typeface="Arial"/>
              </a:defRPr>
            </a:pPr>
            <a:r>
              <a:rPr sz="2025" b="1" dirty="0">
                <a:solidFill>
                  <a:srgbClr val="1235F7"/>
                </a:solidFill>
                <a:latin typeface="Arial"/>
                <a:ea typeface="Arial"/>
                <a:cs typeface="Arial"/>
              </a:rPr>
              <a:t>캠페인 목표: 합의된 행동당 비용으로 적격 공급자 관심 확보.</a:t>
            </a:r>
          </a:p>
        </p:txBody>
      </p:sp>
    </p:spTree>
    <p:extLst>
      <p:ext uri="{BB962C8B-B14F-4D97-AF65-F5344CB8AC3E}">
        <p14:creationId xmlns:p14="http://schemas.microsoft.com/office/powerpoint/2010/main" val="1602788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roduct messaging for Korean audiences">
            <a:extLst>
              <a:ext uri="{FF2B5EF4-FFF2-40B4-BE49-F238E27FC236}">
                <a16:creationId xmlns:a16="http://schemas.microsoft.com/office/drawing/2014/main" id="{0D48F9EB-B134-4577-893F-EED2E7E332E7}"/>
              </a:ext>
            </a:extLst>
          </p:cNvPr>
          <p:cNvSpPr>
            <a:spLocks noGrp="1"/>
          </p:cNvSpPr>
          <p:nvPr/>
        </p:nvSpPr>
        <p:spPr>
          <a:xfrm>
            <a:off x="647700" y="619125"/>
            <a:ext cx="10572750" cy="876300"/>
          </a:xfrm>
          <a:prstGeom prst="rect">
            <a:avLst/>
          </a:prstGeom>
          <a:noFill/>
          <a:ln w="0">
            <a:noFill/>
          </a:ln>
        </p:spPr>
        <p:txBody>
          <a:bodyPr lIns="0" tIns="0" rIns="0" bIns="0" anchor="t">
            <a:noAutofit/>
          </a:bodyPr>
          <a:lstStyle/>
          <a:p>
            <a:pPr>
              <a:defRPr sz="3300" b="1">
                <a:solidFill>
                  <a:srgbClr val="121A31"/>
                </a:solidFill>
                <a:latin typeface="Arial"/>
                <a:ea typeface="Arial"/>
                <a:cs typeface="Arial"/>
              </a:defRPr>
            </a:pPr>
            <a:r>
              <a:rPr sz="3300" b="1">
                <a:solidFill>
                  <a:srgbClr val="121A31"/>
                </a:solidFill>
                <a:latin typeface="Arial"/>
                <a:ea typeface="Arial"/>
                <a:cs typeface="Arial"/>
              </a:rPr>
              <a:t>한국 오디언스를 위한 제품 메시징</a:t>
            </a:r>
          </a:p>
        </p:txBody>
      </p:sp>
      <p:sp>
        <p:nvSpPr>
          <p:cNvPr id="2" name="HOPE">
            <a:extLst>
              <a:ext uri="{FF2B5EF4-FFF2-40B4-BE49-F238E27FC236}">
                <a16:creationId xmlns:a16="http://schemas.microsoft.com/office/drawing/2014/main" id="{FA208AF2-9F7E-4D50-B372-37D73202B4EB}"/>
              </a:ext>
            </a:extLst>
          </p:cNvPr>
          <p:cNvSpPr>
            <a:spLocks noGrp="1"/>
          </p:cNvSpPr>
          <p:nvPr/>
        </p:nvSpPr>
        <p:spPr>
          <a:xfrm>
            <a:off x="647700" y="6324600"/>
            <a:ext cx="1428750" cy="209550"/>
          </a:xfrm>
          <a:prstGeom prst="rect">
            <a:avLst/>
          </a:prstGeom>
          <a:noFill/>
          <a:ln w="0">
            <a:noFill/>
          </a:ln>
        </p:spPr>
        <p:txBody>
          <a:bodyPr lIns="0" tIns="0" rIns="0" bIns="0" anchor="t">
            <a:noAutofit/>
          </a:bodyPr>
          <a:lstStyle/>
          <a:p>
            <a:pPr>
              <a:defRPr sz="1125" b="1">
                <a:solidFill>
                  <a:srgbClr val="596276"/>
                </a:solidFill>
                <a:latin typeface="Arial"/>
                <a:ea typeface="Arial"/>
                <a:cs typeface="Arial"/>
              </a:defRPr>
            </a:pPr>
            <a:r>
              <a:rPr sz="1125" b="1">
                <a:solidFill>
                  <a:srgbClr val="596276"/>
                </a:solidFill>
                <a:latin typeface="Arial"/>
                <a:ea typeface="Arial"/>
                <a:cs typeface="Arial"/>
              </a:rPr>
              <a:t>HOPE</a:t>
            </a:r>
          </a:p>
        </p:txBody>
      </p:sp>
      <p:sp>
        <p:nvSpPr>
          <p:cNvPr id="3" name="03">
            <a:extLst>
              <a:ext uri="{FF2B5EF4-FFF2-40B4-BE49-F238E27FC236}">
                <a16:creationId xmlns:a16="http://schemas.microsoft.com/office/drawing/2014/main" id="{2E8F9085-CA1F-45E6-BB57-AC6748EC7433}"/>
              </a:ext>
            </a:extLst>
          </p:cNvPr>
          <p:cNvSpPr>
            <a:spLocks noGrp="1"/>
          </p:cNvSpPr>
          <p:nvPr/>
        </p:nvSpPr>
        <p:spPr>
          <a:xfrm>
            <a:off x="11239500" y="6324600"/>
            <a:ext cx="381000" cy="209550"/>
          </a:xfrm>
          <a:prstGeom prst="rect">
            <a:avLst/>
          </a:prstGeom>
          <a:noFill/>
          <a:ln w="0">
            <a:noFill/>
          </a:ln>
        </p:spPr>
        <p:txBody>
          <a:bodyPr lIns="0" tIns="0" rIns="0" bIns="0" anchor="t">
            <a:noAutofit/>
          </a:bodyPr>
          <a:lstStyle/>
          <a:p>
            <a:pPr>
              <a:defRPr sz="1125" b="0">
                <a:solidFill>
                  <a:srgbClr val="596276"/>
                </a:solidFill>
                <a:latin typeface="Arial"/>
                <a:ea typeface="Arial"/>
                <a:cs typeface="Arial"/>
              </a:defRPr>
            </a:pPr>
            <a:r>
              <a:rPr sz="1125" b="0">
                <a:solidFill>
                  <a:srgbClr val="596276"/>
                </a:solidFill>
                <a:latin typeface="Arial"/>
                <a:ea typeface="Arial"/>
                <a:cs typeface="Arial"/>
              </a:rPr>
              <a:t>03</a:t>
            </a:r>
          </a:p>
        </p:txBody>
      </p:sp>
      <p:graphicFrame>
        <p:nvGraphicFramePr>
          <p:cNvPr id="10" name="표 9"/>
          <p:cNvGraphicFramePr/>
          <p:nvPr/>
        </p:nvGraphicFramePr>
        <p:xfrm>
          <a:off x="647700" y="1790700"/>
          <a:ext cx="10896600" cy="3190876"/>
        </p:xfrm>
        <a:graphic>
          <a:graphicData uri="http://schemas.openxmlformats.org/drawingml/2006/table">
            <a:tbl>
              <a:tblPr firstRow="1"/>
              <a:tblGrid>
                <a:gridCol w="1476375">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5181600">
                  <a:extLst>
                    <a:ext uri="{9D8B030D-6E8A-4147-A177-3AD203B41FA5}">
                      <a16:colId xmlns:a16="http://schemas.microsoft.com/office/drawing/2014/main" val="20002"/>
                    </a:ext>
                  </a:extLst>
                </a:gridCol>
              </a:tblGrid>
              <a:tr h="797719">
                <a:tc>
                  <a:txBody>
                    <a:bodyPr/>
                    <a:lstStyle/>
                    <a:p>
                      <a:r>
                        <a:rPr sz="1875" b="1">
                          <a:solidFill>
                            <a:srgbClr val="FFFFFF"/>
                          </a:solidFill>
                          <a:latin typeface="Arial"/>
                          <a:ea typeface="Arial"/>
                          <a:cs typeface="Arial"/>
                        </a:rPr>
                        <a:t>제품</a:t>
                      </a:r>
                    </a:p>
                  </a:txBody>
                  <a:tcPr anchor="ctr">
                    <a:solidFill>
                      <a:srgbClr val="1235F7"/>
                    </a:solidFill>
                  </a:tcPr>
                </a:tc>
                <a:tc>
                  <a:txBody>
                    <a:bodyPr/>
                    <a:lstStyle/>
                    <a:p>
                      <a:r>
                        <a:rPr sz="1875" b="1">
                          <a:solidFill>
                            <a:srgbClr val="FFFFFF"/>
                          </a:solidFill>
                          <a:latin typeface="Arial"/>
                          <a:ea typeface="Arial"/>
                          <a:cs typeface="Arial"/>
                        </a:rPr>
                        <a:t>핵심 설명</a:t>
                      </a:r>
                    </a:p>
                  </a:txBody>
                  <a:tcPr anchor="ctr">
                    <a:solidFill>
                      <a:srgbClr val="1235F7"/>
                    </a:solidFill>
                  </a:tcPr>
                </a:tc>
                <a:tc>
                  <a:txBody>
                    <a:bodyPr/>
                    <a:lstStyle/>
                    <a:p>
                      <a:r>
                        <a:rPr sz="1875" b="1">
                          <a:solidFill>
                            <a:srgbClr val="FFFFFF"/>
                          </a:solidFill>
                          <a:latin typeface="Arial"/>
                          <a:ea typeface="Arial"/>
                          <a:cs typeface="Arial"/>
                        </a:rPr>
                        <a:t>사용자가 반드시 이해해야 할 점</a:t>
                      </a:r>
                    </a:p>
                  </a:txBody>
                  <a:tcPr anchor="ctr">
                    <a:solidFill>
                      <a:srgbClr val="1235F7"/>
                    </a:solidFill>
                  </a:tcPr>
                </a:tc>
                <a:extLst>
                  <a:ext uri="{0D108BD9-81ED-4DB2-BD59-A6C34878D82A}">
                    <a16:rowId xmlns:a16="http://schemas.microsoft.com/office/drawing/2014/main" val="10000"/>
                  </a:ext>
                </a:extLst>
              </a:tr>
              <a:tr h="797719">
                <a:tc>
                  <a:txBody>
                    <a:bodyPr/>
                    <a:lstStyle/>
                    <a:p>
                      <a:r>
                        <a:rPr sz="1875" b="0">
                          <a:solidFill>
                            <a:srgbClr val="121A31"/>
                          </a:solidFill>
                          <a:latin typeface="Arial"/>
                          <a:ea typeface="Arial"/>
                          <a:cs typeface="Arial"/>
                        </a:rPr>
                        <a:t>USD3</a:t>
                      </a:r>
                    </a:p>
                  </a:txBody>
                  <a:tcPr anchor="ctr">
                    <a:solidFill>
                      <a:srgbClr val="FFFFFF"/>
                    </a:solidFill>
                  </a:tcPr>
                </a:tc>
                <a:tc>
                  <a:txBody>
                    <a:bodyPr/>
                    <a:lstStyle/>
                    <a:p>
                      <a:r>
                        <a:rPr sz="1875" b="0">
                          <a:solidFill>
                            <a:srgbClr val="121A31"/>
                          </a:solidFill>
                          <a:latin typeface="Arial"/>
                          <a:ea typeface="Arial"/>
                          <a:cs typeface="Arial"/>
                        </a:rPr>
                        <a:t>시니어 신용 풀 노출</a:t>
                      </a:r>
                    </a:p>
                  </a:txBody>
                  <a:tcPr anchor="ctr">
                    <a:solidFill>
                      <a:srgbClr val="FFFFFF"/>
                    </a:solidFill>
                  </a:tcPr>
                </a:tc>
                <a:tc>
                  <a:txBody>
                    <a:bodyPr/>
                    <a:lstStyle/>
                    <a:p>
                      <a:r>
                        <a:rPr sz="1875" b="0">
                          <a:solidFill>
                            <a:srgbClr val="121A31"/>
                          </a:solidFill>
                          <a:latin typeface="Arial"/>
                          <a:ea typeface="Arial"/>
                          <a:cs typeface="Arial"/>
                        </a:rPr>
                        <a:t>수익 원천, 신용 손실, 상환 조건</a:t>
                      </a:r>
                    </a:p>
                  </a:txBody>
                  <a:tcPr anchor="ctr">
                    <a:solidFill>
                      <a:srgbClr val="FFFFFF"/>
                    </a:solidFill>
                  </a:tcPr>
                </a:tc>
                <a:extLst>
                  <a:ext uri="{0D108BD9-81ED-4DB2-BD59-A6C34878D82A}">
                    <a16:rowId xmlns:a16="http://schemas.microsoft.com/office/drawing/2014/main" val="10001"/>
                  </a:ext>
                </a:extLst>
              </a:tr>
              <a:tr h="797719">
                <a:tc>
                  <a:txBody>
                    <a:bodyPr/>
                    <a:lstStyle/>
                    <a:p>
                      <a:r>
                        <a:rPr sz="1875" b="0">
                          <a:solidFill>
                            <a:srgbClr val="121A31"/>
                          </a:solidFill>
                          <a:latin typeface="Arial"/>
                          <a:ea typeface="Arial"/>
                          <a:cs typeface="Arial"/>
                        </a:rPr>
                        <a:t>sUSD3</a:t>
                      </a:r>
                    </a:p>
                  </a:txBody>
                  <a:tcPr anchor="ctr">
                    <a:solidFill>
                      <a:srgbClr val="F1F4FF"/>
                    </a:solidFill>
                  </a:tcPr>
                </a:tc>
                <a:tc>
                  <a:txBody>
                    <a:bodyPr/>
                    <a:lstStyle/>
                    <a:p>
                      <a:r>
                        <a:rPr sz="1875" b="0">
                          <a:solidFill>
                            <a:srgbClr val="121A31"/>
                          </a:solidFill>
                          <a:latin typeface="Arial"/>
                          <a:ea typeface="Arial"/>
                          <a:cs typeface="Arial"/>
                        </a:rPr>
                        <a:t>주니어·선손실 노출</a:t>
                      </a:r>
                    </a:p>
                  </a:txBody>
                  <a:tcPr anchor="ctr">
                    <a:solidFill>
                      <a:srgbClr val="F1F4FF"/>
                    </a:solidFill>
                  </a:tcPr>
                </a:tc>
                <a:tc>
                  <a:txBody>
                    <a:bodyPr/>
                    <a:lstStyle/>
                    <a:p>
                      <a:r>
                        <a:rPr sz="1875" b="0">
                          <a:solidFill>
                            <a:srgbClr val="121A31"/>
                          </a:solidFill>
                          <a:latin typeface="Arial"/>
                          <a:ea typeface="Arial"/>
                          <a:cs typeface="Arial"/>
                        </a:rPr>
                        <a:t>수익과 손실 모두에 대한 더 큰 노출</a:t>
                      </a:r>
                    </a:p>
                  </a:txBody>
                  <a:tcPr anchor="ctr">
                    <a:solidFill>
                      <a:srgbClr val="F1F4FF"/>
                    </a:solidFill>
                  </a:tcPr>
                </a:tc>
                <a:extLst>
                  <a:ext uri="{0D108BD9-81ED-4DB2-BD59-A6C34878D82A}">
                    <a16:rowId xmlns:a16="http://schemas.microsoft.com/office/drawing/2014/main" val="10002"/>
                  </a:ext>
                </a:extLst>
              </a:tr>
              <a:tr h="797719">
                <a:tc>
                  <a:txBody>
                    <a:bodyPr/>
                    <a:lstStyle/>
                    <a:p>
                      <a:r>
                        <a:rPr sz="1875" b="0">
                          <a:solidFill>
                            <a:srgbClr val="121A31"/>
                          </a:solidFill>
                          <a:latin typeface="Arial"/>
                          <a:ea typeface="Arial"/>
                          <a:cs typeface="Arial"/>
                        </a:rPr>
                        <a:t>LCC</a:t>
                      </a:r>
                    </a:p>
                  </a:txBody>
                  <a:tcPr anchor="ctr">
                    <a:solidFill>
                      <a:srgbClr val="FFFFFF"/>
                    </a:solidFill>
                  </a:tcPr>
                </a:tc>
                <a:tc>
                  <a:txBody>
                    <a:bodyPr/>
                    <a:lstStyle/>
                    <a:p>
                      <a:r>
                        <a:rPr sz="1875" b="0">
                          <a:solidFill>
                            <a:srgbClr val="121A31"/>
                          </a:solidFill>
                          <a:latin typeface="Arial"/>
                          <a:ea typeface="Arial"/>
                          <a:cs typeface="Arial"/>
                        </a:rPr>
                        <a:t>마진이 더 큰 미래 자금 약정을 뒷받침</a:t>
                      </a:r>
                    </a:p>
                  </a:txBody>
                  <a:tcPr anchor="ctr">
                    <a:solidFill>
                      <a:srgbClr val="FFFFFF"/>
                    </a:solidFill>
                  </a:tcPr>
                </a:tc>
                <a:tc>
                  <a:txBody>
                    <a:bodyPr/>
                    <a:lstStyle/>
                    <a:p>
                      <a:r>
                        <a:rPr sz="1875" b="0">
                          <a:solidFill>
                            <a:srgbClr val="121A31"/>
                          </a:solidFill>
                          <a:latin typeface="Arial"/>
                          <a:ea typeface="Arial"/>
                          <a:cs typeface="Arial"/>
                        </a:rPr>
                        <a:t>자금 조달 기한, 가용 유동성, 마진 슬래싱</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LCC launch and dashboard are timely education">
            <a:extLst>
              <a:ext uri="{FF2B5EF4-FFF2-40B4-BE49-F238E27FC236}">
                <a16:creationId xmlns:a16="http://schemas.microsoft.com/office/drawing/2014/main" id="{ED90C3E6-114D-43D4-A9F3-B50EC33874CB}"/>
              </a:ext>
            </a:extLst>
          </p:cNvPr>
          <p:cNvSpPr>
            <a:spLocks noGrp="1"/>
          </p:cNvSpPr>
          <p:nvPr/>
        </p:nvSpPr>
        <p:spPr>
          <a:xfrm>
            <a:off x="647700" y="5248275"/>
            <a:ext cx="10896600" cy="400050"/>
          </a:xfrm>
          <a:prstGeom prst="rect">
            <a:avLst/>
          </a:prstGeom>
          <a:noFill/>
          <a:ln w="0">
            <a:noFill/>
          </a:ln>
        </p:spPr>
        <p:txBody>
          <a:bodyPr lIns="0" tIns="0" rIns="0" bIns="0" anchor="t">
            <a:noAutofit/>
          </a:bodyPr>
          <a:lstStyle/>
          <a:p>
            <a:pPr>
              <a:defRPr sz="2175" b="1">
                <a:solidFill>
                  <a:srgbClr val="1235F7"/>
                </a:solidFill>
                <a:latin typeface="Arial"/>
                <a:ea typeface="Arial"/>
                <a:cs typeface="Arial"/>
              </a:defRPr>
            </a:pPr>
            <a:r>
              <a:rPr sz="2175" b="1">
                <a:solidFill>
                  <a:srgbClr val="1235F7"/>
                </a:solidFill>
                <a:latin typeface="Arial"/>
                <a:ea typeface="Arial"/>
                <a:cs typeface="Arial"/>
              </a:rPr>
              <a:t>LCC 론칭과 대시보드는 시의적절한 교육 주제입니다</a:t>
            </a:r>
          </a:p>
        </p:txBody>
      </p:sp>
      <p:sp>
        <p:nvSpPr>
          <p:cNvPr id="6" name="Use approved, dated APY. LCC APY applies to p">
            <a:extLst>
              <a:ext uri="{FF2B5EF4-FFF2-40B4-BE49-F238E27FC236}">
                <a16:creationId xmlns:a16="http://schemas.microsoft.com/office/drawing/2014/main" id="{C8564E04-10E3-4CC0-BD10-7A0C7EAFF12F}"/>
              </a:ext>
            </a:extLst>
          </p:cNvPr>
          <p:cNvSpPr>
            <a:spLocks noGrp="1"/>
          </p:cNvSpPr>
          <p:nvPr/>
        </p:nvSpPr>
        <p:spPr>
          <a:xfrm>
            <a:off x="647700" y="5734050"/>
            <a:ext cx="10668000" cy="495300"/>
          </a:xfrm>
          <a:prstGeom prst="rect">
            <a:avLst/>
          </a:prstGeom>
          <a:noFill/>
          <a:ln w="0">
            <a:noFill/>
          </a:ln>
        </p:spPr>
        <p:txBody>
          <a:bodyPr lIns="0" tIns="0" rIns="0" bIns="0" anchor="t">
            <a:noAutofit/>
          </a:bodyPr>
          <a:lstStyle/>
          <a:p>
            <a:pPr>
              <a:defRPr sz="1575" b="0">
                <a:solidFill>
                  <a:srgbClr val="596276"/>
                </a:solidFill>
                <a:latin typeface="Arial"/>
                <a:ea typeface="Arial"/>
                <a:cs typeface="Arial"/>
              </a:defRPr>
            </a:pPr>
            <a:r>
              <a:rPr sz="1575" b="0">
                <a:solidFill>
                  <a:srgbClr val="596276"/>
                </a:solidFill>
                <a:latin typeface="Arial"/>
                <a:ea typeface="Arial"/>
                <a:cs typeface="Arial"/>
              </a:rPr>
              <a:t>승인·날짜가 명시된 APY만 사용합니다. LCC APY는 예치된 마진에 적용됩니다. 활성화 전에 한국 적격성, 출구 조건, 현행 JANE
조건을 확인합니다.</a:t>
            </a:r>
            <a:endParaRPr lang="en-US" sz="1575" b="0">
              <a:solidFill>
                <a:srgbClr val="596276"/>
              </a:solidFill>
              <a:latin typeface="Arial"/>
              <a:ea typeface="Arial"/>
              <a:cs typeface="Arial"/>
            </a:endParaRPr>
          </a:p>
          <a:p>
            <a:pPr>
              <a:defRPr sz="1575" b="0">
                <a:solidFill>
                  <a:srgbClr val="596276"/>
                </a:solidFill>
                <a:latin typeface="Arial"/>
                <a:ea typeface="Arial"/>
                <a:cs typeface="Arial"/>
              </a:defRPr>
            </a:pPr>
            <a:r>
              <a:rPr sz="1575" b="0">
                <a:solidFill>
                  <a:srgbClr val="596276"/>
                </a:solidFill>
                <a:latin typeface="Arial"/>
                <a:ea typeface="Arial"/>
                <a:cs typeface="Arial"/>
              </a:rPr>
              <a:t/>
            </a:r>
          </a:p>
        </p:txBody>
      </p:sp>
    </p:spTree>
    <p:extLst>
      <p:ext uri="{BB962C8B-B14F-4D97-AF65-F5344CB8AC3E}">
        <p14:creationId xmlns:p14="http://schemas.microsoft.com/office/powerpoint/2010/main" val="809604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Execution scope">
            <a:extLst>
              <a:ext uri="{FF2B5EF4-FFF2-40B4-BE49-F238E27FC236}">
                <a16:creationId xmlns:a16="http://schemas.microsoft.com/office/drawing/2014/main" id="{4F9E6822-2691-40A3-9451-D9FE17082B55}"/>
              </a:ext>
            </a:extLst>
          </p:cNvPr>
          <p:cNvSpPr>
            <a:spLocks noGrp="1"/>
          </p:cNvSpPr>
          <p:nvPr/>
        </p:nvSpPr>
        <p:spPr>
          <a:xfrm>
            <a:off x="647700" y="619125"/>
            <a:ext cx="10572750" cy="876300"/>
          </a:xfrm>
          <a:prstGeom prst="rect">
            <a:avLst/>
          </a:prstGeom>
          <a:noFill/>
          <a:ln w="0">
            <a:noFill/>
          </a:ln>
        </p:spPr>
        <p:txBody>
          <a:bodyPr lIns="0" tIns="0" rIns="0" bIns="0" anchor="t">
            <a:noAutofit/>
          </a:bodyPr>
          <a:lstStyle/>
          <a:p>
            <a:pPr>
              <a:defRPr sz="3300" b="1">
                <a:solidFill>
                  <a:srgbClr val="121A31"/>
                </a:solidFill>
                <a:latin typeface="Arial"/>
                <a:ea typeface="Arial"/>
                <a:cs typeface="Arial"/>
              </a:defRPr>
            </a:pPr>
            <a:r>
              <a:rPr sz="3300" b="1">
                <a:solidFill>
                  <a:srgbClr val="121A31"/>
                </a:solidFill>
                <a:latin typeface="Arial"/>
                <a:ea typeface="Arial"/>
                <a:cs typeface="Arial"/>
              </a:rPr>
              <a:t>실행 범위</a:t>
            </a:r>
          </a:p>
        </p:txBody>
      </p:sp>
      <p:sp>
        <p:nvSpPr>
          <p:cNvPr id="2" name="HOPE">
            <a:extLst>
              <a:ext uri="{FF2B5EF4-FFF2-40B4-BE49-F238E27FC236}">
                <a16:creationId xmlns:a16="http://schemas.microsoft.com/office/drawing/2014/main" id="{1DA720CD-5506-4CE3-BB69-7A5CFC5D826A}"/>
              </a:ext>
            </a:extLst>
          </p:cNvPr>
          <p:cNvSpPr>
            <a:spLocks noGrp="1"/>
          </p:cNvSpPr>
          <p:nvPr/>
        </p:nvSpPr>
        <p:spPr>
          <a:xfrm>
            <a:off x="647700" y="6324600"/>
            <a:ext cx="1428750" cy="209550"/>
          </a:xfrm>
          <a:prstGeom prst="rect">
            <a:avLst/>
          </a:prstGeom>
          <a:noFill/>
          <a:ln w="0">
            <a:noFill/>
          </a:ln>
        </p:spPr>
        <p:txBody>
          <a:bodyPr lIns="0" tIns="0" rIns="0" bIns="0" anchor="t">
            <a:noAutofit/>
          </a:bodyPr>
          <a:lstStyle/>
          <a:p>
            <a:pPr>
              <a:defRPr sz="1125" b="1">
                <a:solidFill>
                  <a:srgbClr val="596276"/>
                </a:solidFill>
                <a:latin typeface="Arial"/>
                <a:ea typeface="Arial"/>
                <a:cs typeface="Arial"/>
              </a:defRPr>
            </a:pPr>
            <a:r>
              <a:rPr sz="1125" b="1">
                <a:solidFill>
                  <a:srgbClr val="596276"/>
                </a:solidFill>
                <a:latin typeface="Arial"/>
                <a:ea typeface="Arial"/>
                <a:cs typeface="Arial"/>
              </a:rPr>
              <a:t>HOPE</a:t>
            </a:r>
          </a:p>
        </p:txBody>
      </p:sp>
      <p:sp>
        <p:nvSpPr>
          <p:cNvPr id="3" name="05">
            <a:extLst>
              <a:ext uri="{FF2B5EF4-FFF2-40B4-BE49-F238E27FC236}">
                <a16:creationId xmlns:a16="http://schemas.microsoft.com/office/drawing/2014/main" id="{6F5F3CF2-6D5A-4547-AFB3-3C378296778C}"/>
              </a:ext>
            </a:extLst>
          </p:cNvPr>
          <p:cNvSpPr>
            <a:spLocks noGrp="1"/>
          </p:cNvSpPr>
          <p:nvPr/>
        </p:nvSpPr>
        <p:spPr>
          <a:xfrm>
            <a:off x="11239500" y="6324600"/>
            <a:ext cx="381000" cy="209550"/>
          </a:xfrm>
          <a:prstGeom prst="rect">
            <a:avLst/>
          </a:prstGeom>
          <a:noFill/>
          <a:ln w="0">
            <a:noFill/>
          </a:ln>
        </p:spPr>
        <p:txBody>
          <a:bodyPr lIns="0" tIns="0" rIns="0" bIns="0" anchor="t">
            <a:noAutofit/>
          </a:bodyPr>
          <a:lstStyle/>
          <a:p>
            <a:pPr>
              <a:defRPr sz="1125" b="0">
                <a:solidFill>
                  <a:srgbClr val="596276"/>
                </a:solidFill>
                <a:latin typeface="Arial"/>
                <a:ea typeface="Arial"/>
                <a:cs typeface="Arial"/>
              </a:defRPr>
            </a:pPr>
            <a:r>
              <a:rPr sz="1125" b="0">
                <a:solidFill>
                  <a:srgbClr val="596276"/>
                </a:solidFill>
                <a:latin typeface="Arial"/>
                <a:ea typeface="Arial"/>
                <a:cs typeface="Arial"/>
              </a:rPr>
              <a:t>05</a:t>
            </a:r>
          </a:p>
        </p:txBody>
      </p:sp>
      <p:graphicFrame>
        <p:nvGraphicFramePr>
          <p:cNvPr id="9" name="표 8"/>
          <p:cNvGraphicFramePr/>
          <p:nvPr/>
        </p:nvGraphicFramePr>
        <p:xfrm>
          <a:off x="647700" y="1647825"/>
          <a:ext cx="10896600" cy="4114803"/>
        </p:xfrm>
        <a:graphic>
          <a:graphicData uri="http://schemas.openxmlformats.org/drawingml/2006/table">
            <a:tbl>
              <a:tblPr firstRow="1"/>
              <a:tblGrid>
                <a:gridCol w="2590800">
                  <a:extLst>
                    <a:ext uri="{9D8B030D-6E8A-4147-A177-3AD203B41FA5}">
                      <a16:colId xmlns:a16="http://schemas.microsoft.com/office/drawing/2014/main" val="20000"/>
                    </a:ext>
                  </a:extLst>
                </a:gridCol>
                <a:gridCol w="8305800">
                  <a:extLst>
                    <a:ext uri="{9D8B030D-6E8A-4147-A177-3AD203B41FA5}">
                      <a16:colId xmlns:a16="http://schemas.microsoft.com/office/drawing/2014/main" val="20001"/>
                    </a:ext>
                  </a:extLst>
                </a:gridCol>
              </a:tblGrid>
              <a:tr h="587829">
                <a:tc>
                  <a:txBody>
                    <a:bodyPr/>
                    <a:lstStyle/>
                    <a:p>
                      <a:r>
                        <a:rPr sz="1800" b="1">
                          <a:solidFill>
                            <a:srgbClr val="FFFFFF"/>
                          </a:solidFill>
                          <a:latin typeface="Arial"/>
                          <a:ea typeface="Arial"/>
                          <a:cs typeface="Arial"/>
                        </a:rPr>
                        <a:t>워크스트림</a:t>
                      </a:r>
                    </a:p>
                  </a:txBody>
                  <a:tcPr anchor="ctr">
                    <a:solidFill>
                      <a:srgbClr val="1235F7"/>
                    </a:solidFill>
                  </a:tcPr>
                </a:tc>
                <a:tc>
                  <a:txBody>
                    <a:bodyPr/>
                    <a:lstStyle/>
                    <a:p>
                      <a:r>
                        <a:rPr sz="1800" b="1">
                          <a:solidFill>
                            <a:srgbClr val="FFFFFF"/>
                          </a:solidFill>
                          <a:latin typeface="Arial"/>
                          <a:ea typeface="Arial"/>
                          <a:cs typeface="Arial"/>
                        </a:rPr>
                        <a:t>포함 전달물</a:t>
                      </a:r>
                    </a:p>
                  </a:txBody>
                  <a:tcPr anchor="ctr">
                    <a:solidFill>
                      <a:srgbClr val="1235F7"/>
                    </a:solidFill>
                  </a:tcPr>
                </a:tc>
                <a:extLst>
                  <a:ext uri="{0D108BD9-81ED-4DB2-BD59-A6C34878D82A}">
                    <a16:rowId xmlns:a16="http://schemas.microsoft.com/office/drawing/2014/main" val="10000"/>
                  </a:ext>
                </a:extLst>
              </a:tr>
              <a:tr h="587829">
                <a:tc>
                  <a:txBody>
                    <a:bodyPr/>
                    <a:lstStyle/>
                    <a:p>
                      <a:r>
                        <a:rPr sz="1800" b="0">
                          <a:solidFill>
                            <a:srgbClr val="121A31"/>
                          </a:solidFill>
                          <a:latin typeface="Arial"/>
                          <a:ea typeface="Arial"/>
                          <a:cs typeface="Arial"/>
                        </a:rPr>
                        <a:t>커뮤니티</a:t>
                      </a:r>
                    </a:p>
                  </a:txBody>
                  <a:tcPr anchor="ctr">
                    <a:solidFill>
                      <a:srgbClr val="FFFFFF"/>
                    </a:solidFill>
                  </a:tcPr>
                </a:tc>
                <a:tc>
                  <a:txBody>
                    <a:bodyPr/>
                    <a:lstStyle/>
                    <a:p>
                      <a:r>
                        <a:rPr sz="1800" b="0">
                          <a:solidFill>
                            <a:srgbClr val="121A31"/>
                          </a:solidFill>
                          <a:latin typeface="Arial"/>
                          <a:ea typeface="Arial"/>
                          <a:cs typeface="Arial"/>
                        </a:rPr>
                        <a:t>Telegram 채널 2개, FAQ, 입장 이벤트, 3개월 모더레이션</a:t>
                      </a:r>
                    </a:p>
                  </a:txBody>
                  <a:tcPr anchor="ctr">
                    <a:solidFill>
                      <a:srgbClr val="FFFFFF"/>
                    </a:solidFill>
                  </a:tcPr>
                </a:tc>
                <a:extLst>
                  <a:ext uri="{0D108BD9-81ED-4DB2-BD59-A6C34878D82A}">
                    <a16:rowId xmlns:a16="http://schemas.microsoft.com/office/drawing/2014/main" val="10001"/>
                  </a:ext>
                </a:extLst>
              </a:tr>
              <a:tr h="587829">
                <a:tc>
                  <a:txBody>
                    <a:bodyPr/>
                    <a:lstStyle/>
                    <a:p>
                      <a:r>
                        <a:rPr sz="1800" b="0">
                          <a:solidFill>
                            <a:srgbClr val="121A31"/>
                          </a:solidFill>
                          <a:latin typeface="Arial"/>
                          <a:ea typeface="Arial"/>
                          <a:cs typeface="Arial"/>
                        </a:rPr>
                        <a:t>전문가 교육</a:t>
                      </a:r>
                    </a:p>
                  </a:txBody>
                  <a:tcPr anchor="ctr">
                    <a:solidFill>
                      <a:srgbClr val="F1F4FF"/>
                    </a:solidFill>
                  </a:tcPr>
                </a:tc>
                <a:tc>
                  <a:txBody>
                    <a:bodyPr/>
                    <a:lstStyle/>
                    <a:p>
                      <a:r>
                        <a:rPr sz="1800" b="0">
                          <a:solidFill>
                            <a:srgbClr val="121A31"/>
                          </a:solidFill>
                          <a:latin typeface="Arial"/>
                          <a:ea typeface="Arial"/>
                          <a:cs typeface="Arial"/>
                        </a:rPr>
                        <a:t>AMA 또는 팟캐스트 2회, 한국어 요약 2건</a:t>
                      </a:r>
                    </a:p>
                  </a:txBody>
                  <a:tcPr anchor="ctr">
                    <a:solidFill>
                      <a:srgbClr val="F1F4FF"/>
                    </a:solidFill>
                  </a:tcPr>
                </a:tc>
                <a:extLst>
                  <a:ext uri="{0D108BD9-81ED-4DB2-BD59-A6C34878D82A}">
                    <a16:rowId xmlns:a16="http://schemas.microsoft.com/office/drawing/2014/main" val="10002"/>
                  </a:ext>
                </a:extLst>
              </a:tr>
              <a:tr h="587829">
                <a:tc>
                  <a:txBody>
                    <a:bodyPr/>
                    <a:lstStyle/>
                    <a:p>
                      <a:r>
                        <a:rPr sz="1800" b="0">
                          <a:solidFill>
                            <a:srgbClr val="121A31"/>
                          </a:solidFill>
                          <a:latin typeface="Arial"/>
                          <a:ea typeface="Arial"/>
                          <a:cs typeface="Arial"/>
                        </a:rPr>
                        <a:t>유료 배포</a:t>
                      </a:r>
                    </a:p>
                  </a:txBody>
                  <a:tcPr anchor="ctr">
                    <a:solidFill>
                      <a:srgbClr val="FFFFFF"/>
                    </a:solidFill>
                  </a:tcPr>
                </a:tc>
                <a:tc>
                  <a:txBody>
                    <a:bodyPr/>
                    <a:lstStyle/>
                    <a:p>
                      <a:r>
                        <a:rPr sz="1800" b="0">
                          <a:solidFill>
                            <a:srgbClr val="121A31"/>
                          </a:solidFill>
                          <a:latin typeface="Arial"/>
                          <a:ea typeface="Arial"/>
                          <a:cs typeface="Arial"/>
                        </a:rPr>
                        <a:t>X·Telegram 게재 18–24건(견적에 따름)</a:t>
                      </a:r>
                    </a:p>
                  </a:txBody>
                  <a:tcPr anchor="ctr">
                    <a:solidFill>
                      <a:srgbClr val="FFFFFF"/>
                    </a:solidFill>
                  </a:tcPr>
                </a:tc>
                <a:extLst>
                  <a:ext uri="{0D108BD9-81ED-4DB2-BD59-A6C34878D82A}">
                    <a16:rowId xmlns:a16="http://schemas.microsoft.com/office/drawing/2014/main" val="10003"/>
                  </a:ext>
                </a:extLst>
              </a:tr>
              <a:tr h="587829">
                <a:tc>
                  <a:txBody>
                    <a:bodyPr/>
                    <a:lstStyle/>
                    <a:p>
                      <a:r>
                        <a:rPr sz="1800" b="0">
                          <a:solidFill>
                            <a:srgbClr val="121A31"/>
                          </a:solidFill>
                          <a:latin typeface="Arial"/>
                          <a:ea typeface="Arial"/>
                          <a:cs typeface="Arial"/>
                        </a:rPr>
                        <a:t>크리에이터 프로그램</a:t>
                      </a:r>
                    </a:p>
                  </a:txBody>
                  <a:tcPr anchor="ctr">
                    <a:solidFill>
                      <a:srgbClr val="F1F4FF"/>
                    </a:solidFill>
                  </a:tcPr>
                </a:tc>
                <a:tc>
                  <a:txBody>
                    <a:bodyPr/>
                    <a:lstStyle/>
                    <a:p>
                      <a:r>
                        <a:rPr sz="1800" b="0">
                          <a:solidFill>
                            <a:srgbClr val="121A31"/>
                          </a:solidFill>
                          <a:latin typeface="Arial"/>
                          <a:ea typeface="Arial"/>
                          <a:cs typeface="Arial"/>
                        </a:rPr>
                        <a:t>보상·operations·콘텐츠 리뷰 포함 2–4주 프로그램 1회</a:t>
                      </a:r>
                    </a:p>
                  </a:txBody>
                  <a:tcPr anchor="ctr">
                    <a:solidFill>
                      <a:srgbClr val="F1F4FF"/>
                    </a:solidFill>
                  </a:tcPr>
                </a:tc>
                <a:extLst>
                  <a:ext uri="{0D108BD9-81ED-4DB2-BD59-A6C34878D82A}">
                    <a16:rowId xmlns:a16="http://schemas.microsoft.com/office/drawing/2014/main" val="10004"/>
                  </a:ext>
                </a:extLst>
              </a:tr>
              <a:tr h="587829">
                <a:tc>
                  <a:txBody>
                    <a:bodyPr/>
                    <a:lstStyle/>
                    <a:p>
                      <a:r>
                        <a:rPr sz="1800" b="0">
                          <a:solidFill>
                            <a:srgbClr val="121A31"/>
                          </a:solidFill>
                          <a:latin typeface="Arial"/>
                          <a:ea typeface="Arial"/>
                          <a:cs typeface="Arial"/>
                        </a:rPr>
                        <a:t>PR 및 검색</a:t>
                      </a:r>
                    </a:p>
                  </a:txBody>
                  <a:tcPr anchor="ctr">
                    <a:solidFill>
                      <a:srgbClr val="FFFFFF"/>
                    </a:solidFill>
                  </a:tcPr>
                </a:tc>
                <a:tc>
                  <a:txBody>
                    <a:bodyPr/>
                    <a:lstStyle/>
                    <a:p>
                      <a:r>
                        <a:rPr sz="1800" b="0">
                          <a:solidFill>
                            <a:srgbClr val="121A31"/>
                          </a:solidFill>
                          <a:latin typeface="Arial"/>
                          <a:ea typeface="Arial"/>
                          <a:cs typeface="Arial"/>
                        </a:rPr>
                        <a:t>보도 1건, 피처 인터뷰 1건, 영상 패키지 1건</a:t>
                      </a:r>
                    </a:p>
                  </a:txBody>
                  <a:tcPr anchor="ctr">
                    <a:solidFill>
                      <a:srgbClr val="FFFFFF"/>
                    </a:solidFill>
                  </a:tcPr>
                </a:tc>
                <a:extLst>
                  <a:ext uri="{0D108BD9-81ED-4DB2-BD59-A6C34878D82A}">
                    <a16:rowId xmlns:a16="http://schemas.microsoft.com/office/drawing/2014/main" val="10005"/>
                  </a:ext>
                </a:extLst>
              </a:tr>
              <a:tr h="587829">
                <a:tc>
                  <a:txBody>
                    <a:bodyPr/>
                    <a:lstStyle/>
                    <a:p>
                      <a:r>
                        <a:rPr sz="1800" b="0">
                          <a:solidFill>
                            <a:srgbClr val="121A31"/>
                          </a:solidFill>
                          <a:latin typeface="Arial"/>
                          <a:ea typeface="Arial"/>
                          <a:cs typeface="Arial"/>
                        </a:rPr>
                        <a:t>서울 이벤트</a:t>
                      </a:r>
                    </a:p>
                  </a:txBody>
                  <a:tcPr anchor="ctr">
                    <a:solidFill>
                      <a:srgbClr val="F1F4FF"/>
                    </a:solidFill>
                  </a:tcPr>
                </a:tc>
                <a:tc>
                  <a:txBody>
                    <a:bodyPr/>
                    <a:lstStyle/>
                    <a:p>
                      <a:r>
                        <a:rPr sz="1800" b="0">
                          <a:solidFill>
                            <a:srgbClr val="121A31"/>
                          </a:solidFill>
                          <a:latin typeface="Arial"/>
                          <a:ea typeface="Arial"/>
                          <a:cs typeface="Arial"/>
                        </a:rPr>
                        <a:t>최대 100명 밋업 1회 또는 약 20명 프라이빗 디너</a:t>
                      </a:r>
                    </a:p>
                  </a:txBody>
                  <a:tcPr anchor="ctr">
                    <a:solidFill>
                      <a:srgbClr val="F1F4FF"/>
                    </a:solidFill>
                  </a:tcPr>
                </a:tc>
                <a:extLst>
                  <a:ext uri="{0D108BD9-81ED-4DB2-BD59-A6C34878D82A}">
                    <a16:rowId xmlns:a16="http://schemas.microsoft.com/office/drawing/2014/main" val="10006"/>
                  </a:ext>
                </a:extLst>
              </a:tr>
            </a:tbl>
          </a:graphicData>
        </a:graphic>
      </p:graphicFrame>
      <p:sp>
        <p:nvSpPr>
          <p:cNvPr id="5" name="Partner scope follows quotations. Event booki">
            <a:extLst>
              <a:ext uri="{FF2B5EF4-FFF2-40B4-BE49-F238E27FC236}">
                <a16:creationId xmlns:a16="http://schemas.microsoft.com/office/drawing/2014/main" id="{463EDD86-8026-4039-8B78-E935DF727114}"/>
              </a:ext>
            </a:extLst>
          </p:cNvPr>
          <p:cNvSpPr>
            <a:spLocks noGrp="1"/>
          </p:cNvSpPr>
          <p:nvPr/>
        </p:nvSpPr>
        <p:spPr>
          <a:xfrm>
            <a:off x="647700" y="5943600"/>
            <a:ext cx="10896600" cy="304800"/>
          </a:xfrm>
          <a:prstGeom prst="rect">
            <a:avLst/>
          </a:prstGeom>
          <a:noFill/>
          <a:ln w="0">
            <a:noFill/>
          </a:ln>
        </p:spPr>
        <p:txBody>
          <a:bodyPr lIns="0" tIns="0" rIns="0" bIns="0" anchor="t">
            <a:noAutofit/>
          </a:bodyPr>
          <a:lstStyle/>
          <a:p>
            <a:pPr>
              <a:defRPr sz="1575" b="0">
                <a:solidFill>
                  <a:srgbClr val="596276"/>
                </a:solidFill>
                <a:latin typeface="Arial"/>
                <a:ea typeface="Arial"/>
                <a:cs typeface="Arial"/>
              </a:defRPr>
            </a:pPr>
            <a:r>
              <a:rPr sz="1575" b="0">
                <a:solidFill>
                  <a:srgbClr val="596276"/>
                </a:solidFill>
                <a:latin typeface="Arial"/>
                <a:ea typeface="Arial"/>
                <a:cs typeface="Arial"/>
              </a:rPr>
              <a:t>파트너 범위는 견적에 따릅니다. 이벤트 부킹은 적격 수요에 따릅니다.</a:t>
            </a:r>
          </a:p>
        </p:txBody>
      </p:sp>
    </p:spTree>
    <p:extLst>
      <p:ext uri="{BB962C8B-B14F-4D97-AF65-F5344CB8AC3E}">
        <p14:creationId xmlns:p14="http://schemas.microsoft.com/office/powerpoint/2010/main" val="771615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Measurement and spending discipline">
            <a:extLst>
              <a:ext uri="{FF2B5EF4-FFF2-40B4-BE49-F238E27FC236}">
                <a16:creationId xmlns:a16="http://schemas.microsoft.com/office/drawing/2014/main" id="{9D10D858-5EFD-494B-B980-7E312D134C30}"/>
              </a:ext>
            </a:extLst>
          </p:cNvPr>
          <p:cNvSpPr>
            <a:spLocks noGrp="1"/>
          </p:cNvSpPr>
          <p:nvPr/>
        </p:nvSpPr>
        <p:spPr>
          <a:xfrm>
            <a:off x="647700" y="619125"/>
            <a:ext cx="10572750" cy="876300"/>
          </a:xfrm>
          <a:prstGeom prst="rect">
            <a:avLst/>
          </a:prstGeom>
          <a:noFill/>
          <a:ln w="0">
            <a:noFill/>
          </a:ln>
        </p:spPr>
        <p:txBody>
          <a:bodyPr lIns="0" tIns="0" rIns="0" bIns="0" anchor="t">
            <a:noAutofit/>
          </a:bodyPr>
          <a:lstStyle/>
          <a:p>
            <a:pPr>
              <a:defRPr sz="3300" b="1">
                <a:solidFill>
                  <a:srgbClr val="121A31"/>
                </a:solidFill>
                <a:latin typeface="Arial"/>
                <a:ea typeface="Arial"/>
                <a:cs typeface="Arial"/>
              </a:defRPr>
            </a:pPr>
            <a:r>
              <a:rPr sz="3300" b="1">
                <a:solidFill>
                  <a:srgbClr val="121A31"/>
                </a:solidFill>
                <a:latin typeface="Arial"/>
                <a:ea typeface="Arial"/>
                <a:cs typeface="Arial"/>
              </a:rPr>
              <a:t>측정과 지출 규율</a:t>
            </a:r>
          </a:p>
        </p:txBody>
      </p:sp>
      <p:sp>
        <p:nvSpPr>
          <p:cNvPr id="2" name="HOPE">
            <a:extLst>
              <a:ext uri="{FF2B5EF4-FFF2-40B4-BE49-F238E27FC236}">
                <a16:creationId xmlns:a16="http://schemas.microsoft.com/office/drawing/2014/main" id="{4CE32449-EB0C-4A98-94D6-F853D81FAE47}"/>
              </a:ext>
            </a:extLst>
          </p:cNvPr>
          <p:cNvSpPr>
            <a:spLocks noGrp="1"/>
          </p:cNvSpPr>
          <p:nvPr/>
        </p:nvSpPr>
        <p:spPr>
          <a:xfrm>
            <a:off x="647700" y="6324600"/>
            <a:ext cx="1428750" cy="209550"/>
          </a:xfrm>
          <a:prstGeom prst="rect">
            <a:avLst/>
          </a:prstGeom>
          <a:noFill/>
          <a:ln w="0">
            <a:noFill/>
          </a:ln>
        </p:spPr>
        <p:txBody>
          <a:bodyPr lIns="0" tIns="0" rIns="0" bIns="0" anchor="t">
            <a:noAutofit/>
          </a:bodyPr>
          <a:lstStyle/>
          <a:p>
            <a:pPr>
              <a:defRPr sz="1125" b="1">
                <a:solidFill>
                  <a:srgbClr val="596276"/>
                </a:solidFill>
                <a:latin typeface="Arial"/>
                <a:ea typeface="Arial"/>
                <a:cs typeface="Arial"/>
              </a:defRPr>
            </a:pPr>
            <a:r>
              <a:rPr sz="1125" b="1">
                <a:solidFill>
                  <a:srgbClr val="596276"/>
                </a:solidFill>
                <a:latin typeface="Arial"/>
                <a:ea typeface="Arial"/>
                <a:cs typeface="Arial"/>
              </a:rPr>
              <a:t>HOPE</a:t>
            </a:r>
          </a:p>
        </p:txBody>
      </p:sp>
      <p:sp>
        <p:nvSpPr>
          <p:cNvPr id="3" name="06">
            <a:extLst>
              <a:ext uri="{FF2B5EF4-FFF2-40B4-BE49-F238E27FC236}">
                <a16:creationId xmlns:a16="http://schemas.microsoft.com/office/drawing/2014/main" id="{BDE06907-0710-4871-B118-D2B396131FFD}"/>
              </a:ext>
            </a:extLst>
          </p:cNvPr>
          <p:cNvSpPr>
            <a:spLocks noGrp="1"/>
          </p:cNvSpPr>
          <p:nvPr/>
        </p:nvSpPr>
        <p:spPr>
          <a:xfrm>
            <a:off x="11239500" y="6324600"/>
            <a:ext cx="381000" cy="209550"/>
          </a:xfrm>
          <a:prstGeom prst="rect">
            <a:avLst/>
          </a:prstGeom>
          <a:noFill/>
          <a:ln w="0">
            <a:noFill/>
          </a:ln>
        </p:spPr>
        <p:txBody>
          <a:bodyPr lIns="0" tIns="0" rIns="0" bIns="0" anchor="t">
            <a:noAutofit/>
          </a:bodyPr>
          <a:lstStyle/>
          <a:p>
            <a:pPr>
              <a:defRPr sz="1125" b="0">
                <a:solidFill>
                  <a:srgbClr val="596276"/>
                </a:solidFill>
                <a:latin typeface="Arial"/>
                <a:ea typeface="Arial"/>
                <a:cs typeface="Arial"/>
              </a:defRPr>
            </a:pPr>
            <a:r>
              <a:rPr sz="1125" b="0">
                <a:solidFill>
                  <a:srgbClr val="596276"/>
                </a:solidFill>
                <a:latin typeface="Arial"/>
                <a:ea typeface="Arial"/>
                <a:cs typeface="Arial"/>
              </a:rPr>
              <a:t>06</a:t>
            </a:r>
          </a:p>
        </p:txBody>
      </p:sp>
      <p:sp>
        <p:nvSpPr>
          <p:cNvPr id="4" name="Outcomes to measure">
            <a:extLst>
              <a:ext uri="{FF2B5EF4-FFF2-40B4-BE49-F238E27FC236}">
                <a16:creationId xmlns:a16="http://schemas.microsoft.com/office/drawing/2014/main" id="{A92E891D-EB54-4F3A-BFEE-C74E35D040BF}"/>
              </a:ext>
            </a:extLst>
          </p:cNvPr>
          <p:cNvSpPr>
            <a:spLocks noGrp="1"/>
          </p:cNvSpPr>
          <p:nvPr/>
        </p:nvSpPr>
        <p:spPr>
          <a:xfrm>
            <a:off x="647700" y="1733550"/>
            <a:ext cx="4857750" cy="457200"/>
          </a:xfrm>
          <a:prstGeom prst="rect">
            <a:avLst/>
          </a:prstGeom>
          <a:noFill/>
          <a:ln w="0">
            <a:noFill/>
          </a:ln>
        </p:spPr>
        <p:txBody>
          <a:bodyPr lIns="0" tIns="0" rIns="0" bIns="0" anchor="t">
            <a:noAutofit/>
          </a:bodyPr>
          <a:lstStyle/>
          <a:p>
            <a:pPr>
              <a:defRPr sz="2250" b="1">
                <a:solidFill>
                  <a:srgbClr val="1235F7"/>
                </a:solidFill>
                <a:latin typeface="Arial"/>
                <a:ea typeface="Arial"/>
                <a:cs typeface="Arial"/>
              </a:defRPr>
            </a:pPr>
            <a:r>
              <a:rPr sz="2250" b="1">
                <a:solidFill>
                  <a:srgbClr val="1235F7"/>
                </a:solidFill>
                <a:latin typeface="Arial"/>
                <a:ea typeface="Arial"/>
                <a:cs typeface="Arial"/>
              </a:rPr>
              <a:t>측정할 성과</a:t>
            </a:r>
          </a:p>
        </p:txBody>
      </p:sp>
      <p:sp>
        <p:nvSpPr>
          <p:cNvPr id="5" name="500–1,000">
            <a:extLst>
              <a:ext uri="{FF2B5EF4-FFF2-40B4-BE49-F238E27FC236}">
                <a16:creationId xmlns:a16="http://schemas.microsoft.com/office/drawing/2014/main" id="{8282F5AE-CFA6-4977-B5F1-708F0CB70337}"/>
              </a:ext>
            </a:extLst>
          </p:cNvPr>
          <p:cNvSpPr>
            <a:spLocks noGrp="1"/>
          </p:cNvSpPr>
          <p:nvPr/>
        </p:nvSpPr>
        <p:spPr>
          <a:xfrm>
            <a:off x="647700" y="2362200"/>
            <a:ext cx="4762500" cy="647700"/>
          </a:xfrm>
          <a:prstGeom prst="rect">
            <a:avLst/>
          </a:prstGeom>
          <a:noFill/>
          <a:ln w="0">
            <a:noFill/>
          </a:ln>
        </p:spPr>
        <p:txBody>
          <a:bodyPr lIns="0" tIns="0" rIns="0" bIns="0" anchor="t">
            <a:noAutofit/>
          </a:bodyPr>
          <a:lstStyle/>
          <a:p>
            <a:pPr>
              <a:defRPr sz="3900" b="1">
                <a:solidFill>
                  <a:srgbClr val="121A31"/>
                </a:solidFill>
                <a:latin typeface="Arial"/>
                <a:ea typeface="Arial"/>
                <a:cs typeface="Arial"/>
              </a:defRPr>
            </a:pPr>
            <a:r>
              <a:rPr lang="en-US" altLang="ko-KR" sz="3900" b="1">
                <a:solidFill>
                  <a:srgbClr val="121A31"/>
                </a:solidFill>
                <a:latin typeface="Arial"/>
                <a:ea typeface="Arial"/>
                <a:cs typeface="Arial"/>
              </a:rPr>
              <a:t>500–1,000</a:t>
            </a:r>
            <a:r>
              <a:rPr sz="3900" b="1">
                <a:solidFill>
                  <a:srgbClr val="121A31"/>
                </a:solidFill>
                <a:latin typeface="Arial"/>
                <a:ea typeface="Arial"/>
                <a:cs typeface="Arial"/>
              </a:rPr>
              <a:t/>
            </a:r>
          </a:p>
        </p:txBody>
      </p:sp>
      <p:sp>
        <p:nvSpPr>
          <p:cNvPr id="6" name="Qualified community members">
            <a:extLst>
              <a:ext uri="{FF2B5EF4-FFF2-40B4-BE49-F238E27FC236}">
                <a16:creationId xmlns:a16="http://schemas.microsoft.com/office/drawing/2014/main" id="{8107A65E-9D02-4D2C-9A69-815172ED1D37}"/>
              </a:ext>
            </a:extLst>
          </p:cNvPr>
          <p:cNvSpPr>
            <a:spLocks noGrp="1"/>
          </p:cNvSpPr>
          <p:nvPr/>
        </p:nvSpPr>
        <p:spPr>
          <a:xfrm>
            <a:off x="647700" y="3067050"/>
            <a:ext cx="4762500" cy="361950"/>
          </a:xfrm>
          <a:prstGeom prst="rect">
            <a:avLst/>
          </a:prstGeom>
          <a:noFill/>
          <a:ln w="0">
            <a:noFill/>
          </a:ln>
        </p:spPr>
        <p:txBody>
          <a:bodyPr lIns="0" tIns="0" rIns="0" bIns="0" anchor="t">
            <a:noAutofit/>
          </a:bodyPr>
          <a:lstStyle/>
          <a:p>
            <a:pPr>
              <a:defRPr sz="2025" b="0">
                <a:solidFill>
                  <a:srgbClr val="596276"/>
                </a:solidFill>
                <a:latin typeface="Arial"/>
                <a:ea typeface="Arial"/>
                <a:cs typeface="Arial"/>
              </a:defRPr>
            </a:pPr>
            <a:r>
              <a:rPr sz="2025" b="0">
                <a:solidFill>
                  <a:srgbClr val="596276"/>
                </a:solidFill>
                <a:latin typeface="Arial"/>
                <a:ea typeface="Arial"/>
                <a:cs typeface="Arial"/>
              </a:rPr>
              <a:t>적격 커뮤니티 멤버</a:t>
            </a:r>
          </a:p>
        </p:txBody>
      </p:sp>
      <p:sp>
        <p:nvSpPr>
          <p:cNvPr id="7" name="1,000–2,000">
            <a:extLst>
              <a:ext uri="{FF2B5EF4-FFF2-40B4-BE49-F238E27FC236}">
                <a16:creationId xmlns:a16="http://schemas.microsoft.com/office/drawing/2014/main" id="{64F3B200-F817-40F8-B170-9693980710DE}"/>
              </a:ext>
            </a:extLst>
          </p:cNvPr>
          <p:cNvSpPr>
            <a:spLocks noGrp="1"/>
          </p:cNvSpPr>
          <p:nvPr/>
        </p:nvSpPr>
        <p:spPr>
          <a:xfrm>
            <a:off x="647700" y="3800475"/>
            <a:ext cx="4762500" cy="647700"/>
          </a:xfrm>
          <a:prstGeom prst="rect">
            <a:avLst/>
          </a:prstGeom>
          <a:noFill/>
          <a:ln w="0">
            <a:noFill/>
          </a:ln>
        </p:spPr>
        <p:txBody>
          <a:bodyPr lIns="0" tIns="0" rIns="0" bIns="0" anchor="t">
            <a:noAutofit/>
          </a:bodyPr>
          <a:lstStyle/>
          <a:p>
            <a:pPr>
              <a:defRPr sz="3900" b="1">
                <a:solidFill>
                  <a:srgbClr val="121A31"/>
                </a:solidFill>
                <a:latin typeface="Arial"/>
                <a:ea typeface="Arial"/>
                <a:cs typeface="Arial"/>
              </a:defRPr>
            </a:pPr>
            <a:r>
              <a:rPr sz="3900" b="1">
                <a:solidFill>
                  <a:srgbClr val="121A31"/>
                </a:solidFill>
                <a:latin typeface="Arial"/>
                <a:ea typeface="Arial"/>
                <a:cs typeface="Arial"/>
              </a:rPr>
              <a:t>1,000–2,000</a:t>
            </a:r>
          </a:p>
        </p:txBody>
      </p:sp>
      <p:sp>
        <p:nvSpPr>
          <p:cNvPr id="8" name="Tagged sessions">
            <a:extLst>
              <a:ext uri="{FF2B5EF4-FFF2-40B4-BE49-F238E27FC236}">
                <a16:creationId xmlns:a16="http://schemas.microsoft.com/office/drawing/2014/main" id="{7257C5E8-C60D-4ABD-A69B-2E0C720D3886}"/>
              </a:ext>
            </a:extLst>
          </p:cNvPr>
          <p:cNvSpPr>
            <a:spLocks noGrp="1"/>
          </p:cNvSpPr>
          <p:nvPr/>
        </p:nvSpPr>
        <p:spPr>
          <a:xfrm>
            <a:off x="647700" y="4505325"/>
            <a:ext cx="4762500" cy="361950"/>
          </a:xfrm>
          <a:prstGeom prst="rect">
            <a:avLst/>
          </a:prstGeom>
          <a:noFill/>
          <a:ln w="0">
            <a:noFill/>
          </a:ln>
        </p:spPr>
        <p:txBody>
          <a:bodyPr lIns="0" tIns="0" rIns="0" bIns="0" anchor="t">
            <a:noAutofit/>
          </a:bodyPr>
          <a:lstStyle/>
          <a:p>
            <a:pPr>
              <a:defRPr sz="2025" b="0">
                <a:solidFill>
                  <a:srgbClr val="596276"/>
                </a:solidFill>
                <a:latin typeface="Arial"/>
                <a:ea typeface="Arial"/>
                <a:cs typeface="Arial"/>
              </a:defRPr>
            </a:pPr>
            <a:r>
              <a:rPr sz="2025" b="0">
                <a:solidFill>
                  <a:srgbClr val="596276"/>
                </a:solidFill>
                <a:latin typeface="Arial"/>
                <a:ea typeface="Arial"/>
                <a:cs typeface="Arial"/>
              </a:rPr>
              <a:t>태그된 세션</a:t>
            </a:r>
          </a:p>
        </p:txBody>
      </p:sp>
      <p:sp>
        <p:nvSpPr>
          <p:cNvPr id="9" name="Directional three-month ranges. Confirm or re">
            <a:extLst>
              <a:ext uri="{FF2B5EF4-FFF2-40B4-BE49-F238E27FC236}">
                <a16:creationId xmlns:a16="http://schemas.microsoft.com/office/drawing/2014/main" id="{DC76B714-B374-49C8-9DDA-0E03D491607A}"/>
              </a:ext>
            </a:extLst>
          </p:cNvPr>
          <p:cNvSpPr>
            <a:spLocks noGrp="1"/>
          </p:cNvSpPr>
          <p:nvPr/>
        </p:nvSpPr>
        <p:spPr>
          <a:xfrm>
            <a:off x="647700" y="5248275"/>
            <a:ext cx="4810125" cy="714375"/>
          </a:xfrm>
          <a:prstGeom prst="rect">
            <a:avLst/>
          </a:prstGeom>
          <a:noFill/>
          <a:ln w="0">
            <a:noFill/>
          </a:ln>
        </p:spPr>
        <p:txBody>
          <a:bodyPr lIns="0" tIns="0" rIns="0" bIns="0" anchor="t">
            <a:noAutofit/>
          </a:bodyPr>
          <a:lstStyle/>
          <a:p>
            <a:pPr>
              <a:defRPr sz="1725" b="0">
                <a:solidFill>
                  <a:srgbClr val="596276"/>
                </a:solidFill>
                <a:latin typeface="Arial"/>
                <a:ea typeface="Arial"/>
                <a:cs typeface="Arial"/>
              </a:defRPr>
            </a:pPr>
            <a:r>
              <a:rPr sz="1725" b="0">
                <a:solidFill>
                  <a:srgbClr val="596276"/>
                </a:solidFill>
                <a:latin typeface="Arial"/>
                <a:ea typeface="Arial"/>
                <a:cs typeface="Arial"/>
              </a:rPr>
              <a:t>방향성 있는 3개월 구간입니다. 2주 후 확정 또는 재설정합니다.</a:t>
            </a:r>
          </a:p>
        </p:txBody>
      </p:sp>
      <p:sp>
        <p:nvSpPr>
          <p:cNvPr id="10" name="Controls on expansion">
            <a:extLst>
              <a:ext uri="{FF2B5EF4-FFF2-40B4-BE49-F238E27FC236}">
                <a16:creationId xmlns:a16="http://schemas.microsoft.com/office/drawing/2014/main" id="{2CBD9163-D8C8-4671-B479-C88655EAC914}"/>
              </a:ext>
            </a:extLst>
          </p:cNvPr>
          <p:cNvSpPr>
            <a:spLocks noGrp="1"/>
          </p:cNvSpPr>
          <p:nvPr/>
        </p:nvSpPr>
        <p:spPr>
          <a:xfrm>
            <a:off x="6572250" y="1733550"/>
            <a:ext cx="4762500" cy="457200"/>
          </a:xfrm>
          <a:prstGeom prst="rect">
            <a:avLst/>
          </a:prstGeom>
          <a:noFill/>
          <a:ln w="0">
            <a:noFill/>
          </a:ln>
        </p:spPr>
        <p:txBody>
          <a:bodyPr lIns="0" tIns="0" rIns="0" bIns="0" anchor="t">
            <a:noAutofit/>
          </a:bodyPr>
          <a:lstStyle/>
          <a:p>
            <a:pPr>
              <a:defRPr sz="2250" b="1">
                <a:solidFill>
                  <a:srgbClr val="1235F7"/>
                </a:solidFill>
                <a:latin typeface="Arial"/>
                <a:ea typeface="Arial"/>
                <a:cs typeface="Arial"/>
              </a:defRPr>
            </a:pPr>
            <a:r>
              <a:rPr sz="2250" b="1">
                <a:solidFill>
                  <a:srgbClr val="1235F7"/>
                </a:solidFill>
                <a:latin typeface="Arial"/>
                <a:ea typeface="Arial"/>
                <a:cs typeface="Arial"/>
              </a:rPr>
              <a:t>확장에 대한 통제</a:t>
            </a:r>
          </a:p>
        </p:txBody>
      </p:sp>
      <p:sp>
        <p:nvSpPr>
          <p:cNvPr id="11" name="$15,000 held in reserve">
            <a:extLst>
              <a:ext uri="{FF2B5EF4-FFF2-40B4-BE49-F238E27FC236}">
                <a16:creationId xmlns:a16="http://schemas.microsoft.com/office/drawing/2014/main" id="{0CD1FEDC-9F9B-4432-ADF3-BC008546DB9F}"/>
              </a:ext>
            </a:extLst>
          </p:cNvPr>
          <p:cNvSpPr>
            <a:spLocks noGrp="1"/>
          </p:cNvSpPr>
          <p:nvPr/>
        </p:nvSpPr>
        <p:spPr>
          <a:xfrm>
            <a:off x="6572250" y="2362200"/>
            <a:ext cx="4838700" cy="476250"/>
          </a:xfrm>
          <a:prstGeom prst="rect">
            <a:avLst/>
          </a:prstGeom>
          <a:noFill/>
          <a:ln w="0">
            <a:noFill/>
          </a:ln>
        </p:spPr>
        <p:txBody>
          <a:bodyPr lIns="0" tIns="0" rIns="0" bIns="0" anchor="t">
            <a:noAutofit/>
          </a:bodyPr>
          <a:lstStyle/>
          <a:p>
            <a:pPr>
              <a:defRPr sz="2475" b="1">
                <a:solidFill>
                  <a:srgbClr val="121A31"/>
                </a:solidFill>
                <a:latin typeface="Arial"/>
                <a:ea typeface="Arial"/>
                <a:cs typeface="Arial"/>
              </a:defRPr>
            </a:pPr>
            <a:r>
              <a:rPr sz="2475" b="1">
                <a:solidFill>
                  <a:srgbClr val="121A31"/>
                </a:solidFill>
                <a:latin typeface="Arial"/>
                <a:ea typeface="Arial"/>
                <a:cs typeface="Arial"/>
              </a:rPr>
              <a:t>리저브로 보류 $15,000</a:t>
            </a:r>
          </a:p>
        </p:txBody>
      </p:sp>
      <p:sp>
        <p:nvSpPr>
          <p:cNvPr id="12" name="Release only when cost and quality meet agree">
            <a:extLst>
              <a:ext uri="{FF2B5EF4-FFF2-40B4-BE49-F238E27FC236}">
                <a16:creationId xmlns:a16="http://schemas.microsoft.com/office/drawing/2014/main" id="{0895306C-0E92-4BF7-B3E8-B1439A1E444A}"/>
              </a:ext>
            </a:extLst>
          </p:cNvPr>
          <p:cNvSpPr>
            <a:spLocks noGrp="1"/>
          </p:cNvSpPr>
          <p:nvPr/>
        </p:nvSpPr>
        <p:spPr>
          <a:xfrm>
            <a:off x="6572250" y="3038475"/>
            <a:ext cx="4752975" cy="790575"/>
          </a:xfrm>
          <a:prstGeom prst="rect">
            <a:avLst/>
          </a:prstGeom>
          <a:noFill/>
          <a:ln w="0">
            <a:noFill/>
          </a:ln>
        </p:spPr>
        <p:txBody>
          <a:bodyPr lIns="0" tIns="0" rIns="0" bIns="0" anchor="t">
            <a:noAutofit/>
          </a:bodyPr>
          <a:lstStyle/>
          <a:p>
            <a:pPr>
              <a:defRPr sz="2025" b="0">
                <a:solidFill>
                  <a:srgbClr val="596276"/>
                </a:solidFill>
                <a:latin typeface="Arial"/>
                <a:ea typeface="Arial"/>
                <a:cs typeface="Arial"/>
              </a:defRPr>
            </a:pPr>
            <a:r>
              <a:rPr sz="2025" b="0">
                <a:solidFill>
                  <a:srgbClr val="596276"/>
                </a:solidFill>
                <a:latin typeface="Arial"/>
                <a:ea typeface="Arial"/>
                <a:cs typeface="Arial"/>
              </a:rPr>
              <a:t>비용과 품질이 합의된 임계치를 충족할 때만 해제합니다.</a:t>
            </a:r>
          </a:p>
        </p:txBody>
      </p:sp>
      <p:sp>
        <p:nvSpPr>
          <p:cNvPr id="13" name="Pause new channel spend after two weak biweek">
            <a:extLst>
              <a:ext uri="{FF2B5EF4-FFF2-40B4-BE49-F238E27FC236}">
                <a16:creationId xmlns:a16="http://schemas.microsoft.com/office/drawing/2014/main" id="{77D4C529-8782-4DD3-89CC-825C9F86782A}"/>
              </a:ext>
            </a:extLst>
          </p:cNvPr>
          <p:cNvSpPr>
            <a:spLocks noGrp="1"/>
          </p:cNvSpPr>
          <p:nvPr/>
        </p:nvSpPr>
        <p:spPr>
          <a:xfrm>
            <a:off x="6572250" y="4048125"/>
            <a:ext cx="4752975" cy="838200"/>
          </a:xfrm>
          <a:prstGeom prst="rect">
            <a:avLst/>
          </a:prstGeom>
          <a:noFill/>
          <a:ln w="0">
            <a:noFill/>
          </a:ln>
        </p:spPr>
        <p:txBody>
          <a:bodyPr lIns="0" tIns="0" rIns="0" bIns="0" anchor="t">
            <a:noAutofit/>
          </a:bodyPr>
          <a:lstStyle/>
          <a:p>
            <a:pPr>
              <a:defRPr sz="2025" b="0">
                <a:solidFill>
                  <a:srgbClr val="596276"/>
                </a:solidFill>
                <a:latin typeface="Arial"/>
                <a:ea typeface="Arial"/>
                <a:cs typeface="Arial"/>
              </a:defRPr>
            </a:pPr>
            <a:r>
              <a:rPr sz="2025" b="0">
                <a:solidFill>
                  <a:srgbClr val="596276"/>
                </a:solidFill>
                <a:latin typeface="Arial"/>
                <a:ea typeface="Arial"/>
                <a:cs typeface="Arial"/>
              </a:rPr>
              <a:t>격주 리뷰 2회가 약하면 신규 채널 지출을 중단합니다.</a:t>
            </a:r>
          </a:p>
        </p:txBody>
      </p:sp>
      <p:sp>
        <p:nvSpPr>
          <p:cNvPr id="14" name="Set product-action targets once eligible acce">
            <a:extLst>
              <a:ext uri="{FF2B5EF4-FFF2-40B4-BE49-F238E27FC236}">
                <a16:creationId xmlns:a16="http://schemas.microsoft.com/office/drawing/2014/main" id="{62EC8EF3-9237-4625-86F0-35834A228E40}"/>
              </a:ext>
            </a:extLst>
          </p:cNvPr>
          <p:cNvSpPr>
            <a:spLocks noGrp="1"/>
          </p:cNvSpPr>
          <p:nvPr/>
        </p:nvSpPr>
        <p:spPr>
          <a:xfrm>
            <a:off x="6572250" y="5210175"/>
            <a:ext cx="4752975" cy="762000"/>
          </a:xfrm>
          <a:prstGeom prst="rect">
            <a:avLst/>
          </a:prstGeom>
          <a:noFill/>
          <a:ln w="0">
            <a:noFill/>
          </a:ln>
        </p:spPr>
        <p:txBody>
          <a:bodyPr lIns="0" tIns="0" rIns="0" bIns="0" anchor="t">
            <a:noAutofit/>
          </a:bodyPr>
          <a:lstStyle/>
          <a:p>
            <a:pPr>
              <a:defRPr sz="1875" b="1">
                <a:solidFill>
                  <a:srgbClr val="121A31"/>
                </a:solidFill>
                <a:latin typeface="Arial"/>
                <a:ea typeface="Arial"/>
                <a:cs typeface="Arial"/>
              </a:defRPr>
            </a:pPr>
            <a:r>
              <a:rPr sz="1875" b="1">
                <a:solidFill>
                  <a:srgbClr val="121A31"/>
                </a:solidFill>
                <a:latin typeface="Arial"/>
                <a:ea typeface="Arial"/>
                <a:cs typeface="Arial"/>
              </a:rPr>
              <a:t>적격 접근과 어트리뷰션이 작동하면 제품 행동 목표를 설정합니다.</a:t>
            </a:r>
          </a:p>
        </p:txBody>
      </p:sp>
    </p:spTree>
    <p:extLst>
      <p:ext uri="{BB962C8B-B14F-4D97-AF65-F5344CB8AC3E}">
        <p14:creationId xmlns:p14="http://schemas.microsoft.com/office/powerpoint/2010/main" val="1801336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Launch approval and ownership">
            <a:extLst>
              <a:ext uri="{FF2B5EF4-FFF2-40B4-BE49-F238E27FC236}">
                <a16:creationId xmlns:a16="http://schemas.microsoft.com/office/drawing/2014/main" id="{53B68025-9585-4A9D-8CCE-3FD8C365F58A}"/>
              </a:ext>
            </a:extLst>
          </p:cNvPr>
          <p:cNvSpPr>
            <a:spLocks noGrp="1"/>
          </p:cNvSpPr>
          <p:nvPr/>
        </p:nvSpPr>
        <p:spPr>
          <a:xfrm>
            <a:off x="647700" y="619125"/>
            <a:ext cx="10572750" cy="876300"/>
          </a:xfrm>
          <a:prstGeom prst="rect">
            <a:avLst/>
          </a:prstGeom>
          <a:noFill/>
          <a:ln w="0">
            <a:noFill/>
          </a:ln>
        </p:spPr>
        <p:txBody>
          <a:bodyPr lIns="0" tIns="0" rIns="0" bIns="0" anchor="t">
            <a:noAutofit/>
          </a:bodyPr>
          <a:lstStyle/>
          <a:p>
            <a:pPr>
              <a:defRPr sz="3300" b="1">
                <a:solidFill>
                  <a:srgbClr val="121A31"/>
                </a:solidFill>
                <a:latin typeface="Arial"/>
                <a:ea typeface="Arial"/>
                <a:cs typeface="Arial"/>
              </a:defRPr>
            </a:pPr>
            <a:r>
              <a:rPr sz="3300" b="1">
                <a:solidFill>
                  <a:srgbClr val="121A31"/>
                </a:solidFill>
                <a:latin typeface="Arial"/>
                <a:ea typeface="Arial"/>
                <a:cs typeface="Arial"/>
              </a:rPr>
              <a:t>론칭 승인 및 오너십</a:t>
            </a:r>
          </a:p>
        </p:txBody>
      </p:sp>
      <p:sp>
        <p:nvSpPr>
          <p:cNvPr id="2" name="HOPE">
            <a:extLst>
              <a:ext uri="{FF2B5EF4-FFF2-40B4-BE49-F238E27FC236}">
                <a16:creationId xmlns:a16="http://schemas.microsoft.com/office/drawing/2014/main" id="{C28519C6-1B07-4901-8178-F480ED7F9308}"/>
              </a:ext>
            </a:extLst>
          </p:cNvPr>
          <p:cNvSpPr>
            <a:spLocks noGrp="1"/>
          </p:cNvSpPr>
          <p:nvPr/>
        </p:nvSpPr>
        <p:spPr>
          <a:xfrm>
            <a:off x="647700" y="6324600"/>
            <a:ext cx="1428750" cy="209550"/>
          </a:xfrm>
          <a:prstGeom prst="rect">
            <a:avLst/>
          </a:prstGeom>
          <a:noFill/>
          <a:ln w="0">
            <a:noFill/>
          </a:ln>
        </p:spPr>
        <p:txBody>
          <a:bodyPr lIns="0" tIns="0" rIns="0" bIns="0" anchor="t">
            <a:noAutofit/>
          </a:bodyPr>
          <a:lstStyle/>
          <a:p>
            <a:pPr>
              <a:defRPr sz="1125" b="1">
                <a:solidFill>
                  <a:srgbClr val="596276"/>
                </a:solidFill>
                <a:latin typeface="Arial"/>
                <a:ea typeface="Arial"/>
                <a:cs typeface="Arial"/>
              </a:defRPr>
            </a:pPr>
            <a:r>
              <a:rPr sz="1125" b="1">
                <a:solidFill>
                  <a:srgbClr val="596276"/>
                </a:solidFill>
                <a:latin typeface="Arial"/>
                <a:ea typeface="Arial"/>
                <a:cs typeface="Arial"/>
              </a:rPr>
              <a:t>HOPE</a:t>
            </a:r>
          </a:p>
        </p:txBody>
      </p:sp>
      <p:sp>
        <p:nvSpPr>
          <p:cNvPr id="3" name="08">
            <a:extLst>
              <a:ext uri="{FF2B5EF4-FFF2-40B4-BE49-F238E27FC236}">
                <a16:creationId xmlns:a16="http://schemas.microsoft.com/office/drawing/2014/main" id="{591CE796-F038-4393-9CDD-C64680C361E7}"/>
              </a:ext>
            </a:extLst>
          </p:cNvPr>
          <p:cNvSpPr>
            <a:spLocks noGrp="1"/>
          </p:cNvSpPr>
          <p:nvPr/>
        </p:nvSpPr>
        <p:spPr>
          <a:xfrm>
            <a:off x="11239500" y="6324600"/>
            <a:ext cx="381000" cy="209550"/>
          </a:xfrm>
          <a:prstGeom prst="rect">
            <a:avLst/>
          </a:prstGeom>
          <a:noFill/>
          <a:ln w="0">
            <a:noFill/>
          </a:ln>
        </p:spPr>
        <p:txBody>
          <a:bodyPr lIns="0" tIns="0" rIns="0" bIns="0" anchor="t">
            <a:noAutofit/>
          </a:bodyPr>
          <a:lstStyle/>
          <a:p>
            <a:pPr>
              <a:defRPr sz="1125" b="0">
                <a:solidFill>
                  <a:srgbClr val="596276"/>
                </a:solidFill>
                <a:latin typeface="Arial"/>
                <a:ea typeface="Arial"/>
                <a:cs typeface="Arial"/>
              </a:defRPr>
            </a:pPr>
            <a:r>
              <a:rPr sz="1125" b="0">
                <a:solidFill>
                  <a:srgbClr val="596276"/>
                </a:solidFill>
                <a:latin typeface="Arial"/>
                <a:ea typeface="Arial"/>
                <a:cs typeface="Arial"/>
              </a:rPr>
              <a:t>08</a:t>
            </a:r>
          </a:p>
        </p:txBody>
      </p:sp>
      <p:sp>
        <p:nvSpPr>
          <p:cNvPr id="4" name="Approval requested">
            <a:extLst>
              <a:ext uri="{FF2B5EF4-FFF2-40B4-BE49-F238E27FC236}">
                <a16:creationId xmlns:a16="http://schemas.microsoft.com/office/drawing/2014/main" id="{E65C589B-51F7-4C97-B374-554ED429D593}"/>
              </a:ext>
            </a:extLst>
          </p:cNvPr>
          <p:cNvSpPr>
            <a:spLocks noGrp="1"/>
          </p:cNvSpPr>
          <p:nvPr/>
        </p:nvSpPr>
        <p:spPr>
          <a:xfrm>
            <a:off x="647700" y="1714500"/>
            <a:ext cx="10477500" cy="419100"/>
          </a:xfrm>
          <a:prstGeom prst="rect">
            <a:avLst/>
          </a:prstGeom>
          <a:noFill/>
          <a:ln w="0">
            <a:noFill/>
          </a:ln>
        </p:spPr>
        <p:txBody>
          <a:bodyPr lIns="0" tIns="0" rIns="0" bIns="0" anchor="t">
            <a:noAutofit/>
          </a:bodyPr>
          <a:lstStyle/>
          <a:p>
            <a:pPr>
              <a:defRPr sz="2100" b="1">
                <a:solidFill>
                  <a:srgbClr val="1235F7"/>
                </a:solidFill>
                <a:latin typeface="Arial"/>
                <a:ea typeface="Arial"/>
                <a:cs typeface="Arial"/>
              </a:defRPr>
            </a:pPr>
            <a:r>
              <a:rPr sz="2100" b="1">
                <a:solidFill>
                  <a:srgbClr val="1235F7"/>
                </a:solidFill>
                <a:latin typeface="Arial"/>
                <a:ea typeface="Arial"/>
                <a:cs typeface="Arial"/>
              </a:rPr>
              <a:t>요청 승인 사항</a:t>
            </a:r>
          </a:p>
        </p:txBody>
      </p:sp>
      <p:sp>
        <p:nvSpPr>
          <p:cNvPr id="5" name="$50,000 execution budget&#10;$3,000 per month adv">
            <a:extLst>
              <a:ext uri="{FF2B5EF4-FFF2-40B4-BE49-F238E27FC236}">
                <a16:creationId xmlns:a16="http://schemas.microsoft.com/office/drawing/2014/main" id="{2B8E8CA2-96D9-42C3-A1BA-3408EB265895}"/>
              </a:ext>
            </a:extLst>
          </p:cNvPr>
          <p:cNvSpPr>
            <a:spLocks noGrp="1"/>
          </p:cNvSpPr>
          <p:nvPr/>
        </p:nvSpPr>
        <p:spPr>
          <a:xfrm>
            <a:off x="647700" y="2381250"/>
            <a:ext cx="10477500" cy="1381125"/>
          </a:xfrm>
          <a:prstGeom prst="rect">
            <a:avLst/>
          </a:prstGeom>
          <a:noFill/>
          <a:ln w="0">
            <a:noFill/>
          </a:ln>
        </p:spPr>
        <p:txBody>
          <a:bodyPr lIns="0" tIns="0" rIns="0" bIns="0" anchor="t">
            <a:noAutofit/>
          </a:bodyPr>
          <a:lstStyle/>
          <a:p>
            <a:pPr>
              <a:defRPr sz="3450" b="1">
                <a:solidFill>
                  <a:srgbClr val="121A31"/>
                </a:solidFill>
                <a:latin typeface="Arial"/>
                <a:ea typeface="Arial"/>
                <a:cs typeface="Arial"/>
              </a:defRPr>
            </a:pPr>
            <a:r>
              <a:rPr sz="3450" b="1">
                <a:solidFill>
                  <a:srgbClr val="121A31"/>
                </a:solidFill>
                <a:latin typeface="Arial"/>
                <a:ea typeface="Arial"/>
                <a:cs typeface="Arial"/>
              </a:rPr>
              <a:t>실행 예산 $50,000
월 자문비 $3,000</a:t>
            </a:r>
          </a:p>
          <a:p>
            <a:pPr>
              <a:defRPr sz="3450" b="1">
                <a:solidFill>
                  <a:srgbClr val="121A31"/>
                </a:solidFill>
                <a:latin typeface="Arial"/>
                <a:ea typeface="Arial"/>
                <a:cs typeface="Arial"/>
              </a:defRPr>
            </a:pPr>
            <a:r>
              <a:rPr sz="3450" b="1">
                <a:solidFill>
                  <a:srgbClr val="121A31"/>
                </a:solidFill>
                <a:latin typeface="Arial"/>
                <a:ea typeface="Arial"/>
                <a:cs typeface="Arial"/>
              </a:rPr>
              <a:t/>
            </a:r>
          </a:p>
        </p:txBody>
      </p:sp>
      <p:sp>
        <p:nvSpPr>
          <p:cNvPr id="6" name="HOPE">
            <a:extLst>
              <a:ext uri="{FF2B5EF4-FFF2-40B4-BE49-F238E27FC236}">
                <a16:creationId xmlns:a16="http://schemas.microsoft.com/office/drawing/2014/main" id="{B416CED4-956B-4B04-891C-2EF5BCB89C30}"/>
              </a:ext>
            </a:extLst>
          </p:cNvPr>
          <p:cNvSpPr>
            <a:spLocks noGrp="1"/>
          </p:cNvSpPr>
          <p:nvPr/>
        </p:nvSpPr>
        <p:spPr>
          <a:xfrm>
            <a:off x="647700" y="4162425"/>
            <a:ext cx="4429125" cy="400050"/>
          </a:xfrm>
          <a:prstGeom prst="rect">
            <a:avLst/>
          </a:prstGeom>
          <a:noFill/>
          <a:ln w="0">
            <a:noFill/>
          </a:ln>
        </p:spPr>
        <p:txBody>
          <a:bodyPr lIns="0" tIns="0" rIns="0" bIns="0" anchor="t">
            <a:noAutofit/>
          </a:bodyPr>
          <a:lstStyle/>
          <a:p>
            <a:pPr>
              <a:defRPr sz="2175" b="1">
                <a:solidFill>
                  <a:srgbClr val="1235F7"/>
                </a:solidFill>
                <a:latin typeface="Arial"/>
                <a:ea typeface="Arial"/>
                <a:cs typeface="Arial"/>
              </a:defRPr>
            </a:pPr>
            <a:r>
              <a:rPr sz="2175" b="1">
                <a:solidFill>
                  <a:srgbClr val="1235F7"/>
                </a:solidFill>
                <a:latin typeface="Arial"/>
                <a:ea typeface="Arial"/>
                <a:cs typeface="Arial"/>
              </a:rPr>
              <a:t>HOPE</a:t>
            </a:r>
          </a:p>
        </p:txBody>
      </p:sp>
      <p:sp>
        <p:nvSpPr>
          <p:cNvPr id="7" name="Korean content, community, partner execution ">
            <a:extLst>
              <a:ext uri="{FF2B5EF4-FFF2-40B4-BE49-F238E27FC236}">
                <a16:creationId xmlns:a16="http://schemas.microsoft.com/office/drawing/2014/main" id="{197DD30B-0983-444D-A671-628F2F765A90}"/>
              </a:ext>
            </a:extLst>
          </p:cNvPr>
          <p:cNvSpPr>
            <a:spLocks noGrp="1"/>
          </p:cNvSpPr>
          <p:nvPr/>
        </p:nvSpPr>
        <p:spPr>
          <a:xfrm>
            <a:off x="647700" y="4752975"/>
            <a:ext cx="4476750" cy="952500"/>
          </a:xfrm>
          <a:prstGeom prst="rect">
            <a:avLst/>
          </a:prstGeom>
          <a:noFill/>
          <a:ln w="0">
            <a:noFill/>
          </a:ln>
        </p:spPr>
        <p:txBody>
          <a:bodyPr lIns="0" tIns="0" rIns="0" bIns="0" anchor="t">
            <a:noAutofit/>
          </a:bodyPr>
          <a:lstStyle/>
          <a:p>
            <a:pPr>
              <a:defRPr sz="2100" b="0">
                <a:solidFill>
                  <a:srgbClr val="596276"/>
                </a:solidFill>
                <a:latin typeface="Arial"/>
                <a:ea typeface="Arial"/>
                <a:cs typeface="Arial"/>
              </a:defRPr>
            </a:pPr>
            <a:r>
              <a:rPr sz="2100" b="0">
                <a:solidFill>
                  <a:srgbClr val="596276"/>
                </a:solidFill>
                <a:latin typeface="Arial"/>
                <a:ea typeface="Arial"/>
                <a:cs typeface="Arial"/>
              </a:rPr>
              <a:t>한국어 콘텐츠, 커뮤니티, 파트너 실행 및 리포팅</a:t>
            </a:r>
          </a:p>
        </p:txBody>
      </p:sp>
      <p:sp>
        <p:nvSpPr>
          <p:cNvPr id="8" name="3Jane">
            <a:extLst>
              <a:ext uri="{FF2B5EF4-FFF2-40B4-BE49-F238E27FC236}">
                <a16:creationId xmlns:a16="http://schemas.microsoft.com/office/drawing/2014/main" id="{93DDDB83-108C-4BC1-A6B9-AFB9F56F440B}"/>
              </a:ext>
            </a:extLst>
          </p:cNvPr>
          <p:cNvSpPr>
            <a:spLocks noGrp="1"/>
          </p:cNvSpPr>
          <p:nvPr/>
        </p:nvSpPr>
        <p:spPr>
          <a:xfrm>
            <a:off x="6572250" y="4162425"/>
            <a:ext cx="4667250" cy="400050"/>
          </a:xfrm>
          <a:prstGeom prst="rect">
            <a:avLst/>
          </a:prstGeom>
          <a:noFill/>
          <a:ln w="0">
            <a:noFill/>
          </a:ln>
        </p:spPr>
        <p:txBody>
          <a:bodyPr lIns="0" tIns="0" rIns="0" bIns="0" anchor="t">
            <a:noAutofit/>
          </a:bodyPr>
          <a:lstStyle/>
          <a:p>
            <a:pPr>
              <a:defRPr sz="2175" b="1">
                <a:solidFill>
                  <a:srgbClr val="1235F7"/>
                </a:solidFill>
                <a:latin typeface="Arial"/>
                <a:ea typeface="Arial"/>
                <a:cs typeface="Arial"/>
              </a:defRPr>
            </a:pPr>
            <a:r>
              <a:rPr sz="2175" b="1">
                <a:solidFill>
                  <a:srgbClr val="1235F7"/>
                </a:solidFill>
                <a:latin typeface="Arial"/>
                <a:ea typeface="Arial"/>
                <a:cs typeface="Arial"/>
              </a:rPr>
              <a:t>3Jane</a:t>
            </a:r>
          </a:p>
        </p:txBody>
      </p:sp>
      <p:sp>
        <p:nvSpPr>
          <p:cNvPr id="9" name="Product facts, eligibility, spokesperson, ana">
            <a:extLst>
              <a:ext uri="{FF2B5EF4-FFF2-40B4-BE49-F238E27FC236}">
                <a16:creationId xmlns:a16="http://schemas.microsoft.com/office/drawing/2014/main" id="{9173AD2F-429C-4BA5-8A51-F663B8196BDC}"/>
              </a:ext>
            </a:extLst>
          </p:cNvPr>
          <p:cNvSpPr>
            <a:spLocks noGrp="1"/>
          </p:cNvSpPr>
          <p:nvPr/>
        </p:nvSpPr>
        <p:spPr>
          <a:xfrm>
            <a:off x="6572250" y="4752975"/>
            <a:ext cx="4762500" cy="952500"/>
          </a:xfrm>
          <a:prstGeom prst="rect">
            <a:avLst/>
          </a:prstGeom>
          <a:noFill/>
          <a:ln w="0">
            <a:noFill/>
          </a:ln>
        </p:spPr>
        <p:txBody>
          <a:bodyPr lIns="0" tIns="0" rIns="0" bIns="0" anchor="t">
            <a:noAutofit/>
          </a:bodyPr>
          <a:lstStyle/>
          <a:p>
            <a:pPr>
              <a:defRPr sz="2100" b="0">
                <a:solidFill>
                  <a:srgbClr val="596276"/>
                </a:solidFill>
                <a:latin typeface="Arial"/>
                <a:ea typeface="Arial"/>
                <a:cs typeface="Arial"/>
              </a:defRPr>
            </a:pPr>
            <a:r>
              <a:rPr sz="2100" b="0">
                <a:solidFill>
                  <a:srgbClr val="596276"/>
                </a:solidFill>
                <a:latin typeface="Arial"/>
                <a:ea typeface="Arial"/>
                <a:cs typeface="Arial"/>
              </a:rPr>
              <a:t>제품 사실, 적격성, 대변인, 애널리틱스, 최종 승인</a:t>
            </a:r>
          </a:p>
        </p:txBody>
      </p:sp>
      <p:sp>
        <p:nvSpPr>
          <p:cNvPr id="10" name="Kickoff confirms milestone, owners, quotation">
            <a:extLst>
              <a:ext uri="{FF2B5EF4-FFF2-40B4-BE49-F238E27FC236}">
                <a16:creationId xmlns:a16="http://schemas.microsoft.com/office/drawing/2014/main" id="{38A390A8-E6C3-4A0B-8664-BB0D4312ED0E}"/>
              </a:ext>
            </a:extLst>
          </p:cNvPr>
          <p:cNvSpPr>
            <a:spLocks noGrp="1"/>
          </p:cNvSpPr>
          <p:nvPr/>
        </p:nvSpPr>
        <p:spPr>
          <a:xfrm>
            <a:off x="647700" y="5924550"/>
            <a:ext cx="10858500" cy="333375"/>
          </a:xfrm>
          <a:prstGeom prst="rect">
            <a:avLst/>
          </a:prstGeom>
          <a:noFill/>
          <a:ln w="0">
            <a:noFill/>
          </a:ln>
        </p:spPr>
        <p:txBody>
          <a:bodyPr lIns="0" tIns="0" rIns="0" bIns="0" anchor="t">
            <a:noAutofit/>
          </a:bodyPr>
          <a:lstStyle/>
          <a:p>
            <a:pPr>
              <a:defRPr sz="1800" b="1">
                <a:solidFill>
                  <a:srgbClr val="121A31"/>
                </a:solidFill>
                <a:latin typeface="Arial"/>
                <a:ea typeface="Arial"/>
                <a:cs typeface="Arial"/>
              </a:defRPr>
            </a:pPr>
            <a:r>
              <a:rPr sz="1800" b="1">
                <a:solidFill>
                  <a:srgbClr val="121A31"/>
                </a:solidFill>
                <a:latin typeface="Arial"/>
                <a:ea typeface="Arial"/>
                <a:cs typeface="Arial"/>
              </a:rPr>
              <a:t>킥오프에서 마일스톤, 담당자, 견적, 결제 조건을 확정합니다.</a:t>
            </a:r>
          </a:p>
        </p:txBody>
      </p:sp>
    </p:spTree>
    <p:extLst>
      <p:ext uri="{BB962C8B-B14F-4D97-AF65-F5344CB8AC3E}">
        <p14:creationId xmlns:p14="http://schemas.microsoft.com/office/powerpoint/2010/main" val="216849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69A62C-D36C-4C85-BD72-8545432287FF}"/>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9D84B8B0-4ECA-4177-8A98-3D3D0569EC58}"/>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5F8AAE7-4170-453C-BE26-CA517504AF1D}"/>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52"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92834580-FF58-47B8-AA33-1FB4B5215A20}"/>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AFB4FB54-A77D-48EE-B929-7E12BA2B374E}"/>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3F99BC2A-4654-4C5E-B536-7D00C9BE45B8}"/>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18</a:t>
            </a:r>
          </a:p>
        </p:txBody>
      </p:sp>
      <p:sp>
        <p:nvSpPr>
          <p:cNvPr id="10" name="TextBox 9">
            <a:extLst>
              <a:ext uri="{FF2B5EF4-FFF2-40B4-BE49-F238E27FC236}">
                <a16:creationId xmlns:a16="http://schemas.microsoft.com/office/drawing/2014/main" id="{C84F9440-E523-4CB4-A419-10FC0DD6338A}"/>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A1. 커뮤니티 포맷 참고</a:t>
            </a:r>
          </a:p>
        </p:txBody>
      </p:sp>
      <p:sp>
        <p:nvSpPr>
          <p:cNvPr id="11" name="Rectangle 10">
            <a:extLst>
              <a:ext uri="{FF2B5EF4-FFF2-40B4-BE49-F238E27FC236}">
                <a16:creationId xmlns:a16="http://schemas.microsoft.com/office/drawing/2014/main" id="{E6FC51A0-F62D-46BB-8CBA-E82DB9DBAEAF}"/>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reference-label-0">
            <a:extLst>
              <a:ext uri="{FF2B5EF4-FFF2-40B4-BE49-F238E27FC236}">
                <a16:creationId xmlns:a16="http://schemas.microsoft.com/office/drawing/2014/main" id="{CE83C678-8EC7-4423-94F5-CD3F36513B09}"/>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공식 커뮤니티 허브</a:t>
            </a:r>
          </a:p>
        </p:txBody>
      </p:sp>
      <p:sp>
        <p:nvSpPr>
          <p:cNvPr id="42" name="reference-copy-0">
            <a:extLst>
              <a:ext uri="{FF2B5EF4-FFF2-40B4-BE49-F238E27FC236}">
                <a16:creationId xmlns:a16="http://schemas.microsoft.com/office/drawing/2014/main" id="{76104FE9-A31F-4F3F-8361-2A4FAC7DEB4C}"/>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고정 온보딩, 명확한 규칙, 신뢰할 수 있는 업데이트 채널.</a:t>
            </a:r>
          </a:p>
        </p:txBody>
      </p:sp>
      <p:sp>
        <p:nvSpPr>
          <p:cNvPr id="43" name="reference-label-1">
            <a:extLst>
              <a:ext uri="{FF2B5EF4-FFF2-40B4-BE49-F238E27FC236}">
                <a16:creationId xmlns:a16="http://schemas.microsoft.com/office/drawing/2014/main" id="{0334D1B9-6D7D-4D45-A911-2B97ECD80653}"/>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교육과 지원</a:t>
            </a:r>
          </a:p>
        </p:txBody>
      </p:sp>
      <p:sp>
        <p:nvSpPr>
          <p:cNvPr id="44" name="reference-copy-1">
            <a:extLst>
              <a:ext uri="{FF2B5EF4-FFF2-40B4-BE49-F238E27FC236}">
                <a16:creationId xmlns:a16="http://schemas.microsoft.com/office/drawing/2014/main" id="{C82F4EE5-7B14-4120-9558-970C716FD904}"/>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FAQ를 최신으로 유지하고 제품 질문은 에스컬레이션.</a:t>
            </a:r>
          </a:p>
        </p:txBody>
      </p:sp>
      <p:sp>
        <p:nvSpPr>
          <p:cNvPr id="45" name="reference-label-2">
            <a:extLst>
              <a:ext uri="{FF2B5EF4-FFF2-40B4-BE49-F238E27FC236}">
                <a16:creationId xmlns:a16="http://schemas.microsoft.com/office/drawing/2014/main" id="{2B712C88-E63E-420E-8F75-709B392F8552}"/>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캠페인 진입점</a:t>
            </a:r>
          </a:p>
        </p:txBody>
      </p:sp>
      <p:sp>
        <p:nvSpPr>
          <p:cNvPr id="46" name="reference-copy-2">
            <a:extLst>
              <a:ext uri="{FF2B5EF4-FFF2-40B4-BE49-F238E27FC236}">
                <a16:creationId xmlns:a16="http://schemas.microsoft.com/office/drawing/2014/main" id="{B9ABF788-B12A-477E-B662-23BD84D473A6}"/>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사용자를 AMA, 크리에이터 콘텐츠, 승인 활동으로 유도.</a:t>
            </a:r>
          </a:p>
        </p:txBody>
      </p:sp>
      <p:sp>
        <p:nvSpPr>
          <p:cNvPr id="47" name="reference-disclaimer">
            <a:extLst>
              <a:ext uri="{FF2B5EF4-FFF2-40B4-BE49-F238E27FC236}">
                <a16:creationId xmlns:a16="http://schemas.microsoft.com/office/drawing/2014/main" id="{AF19247C-EDEC-481B-AD75-F2ED1A86813C}"/>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3DCEF1A6-4E5E-9CED-14F6-88F3098925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30556" y="1231392"/>
            <a:ext cx="5932781" cy="4563678"/>
          </a:xfrm>
          <a:prstGeom prst="rect">
            <a:avLst/>
          </a:prstGeom>
        </p:spPr>
      </p:pic>
    </p:spTree>
    <p:extLst>
      <p:ext uri="{BB962C8B-B14F-4D97-AF65-F5344CB8AC3E}">
        <p14:creationId xmlns:p14="http://schemas.microsoft.com/office/powerpoint/2010/main" val="1552853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9EEB2A-09EE-4CEB-9390-91EE4C27B9B0}"/>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0A2BAAD8-9F23-45F1-A0F3-19319BE413B8}"/>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817F25D-6358-4170-8962-AB4465AA7788}"/>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7"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78F02CD-1789-48F7-B820-D60B80D3ED4E}"/>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0E1E2052-314C-4694-BF36-AF3AB0568F9A}"/>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9EA86E01-E3C0-460D-A1A4-ACBAD368FB2A}"/>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19</a:t>
            </a:r>
          </a:p>
        </p:txBody>
      </p:sp>
      <p:sp>
        <p:nvSpPr>
          <p:cNvPr id="10" name="TextBox 9">
            <a:extLst>
              <a:ext uri="{FF2B5EF4-FFF2-40B4-BE49-F238E27FC236}">
                <a16:creationId xmlns:a16="http://schemas.microsoft.com/office/drawing/2014/main" id="{FF6B132E-0151-4CBF-8B21-E4CE10985C93}"/>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A2. AMA 포맷 참고</a:t>
            </a:r>
          </a:p>
        </p:txBody>
      </p:sp>
      <p:sp>
        <p:nvSpPr>
          <p:cNvPr id="11" name="Rectangle 10">
            <a:extLst>
              <a:ext uri="{FF2B5EF4-FFF2-40B4-BE49-F238E27FC236}">
                <a16:creationId xmlns:a16="http://schemas.microsoft.com/office/drawing/2014/main" id="{AE2F6717-1AD1-459E-8673-990D4C79AB5C}"/>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ference-label-0">
            <a:extLst>
              <a:ext uri="{FF2B5EF4-FFF2-40B4-BE49-F238E27FC236}">
                <a16:creationId xmlns:a16="http://schemas.microsoft.com/office/drawing/2014/main" id="{55E2541C-5202-4303-8D9B-63EFE4DE9669}"/>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전문가 주도 토론</a:t>
            </a:r>
          </a:p>
        </p:txBody>
      </p:sp>
      <p:sp>
        <p:nvSpPr>
          <p:cNvPr id="37" name="reference-copy-0">
            <a:extLst>
              <a:ext uri="{FF2B5EF4-FFF2-40B4-BE49-F238E27FC236}">
                <a16:creationId xmlns:a16="http://schemas.microsoft.com/office/drawing/2014/main" id="{35EDF254-8B10-4465-B623-CE9E76E4D74F}"/>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승인된 연사로 제품과 리스크를 설명.</a:t>
            </a:r>
          </a:p>
        </p:txBody>
      </p:sp>
      <p:sp>
        <p:nvSpPr>
          <p:cNvPr id="38" name="reference-label-1">
            <a:extLst>
              <a:ext uri="{FF2B5EF4-FFF2-40B4-BE49-F238E27FC236}">
                <a16:creationId xmlns:a16="http://schemas.microsoft.com/office/drawing/2014/main" id="{403784A4-806D-40EE-BC24-4B00B5F3F174}"/>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재사용 가능한 한국어 요약</a:t>
            </a:r>
          </a:p>
        </p:txBody>
      </p:sp>
      <p:sp>
        <p:nvSpPr>
          <p:cNvPr id="39" name="reference-copy-1">
            <a:extLst>
              <a:ext uri="{FF2B5EF4-FFF2-40B4-BE49-F238E27FC236}">
                <a16:creationId xmlns:a16="http://schemas.microsoft.com/office/drawing/2014/main" id="{63DBB78F-03E2-43EC-B585-FA38B9B378C3}"/>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승인된 핵심을 지속 가능한 로컬 교육으로 전환.</a:t>
            </a:r>
          </a:p>
        </p:txBody>
      </p:sp>
      <p:sp>
        <p:nvSpPr>
          <p:cNvPr id="40" name="reference-label-2">
            <a:extLst>
              <a:ext uri="{FF2B5EF4-FFF2-40B4-BE49-F238E27FC236}">
                <a16:creationId xmlns:a16="http://schemas.microsoft.com/office/drawing/2014/main" id="{8A2FEC98-BD2C-42B0-9188-9D4F29BCD5AC}"/>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참여 측정</a:t>
            </a:r>
          </a:p>
        </p:txBody>
      </p:sp>
      <p:sp>
        <p:nvSpPr>
          <p:cNvPr id="41" name="reference-copy-2">
            <a:extLst>
              <a:ext uri="{FF2B5EF4-FFF2-40B4-BE49-F238E27FC236}">
                <a16:creationId xmlns:a16="http://schemas.microsoft.com/office/drawing/2014/main" id="{EC06559B-CC3F-4272-8044-0F4110F3CF6D}"/>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검증 가능한 라이브 참여자와 리플레이 조회수를 구분.</a:t>
            </a:r>
          </a:p>
        </p:txBody>
      </p:sp>
      <p:sp>
        <p:nvSpPr>
          <p:cNvPr id="42" name="reference-disclaimer">
            <a:extLst>
              <a:ext uri="{FF2B5EF4-FFF2-40B4-BE49-F238E27FC236}">
                <a16:creationId xmlns:a16="http://schemas.microsoft.com/office/drawing/2014/main" id="{207CB578-23AB-4A79-8641-27DE00D956F3}"/>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6A914B93-6E90-44C7-B8DF-30C65714B8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4915" y="1835881"/>
            <a:ext cx="1366520" cy="524588"/>
          </a:xfrm>
          <a:prstGeom prst="rect">
            <a:avLst/>
          </a:prstGeom>
        </p:spPr>
      </p:pic>
      <p:pic>
        <p:nvPicPr>
          <p:cNvPr id="14" name="그림 13">
            <a:extLst>
              <a:ext uri="{FF2B5EF4-FFF2-40B4-BE49-F238E27FC236}">
                <a16:creationId xmlns:a16="http://schemas.microsoft.com/office/drawing/2014/main" id="{4386EAB7-54A4-9C47-8E28-EA492ADFBC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30115" y="742757"/>
            <a:ext cx="5255635" cy="4987831"/>
          </a:xfrm>
          <a:prstGeom prst="rect">
            <a:avLst/>
          </a:prstGeom>
        </p:spPr>
      </p:pic>
    </p:spTree>
    <p:extLst>
      <p:ext uri="{BB962C8B-B14F-4D97-AF65-F5344CB8AC3E}">
        <p14:creationId xmlns:p14="http://schemas.microsoft.com/office/powerpoint/2010/main" val="2129828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5F1F57-AD7C-41A7-A758-FACD55F30799}"/>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9570554B-72C5-4D04-A3BB-800113B8D0CA}"/>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F6FFF33-1AD8-4AAF-99BA-BC1EA7E4D51A}"/>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7"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216292C0-1A36-444E-BF60-C1F539F2E555}"/>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626064A6-82F4-4E43-8A4D-BAB79E4284A3}"/>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9D1A15B1-537D-46D1-8DB8-97664EA20520}"/>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20</a:t>
            </a:r>
          </a:p>
        </p:txBody>
      </p:sp>
      <p:sp>
        <p:nvSpPr>
          <p:cNvPr id="10" name="TextBox 9">
            <a:extLst>
              <a:ext uri="{FF2B5EF4-FFF2-40B4-BE49-F238E27FC236}">
                <a16:creationId xmlns:a16="http://schemas.microsoft.com/office/drawing/2014/main" id="{137B251B-E8B7-4212-87DB-835FDA993430}"/>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A3. 유료 배포 참고</a:t>
            </a:r>
          </a:p>
        </p:txBody>
      </p:sp>
      <p:sp>
        <p:nvSpPr>
          <p:cNvPr id="11" name="Rectangle 10">
            <a:extLst>
              <a:ext uri="{FF2B5EF4-FFF2-40B4-BE49-F238E27FC236}">
                <a16:creationId xmlns:a16="http://schemas.microsoft.com/office/drawing/2014/main" id="{66DD7F9C-DC92-405D-B5B6-CF1F2B413A3E}"/>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ference-label-0">
            <a:extLst>
              <a:ext uri="{FF2B5EF4-FFF2-40B4-BE49-F238E27FC236}">
                <a16:creationId xmlns:a16="http://schemas.microsoft.com/office/drawing/2014/main" id="{4FFC9C4C-1F85-4AB2-992C-DE7C14AD1268}"/>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관련 오디언스 적합성</a:t>
            </a:r>
          </a:p>
        </p:txBody>
      </p:sp>
      <p:sp>
        <p:nvSpPr>
          <p:cNvPr id="37" name="reference-copy-0">
            <a:extLst>
              <a:ext uri="{FF2B5EF4-FFF2-40B4-BE49-F238E27FC236}">
                <a16:creationId xmlns:a16="http://schemas.microsoft.com/office/drawing/2014/main" id="{01CBEA80-7DC8-4012-B434-DB17F1AB8800}"/>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오디언스 품질과 주제 전문성으로 크리에이터 선정.</a:t>
            </a:r>
          </a:p>
        </p:txBody>
      </p:sp>
      <p:sp>
        <p:nvSpPr>
          <p:cNvPr id="38" name="reference-label-1">
            <a:extLst>
              <a:ext uri="{FF2B5EF4-FFF2-40B4-BE49-F238E27FC236}">
                <a16:creationId xmlns:a16="http://schemas.microsoft.com/office/drawing/2014/main" id="{680614A3-9AC9-4495-9CCD-A293EE60710B}"/>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명확한 캠페인 링크</a:t>
            </a:r>
          </a:p>
        </p:txBody>
      </p:sp>
      <p:sp>
        <p:nvSpPr>
          <p:cNvPr id="39" name="reference-copy-1">
            <a:extLst>
              <a:ext uri="{FF2B5EF4-FFF2-40B4-BE49-F238E27FC236}">
                <a16:creationId xmlns:a16="http://schemas.microsoft.com/office/drawing/2014/main" id="{787197B9-890C-4396-8DA1-1F9E90CDC43C}"/>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스폰서십 고지와 태그된 도착 링크 사용.</a:t>
            </a:r>
          </a:p>
        </p:txBody>
      </p:sp>
      <p:sp>
        <p:nvSpPr>
          <p:cNvPr id="40" name="reference-label-2">
            <a:extLst>
              <a:ext uri="{FF2B5EF4-FFF2-40B4-BE49-F238E27FC236}">
                <a16:creationId xmlns:a16="http://schemas.microsoft.com/office/drawing/2014/main" id="{55EEA79B-1787-4B81-911D-F59CE327F3F2}"/>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근거 기반 최적화</a:t>
            </a:r>
          </a:p>
        </p:txBody>
      </p:sp>
      <p:sp>
        <p:nvSpPr>
          <p:cNvPr id="41" name="reference-copy-2">
            <a:extLst>
              <a:ext uri="{FF2B5EF4-FFF2-40B4-BE49-F238E27FC236}">
                <a16:creationId xmlns:a16="http://schemas.microsoft.com/office/drawing/2014/main" id="{D63F7A63-ED94-41BC-A189-FF8F9767D94B}"/>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스케일 전 게재·조회·클릭 검토.</a:t>
            </a:r>
          </a:p>
        </p:txBody>
      </p:sp>
      <p:sp>
        <p:nvSpPr>
          <p:cNvPr id="42" name="reference-disclaimer">
            <a:extLst>
              <a:ext uri="{FF2B5EF4-FFF2-40B4-BE49-F238E27FC236}">
                <a16:creationId xmlns:a16="http://schemas.microsoft.com/office/drawing/2014/main" id="{88EBEB65-BC15-4B9A-97CD-D39D96E3239A}"/>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DC9B264E-7842-62E6-1AEB-D06DAE144B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5900" y="1792605"/>
            <a:ext cx="6012645" cy="3928122"/>
          </a:xfrm>
          <a:prstGeom prst="rect">
            <a:avLst/>
          </a:prstGeom>
        </p:spPr>
      </p:pic>
    </p:spTree>
    <p:extLst>
      <p:ext uri="{BB962C8B-B14F-4D97-AF65-F5344CB8AC3E}">
        <p14:creationId xmlns:p14="http://schemas.microsoft.com/office/powerpoint/2010/main" val="155277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FFFBCC-47E5-45B0-A0E5-4BBD0F5F102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EF5D7F34-C35F-4C10-800F-41412745A209}"/>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66FB55AC-7C9F-4C29-8C18-836184412BA8}"/>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7"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499F88AB-7172-4750-AF27-0AF1A8F01FFA}"/>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872712E8-CDC0-4579-87BA-5B4B2F026594}"/>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4482C2FB-D7C0-459F-B654-B4EBF6598EEF}"/>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21</a:t>
            </a:r>
          </a:p>
        </p:txBody>
      </p:sp>
      <p:sp>
        <p:nvSpPr>
          <p:cNvPr id="10" name="TextBox 9">
            <a:extLst>
              <a:ext uri="{FF2B5EF4-FFF2-40B4-BE49-F238E27FC236}">
                <a16:creationId xmlns:a16="http://schemas.microsoft.com/office/drawing/2014/main" id="{A6572E4C-80CD-48B0-872F-A7335566042A}"/>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A4. UGC 포맷 참고</a:t>
            </a:r>
          </a:p>
        </p:txBody>
      </p:sp>
      <p:sp>
        <p:nvSpPr>
          <p:cNvPr id="11" name="Rectangle 10">
            <a:extLst>
              <a:ext uri="{FF2B5EF4-FFF2-40B4-BE49-F238E27FC236}">
                <a16:creationId xmlns:a16="http://schemas.microsoft.com/office/drawing/2014/main" id="{2AD07222-7461-4A04-86A7-54E2BF416980}"/>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ference-label-0">
            <a:extLst>
              <a:ext uri="{FF2B5EF4-FFF2-40B4-BE49-F238E27FC236}">
                <a16:creationId xmlns:a16="http://schemas.microsoft.com/office/drawing/2014/main" id="{0271309B-88E9-4C8D-AF76-06E8A6CF9EE1}"/>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유용한 크리에이터 산출물</a:t>
            </a:r>
          </a:p>
        </p:txBody>
      </p:sp>
      <p:sp>
        <p:nvSpPr>
          <p:cNvPr id="37" name="reference-copy-0">
            <a:extLst>
              <a:ext uri="{FF2B5EF4-FFF2-40B4-BE49-F238E27FC236}">
                <a16:creationId xmlns:a16="http://schemas.microsoft.com/office/drawing/2014/main" id="{C6725409-8D38-45CE-8D9F-BDE252FA24D6}"/>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명확한 설명과 정확한 워크스루 우선.</a:t>
            </a:r>
          </a:p>
        </p:txBody>
      </p:sp>
      <p:sp>
        <p:nvSpPr>
          <p:cNvPr id="38" name="reference-label-1">
            <a:extLst>
              <a:ext uri="{FF2B5EF4-FFF2-40B4-BE49-F238E27FC236}">
                <a16:creationId xmlns:a16="http://schemas.microsoft.com/office/drawing/2014/main" id="{56005756-509C-4AA0-8735-F7F93F805A2D}"/>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투명한 선정</a:t>
            </a:r>
          </a:p>
        </p:txBody>
      </p:sp>
      <p:sp>
        <p:nvSpPr>
          <p:cNvPr id="39" name="reference-copy-1">
            <a:extLst>
              <a:ext uri="{FF2B5EF4-FFF2-40B4-BE49-F238E27FC236}">
                <a16:creationId xmlns:a16="http://schemas.microsoft.com/office/drawing/2014/main" id="{00AA8F40-90C1-42CB-8BD2-1F59BD17DEE5}"/>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심사 기준, 보상 조건, 적격성 공개.</a:t>
            </a:r>
          </a:p>
        </p:txBody>
      </p:sp>
      <p:sp>
        <p:nvSpPr>
          <p:cNvPr id="40" name="reference-label-2">
            <a:extLst>
              <a:ext uri="{FF2B5EF4-FFF2-40B4-BE49-F238E27FC236}">
                <a16:creationId xmlns:a16="http://schemas.microsoft.com/office/drawing/2014/main" id="{57FD689D-AA31-4B04-A5F0-64B912C21ADD}"/>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도달보다 품질</a:t>
            </a:r>
          </a:p>
        </p:txBody>
      </p:sp>
      <p:sp>
        <p:nvSpPr>
          <p:cNvPr id="41" name="reference-copy-2">
            <a:extLst>
              <a:ext uri="{FF2B5EF4-FFF2-40B4-BE49-F238E27FC236}">
                <a16:creationId xmlns:a16="http://schemas.microsoft.com/office/drawing/2014/main" id="{3D8F4940-41D9-43FF-B746-38C89C72DF55}"/>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제품 정확성, 리스크 균형, 재사용 권리 검토.</a:t>
            </a:r>
          </a:p>
        </p:txBody>
      </p:sp>
      <p:sp>
        <p:nvSpPr>
          <p:cNvPr id="42" name="reference-disclaimer">
            <a:extLst>
              <a:ext uri="{FF2B5EF4-FFF2-40B4-BE49-F238E27FC236}">
                <a16:creationId xmlns:a16="http://schemas.microsoft.com/office/drawing/2014/main" id="{822B9635-2205-4D4F-BD2E-ADAC0DFDB161}"/>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94A9EBDC-6849-F4CC-C7E0-01DF246893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9275" y="728768"/>
            <a:ext cx="5572125" cy="5083006"/>
          </a:xfrm>
          <a:prstGeom prst="rect">
            <a:avLst/>
          </a:prstGeom>
        </p:spPr>
      </p:pic>
    </p:spTree>
    <p:extLst>
      <p:ext uri="{BB962C8B-B14F-4D97-AF65-F5344CB8AC3E}">
        <p14:creationId xmlns:p14="http://schemas.microsoft.com/office/powerpoint/2010/main" val="120879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028B1D-AA7B-41A6-B064-AD0BC962683F}"/>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4D9B0E50-D7BD-4305-9E70-728C513C4112}"/>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CADD6A2-B82D-43D1-A261-43CA1E91F1EB}"/>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52"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E629FBC2-031B-4CDC-AAEA-D183FC039DC1}"/>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E8E0EA46-36EA-4E04-AE25-ED5ACC450456}"/>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7AC02C8C-D6E9-44FF-8AEB-C44E1165C4BF}"/>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22</a:t>
            </a:r>
          </a:p>
        </p:txBody>
      </p:sp>
      <p:sp>
        <p:nvSpPr>
          <p:cNvPr id="10" name="TextBox 9">
            <a:extLst>
              <a:ext uri="{FF2B5EF4-FFF2-40B4-BE49-F238E27FC236}">
                <a16:creationId xmlns:a16="http://schemas.microsoft.com/office/drawing/2014/main" id="{FAD50081-8A68-40B9-A634-4F1A2C4263A3}"/>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A5. 보도 및 검색 참고</a:t>
            </a:r>
          </a:p>
        </p:txBody>
      </p:sp>
      <p:sp>
        <p:nvSpPr>
          <p:cNvPr id="11" name="Rectangle 10">
            <a:extLst>
              <a:ext uri="{FF2B5EF4-FFF2-40B4-BE49-F238E27FC236}">
                <a16:creationId xmlns:a16="http://schemas.microsoft.com/office/drawing/2014/main" id="{6A795A90-CE8B-4B6A-9ADB-7BE4CE248A8E}"/>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reference-label-0">
            <a:extLst>
              <a:ext uri="{FF2B5EF4-FFF2-40B4-BE49-F238E27FC236}">
                <a16:creationId xmlns:a16="http://schemas.microsoft.com/office/drawing/2014/main" id="{577154CB-BAD9-4A61-B2C4-B4D7EA8EFF6F}"/>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현지 언어 설명</a:t>
            </a:r>
          </a:p>
        </p:txBody>
      </p:sp>
      <p:sp>
        <p:nvSpPr>
          <p:cNvPr id="42" name="reference-copy-0">
            <a:extLst>
              <a:ext uri="{FF2B5EF4-FFF2-40B4-BE49-F238E27FC236}">
                <a16:creationId xmlns:a16="http://schemas.microsoft.com/office/drawing/2014/main" id="{EC80BAC0-7646-47A4-AA40-8F44977B23D8}"/>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승인된 정보를 더 쉽게 발견·공유할 수 있게.</a:t>
            </a:r>
          </a:p>
        </p:txBody>
      </p:sp>
      <p:sp>
        <p:nvSpPr>
          <p:cNvPr id="43" name="reference-label-1">
            <a:extLst>
              <a:ext uri="{FF2B5EF4-FFF2-40B4-BE49-F238E27FC236}">
                <a16:creationId xmlns:a16="http://schemas.microsoft.com/office/drawing/2014/main" id="{BDC16544-9203-40D7-86FE-DF660271FA63}"/>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검증 가능한 게재</a:t>
            </a:r>
          </a:p>
        </p:txBody>
      </p:sp>
      <p:sp>
        <p:nvSpPr>
          <p:cNvPr id="44" name="reference-copy-1">
            <a:extLst>
              <a:ext uri="{FF2B5EF4-FFF2-40B4-BE49-F238E27FC236}">
                <a16:creationId xmlns:a16="http://schemas.microsoft.com/office/drawing/2014/main" id="{E6EEB203-D6BC-4D85-8036-45AA63DF97B4}"/>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라이브 링크 수집, 유료·어닝 커버리지 구분.</a:t>
            </a:r>
          </a:p>
        </p:txBody>
      </p:sp>
      <p:sp>
        <p:nvSpPr>
          <p:cNvPr id="45" name="reference-label-2">
            <a:extLst>
              <a:ext uri="{FF2B5EF4-FFF2-40B4-BE49-F238E27FC236}">
                <a16:creationId xmlns:a16="http://schemas.microsoft.com/office/drawing/2014/main" id="{4C69B18F-D20A-4498-B359-385FB0740EC0}"/>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검색 가시성 관측</a:t>
            </a:r>
          </a:p>
        </p:txBody>
      </p:sp>
      <p:sp>
        <p:nvSpPr>
          <p:cNvPr id="46" name="reference-copy-2">
            <a:extLst>
              <a:ext uri="{FF2B5EF4-FFF2-40B4-BE49-F238E27FC236}">
                <a16:creationId xmlns:a16="http://schemas.microsoft.com/office/drawing/2014/main" id="{94FCC01F-42E9-4855-B4A6-AD7C66B55C9A}"/>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관측된 색인만 보고; 순위를 약속하지 않음.</a:t>
            </a:r>
          </a:p>
        </p:txBody>
      </p:sp>
      <p:sp>
        <p:nvSpPr>
          <p:cNvPr id="47" name="reference-disclaimer">
            <a:extLst>
              <a:ext uri="{FF2B5EF4-FFF2-40B4-BE49-F238E27FC236}">
                <a16:creationId xmlns:a16="http://schemas.microsoft.com/office/drawing/2014/main" id="{08B11E97-C133-4A8A-901A-5CE8FF435D61}"/>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EB2F7A8F-0A61-EFCC-8362-8E9AF9758F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1150" y="1920241"/>
            <a:ext cx="5910389" cy="3898583"/>
          </a:xfrm>
          <a:prstGeom prst="rect">
            <a:avLst/>
          </a:prstGeom>
        </p:spPr>
      </p:pic>
    </p:spTree>
    <p:extLst>
      <p:ext uri="{BB962C8B-B14F-4D97-AF65-F5344CB8AC3E}">
        <p14:creationId xmlns:p14="http://schemas.microsoft.com/office/powerpoint/2010/main" val="156849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42C3C4-8D4A-4FBC-8524-FB87EC2C3449}"/>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99DA0394-EC05-4A2B-AF26-F48A8EB50BBB}"/>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22FE83B1-42ED-4FFA-A1AA-A30A86E7A7D8}"/>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47"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E1EC28AF-6EC4-4201-90C1-C376CA95FFF8}"/>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296819A6-1EF5-48B1-AA29-D678FD2F8A89}"/>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0E415B6E-1540-46DC-A449-F1B6090041C2}"/>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23</a:t>
            </a:r>
          </a:p>
        </p:txBody>
      </p:sp>
      <p:sp>
        <p:nvSpPr>
          <p:cNvPr id="10" name="TextBox 9">
            <a:extLst>
              <a:ext uri="{FF2B5EF4-FFF2-40B4-BE49-F238E27FC236}">
                <a16:creationId xmlns:a16="http://schemas.microsoft.com/office/drawing/2014/main" id="{AF48BAED-BF44-4FA5-890A-8EF1B365FC57}"/>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A6. 인터뷰 포맷 참고</a:t>
            </a:r>
          </a:p>
        </p:txBody>
      </p:sp>
      <p:sp>
        <p:nvSpPr>
          <p:cNvPr id="11" name="Rectangle 10">
            <a:extLst>
              <a:ext uri="{FF2B5EF4-FFF2-40B4-BE49-F238E27FC236}">
                <a16:creationId xmlns:a16="http://schemas.microsoft.com/office/drawing/2014/main" id="{6454D53D-6714-4804-B0B1-1D9A831DB29C}"/>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ference-label-0">
            <a:extLst>
              <a:ext uri="{FF2B5EF4-FFF2-40B4-BE49-F238E27FC236}">
                <a16:creationId xmlns:a16="http://schemas.microsoft.com/office/drawing/2014/main" id="{ADC593F5-8BB0-40F1-A993-92D80D5E9238}"/>
              </a:ext>
            </a:extLst>
          </p:cNvPr>
          <p:cNvSpPr>
            <a:spLocks noGrp="1"/>
          </p:cNvSpPr>
          <p:nvPr/>
        </p:nvSpPr>
        <p:spPr>
          <a:xfrm>
            <a:off x="962025" y="205740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깊이와 맥락</a:t>
            </a:r>
          </a:p>
        </p:txBody>
      </p:sp>
      <p:sp>
        <p:nvSpPr>
          <p:cNvPr id="37" name="reference-copy-0">
            <a:extLst>
              <a:ext uri="{FF2B5EF4-FFF2-40B4-BE49-F238E27FC236}">
                <a16:creationId xmlns:a16="http://schemas.microsoft.com/office/drawing/2014/main" id="{9D702EDE-9124-49A0-AF3E-95AEC7DD975C}"/>
              </a:ext>
            </a:extLst>
          </p:cNvPr>
          <p:cNvSpPr>
            <a:spLocks noGrp="1"/>
          </p:cNvSpPr>
          <p:nvPr/>
        </p:nvSpPr>
        <p:spPr>
          <a:xfrm>
            <a:off x="962025" y="245745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제품 구조와 한국 시장 진출 계획 설명.</a:t>
            </a:r>
          </a:p>
        </p:txBody>
      </p:sp>
      <p:sp>
        <p:nvSpPr>
          <p:cNvPr id="38" name="reference-label-1">
            <a:extLst>
              <a:ext uri="{FF2B5EF4-FFF2-40B4-BE49-F238E27FC236}">
                <a16:creationId xmlns:a16="http://schemas.microsoft.com/office/drawing/2014/main" id="{6D348B19-93F2-48C2-8773-6A929C13FB64}"/>
              </a:ext>
            </a:extLst>
          </p:cNvPr>
          <p:cNvSpPr>
            <a:spLocks noGrp="1"/>
          </p:cNvSpPr>
          <p:nvPr/>
        </p:nvSpPr>
        <p:spPr>
          <a:xfrm>
            <a:off x="962025" y="3248025"/>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승인된 대변인</a:t>
            </a:r>
          </a:p>
        </p:txBody>
      </p:sp>
      <p:sp>
        <p:nvSpPr>
          <p:cNvPr id="39" name="reference-copy-1">
            <a:extLst>
              <a:ext uri="{FF2B5EF4-FFF2-40B4-BE49-F238E27FC236}">
                <a16:creationId xmlns:a16="http://schemas.microsoft.com/office/drawing/2014/main" id="{B598C9B2-7D9F-4773-B335-DFA3668E50BA}"/>
              </a:ext>
            </a:extLst>
          </p:cNvPr>
          <p:cNvSpPr>
            <a:spLocks noGrp="1"/>
          </p:cNvSpPr>
          <p:nvPr/>
        </p:nvSpPr>
        <p:spPr>
          <a:xfrm>
            <a:off x="962025" y="3648075"/>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가용성이 확인된 팀 대표 사용.</a:t>
            </a:r>
          </a:p>
        </p:txBody>
      </p:sp>
      <p:sp>
        <p:nvSpPr>
          <p:cNvPr id="40" name="reference-label-2">
            <a:extLst>
              <a:ext uri="{FF2B5EF4-FFF2-40B4-BE49-F238E27FC236}">
                <a16:creationId xmlns:a16="http://schemas.microsoft.com/office/drawing/2014/main" id="{05AA18A1-CC19-4E2F-B1AD-5E44E6D71CEC}"/>
              </a:ext>
            </a:extLst>
          </p:cNvPr>
          <p:cNvSpPr>
            <a:spLocks noGrp="1"/>
          </p:cNvSpPr>
          <p:nvPr/>
        </p:nvSpPr>
        <p:spPr>
          <a:xfrm>
            <a:off x="962025" y="4438650"/>
            <a:ext cx="4429125" cy="304800"/>
          </a:xfrm>
          <a:prstGeom prst="rect">
            <a:avLst/>
          </a:prstGeom>
          <a:noFill/>
          <a:ln w="0">
            <a:noFill/>
          </a:ln>
        </p:spPr>
        <p:txBody>
          <a:bodyPr wrap="square" lIns="0" tIns="0" rIns="0" bIns="0" anchor="t">
            <a:noAutofit/>
          </a:bodyPr>
          <a:lstStyle/>
          <a:p>
            <a:pPr algn="l">
              <a:defRPr sz="1725" b="1">
                <a:solidFill>
                  <a:srgbClr val="0B39FF"/>
                </a:solidFill>
                <a:latin typeface="Arial"/>
                <a:ea typeface="Arial"/>
                <a:cs typeface="Arial"/>
              </a:defRPr>
            </a:pPr>
            <a:r>
              <a:rPr sz="1725" b="1">
                <a:solidFill>
                  <a:srgbClr val="0B39FF"/>
                </a:solidFill>
                <a:latin typeface="Arial"/>
                <a:ea typeface="Arial"/>
                <a:cs typeface="Arial"/>
              </a:rPr>
              <a:t>재사용 참고 자산</a:t>
            </a:r>
          </a:p>
        </p:txBody>
      </p:sp>
      <p:sp>
        <p:nvSpPr>
          <p:cNvPr id="41" name="reference-copy-2">
            <a:extLst>
              <a:ext uri="{FF2B5EF4-FFF2-40B4-BE49-F238E27FC236}">
                <a16:creationId xmlns:a16="http://schemas.microsoft.com/office/drawing/2014/main" id="{6ADF1E64-7E22-4AE4-AADC-3292EF91694F}"/>
              </a:ext>
            </a:extLst>
          </p:cNvPr>
          <p:cNvSpPr>
            <a:spLocks noGrp="1"/>
          </p:cNvSpPr>
          <p:nvPr/>
        </p:nvSpPr>
        <p:spPr>
          <a:xfrm>
            <a:off x="962025" y="4838700"/>
            <a:ext cx="4333875" cy="619125"/>
          </a:xfrm>
          <a:prstGeom prst="rect">
            <a:avLst/>
          </a:prstGeom>
          <a:noFill/>
          <a:ln w="0">
            <a:noFill/>
          </a:ln>
        </p:spPr>
        <p:txBody>
          <a:bodyPr wrap="square" lIns="0" tIns="0" rIns="0" bIns="0" anchor="t">
            <a:noAutofit/>
          </a:bodyPr>
          <a:lstStyle/>
          <a:p>
            <a:pPr algn="l">
              <a:defRPr sz="1500">
                <a:solidFill>
                  <a:srgbClr val="334155"/>
                </a:solidFill>
                <a:latin typeface="Arial"/>
                <a:ea typeface="Arial"/>
                <a:cs typeface="Arial"/>
              </a:defRPr>
            </a:pPr>
            <a:r>
              <a:rPr sz="1500">
                <a:solidFill>
                  <a:srgbClr val="334155"/>
                </a:solidFill>
                <a:latin typeface="Arial"/>
                <a:ea typeface="Arial"/>
                <a:cs typeface="Arial"/>
              </a:rPr>
              <a:t>커뮤니티 콘텐츠에서 승인된 인터뷰 자료 링크.</a:t>
            </a:r>
          </a:p>
        </p:txBody>
      </p:sp>
      <p:sp>
        <p:nvSpPr>
          <p:cNvPr id="42" name="reference-disclaimer">
            <a:extLst>
              <a:ext uri="{FF2B5EF4-FFF2-40B4-BE49-F238E27FC236}">
                <a16:creationId xmlns:a16="http://schemas.microsoft.com/office/drawing/2014/main" id="{1564BD03-F46D-4218-A0CC-481243139360}"/>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pic>
        <p:nvPicPr>
          <p:cNvPr id="12" name="그림 11">
            <a:extLst>
              <a:ext uri="{FF2B5EF4-FFF2-40B4-BE49-F238E27FC236}">
                <a16:creationId xmlns:a16="http://schemas.microsoft.com/office/drawing/2014/main" id="{CE783C52-8620-BD4C-6141-2B2938893C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1150" y="1664208"/>
            <a:ext cx="5896278" cy="4060106"/>
          </a:xfrm>
          <a:prstGeom prst="rect">
            <a:avLst/>
          </a:prstGeom>
        </p:spPr>
      </p:pic>
    </p:spTree>
    <p:extLst>
      <p:ext uri="{BB962C8B-B14F-4D97-AF65-F5344CB8AC3E}">
        <p14:creationId xmlns:p14="http://schemas.microsoft.com/office/powerpoint/2010/main" val="738320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C91394-CEBD-4B57-891D-B6C4A04AF1F8}"/>
              </a:ext>
            </a:extLst>
          </p:cNvPr>
          <p:cNvSpPr>
            <a:spLocks noGrp="1"/>
          </p:cNvSpPr>
          <p:nvPr/>
        </p:nvSpPr>
        <p:spPr>
          <a:xfrm>
            <a:off x="0" y="256032"/>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ight Triangle 2">
            <a:extLst>
              <a:ext uri="{FF2B5EF4-FFF2-40B4-BE49-F238E27FC236}">
                <a16:creationId xmlns:a16="http://schemas.microsoft.com/office/drawing/2014/main" id="{6B1DBA29-7BF8-43DE-B724-7C9666D8F095}"/>
              </a:ext>
            </a:extLst>
          </p:cNvPr>
          <p:cNvSpPr>
            <a:spLocks noGrp="1"/>
          </p:cNvSpPr>
          <p:nvPr/>
        </p:nvSpPr>
        <p:spPr>
          <a:xfrm rot="10800000">
            <a:off x="0" y="0"/>
            <a:ext cx="1920240" cy="1920240"/>
          </a:xfrm>
          <a:prstGeom prst="rtTriangl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8D3C790D-A8CE-4108-BB45-AEB0DEE9F8B3}"/>
              </a:ext>
            </a:extLst>
          </p:cNvPr>
          <p:cNvSpPr>
            <a:spLocks noGrp="1"/>
          </p:cNvSpPr>
          <p:nvPr/>
        </p:nvSpPr>
        <p:spPr>
          <a:xfrm>
            <a:off x="960120" y="585216"/>
            <a:ext cx="10287000" cy="10972"/>
          </a:xfrm>
          <a:prstGeom prst="rect">
            <a:avLst/>
          </a:prstGeom>
          <a:solidFill>
            <a:srgbClr val="D7DF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50" name="Picture 5"/>
          <p:cNvPicPr>
            <a:picLocks noChangeAspect="1"/>
          </p:cNvPicPr>
          <p:nvPr/>
        </p:nvPicPr>
        <p:blipFill>
          <a:blip r:embed="rId3"/>
          <a:stretch>
            <a:fillRect/>
          </a:stretch>
        </p:blipFill>
        <p:spPr>
          <a:xfrm>
            <a:off x="10634472" y="219456"/>
            <a:ext cx="329184" cy="329184"/>
          </a:xfrm>
          <a:prstGeom prst="rect">
            <a:avLst/>
          </a:prstGeom>
        </p:spPr>
      </p:pic>
      <p:sp>
        <p:nvSpPr>
          <p:cNvPr id="7" name="TextBox 6">
            <a:extLst>
              <a:ext uri="{FF2B5EF4-FFF2-40B4-BE49-F238E27FC236}">
                <a16:creationId xmlns:a16="http://schemas.microsoft.com/office/drawing/2014/main" id="{1B6759B7-6BAC-401B-BF8B-0AD20DD5FCD3}"/>
              </a:ext>
            </a:extLst>
          </p:cNvPr>
          <p:cNvSpPr>
            <a:spLocks noGrp="1"/>
          </p:cNvSpPr>
          <p:nvPr/>
        </p:nvSpPr>
        <p:spPr>
          <a:xfrm>
            <a:off x="10991088" y="256032"/>
            <a:ext cx="640080" cy="228600"/>
          </a:xfrm>
          <a:prstGeom prst="rect">
            <a:avLst/>
          </a:prstGeom>
          <a:noFill/>
        </p:spPr>
        <p:txBody>
          <a:bodyPr wrap="square">
            <a:spAutoFit/>
          </a:bodyPr>
          <a:lstStyle/>
          <a:p>
            <a:r>
              <a:rPr sz="1000" b="1">
                <a:solidFill>
                  <a:srgbClr val="0B39FF"/>
                </a:solidFill>
                <a:latin typeface="Arial"/>
                <a:ea typeface="Arial"/>
                <a:cs typeface="Arial"/>
              </a:rPr>
              <a:t>3Jane</a:t>
            </a:r>
          </a:p>
        </p:txBody>
      </p:sp>
      <p:sp>
        <p:nvSpPr>
          <p:cNvPr id="8" name="TextBox 7">
            <a:extLst>
              <a:ext uri="{FF2B5EF4-FFF2-40B4-BE49-F238E27FC236}">
                <a16:creationId xmlns:a16="http://schemas.microsoft.com/office/drawing/2014/main" id="{FD7806F8-8928-41AF-B150-0E3E82B43495}"/>
              </a:ext>
            </a:extLst>
          </p:cNvPr>
          <p:cNvSpPr>
            <a:spLocks noGrp="1"/>
          </p:cNvSpPr>
          <p:nvPr/>
        </p:nvSpPr>
        <p:spPr>
          <a:xfrm>
            <a:off x="3476625" y="228600"/>
            <a:ext cx="5572125" cy="209550"/>
          </a:xfrm>
          <a:prstGeom prst="rect">
            <a:avLst/>
          </a:prstGeom>
          <a:noFill/>
        </p:spPr>
        <p:txBody>
          <a:bodyPr wrap="square" lIns="0" tIns="0" rIns="0" bIns="0" anchor="t">
            <a:noAutofit/>
          </a:bodyPr>
          <a:lstStyle/>
          <a:p>
            <a:pPr algn="ctr">
              <a:buNone/>
              <a:defRPr sz="900">
                <a:solidFill>
                  <a:srgbClr val="64748B"/>
                </a:solidFill>
                <a:latin typeface="Arial"/>
                <a:ea typeface="Arial"/>
                <a:cs typeface="Arial"/>
              </a:defRPr>
            </a:pPr>
            <a:r>
              <a:rPr sz="900" b="0">
                <a:solidFill>
                  <a:srgbClr val="64748B"/>
                </a:solidFill>
                <a:latin typeface="Arial"/>
                <a:ea typeface="Arial"/>
                <a:cs typeface="Arial"/>
              </a:rPr>
              <a:t>3Jane Korea | 시장 진출 및 성장 제안서</a:t>
            </a:r>
          </a:p>
        </p:txBody>
      </p:sp>
      <p:sp>
        <p:nvSpPr>
          <p:cNvPr id="9" name="TextBox 8">
            <a:extLst>
              <a:ext uri="{FF2B5EF4-FFF2-40B4-BE49-F238E27FC236}">
                <a16:creationId xmlns:a16="http://schemas.microsoft.com/office/drawing/2014/main" id="{62F6A39B-FF36-4A4D-A8CE-CC83E171AFC9}"/>
              </a:ext>
            </a:extLst>
          </p:cNvPr>
          <p:cNvSpPr>
            <a:spLocks noGrp="1"/>
          </p:cNvSpPr>
          <p:nvPr/>
        </p:nvSpPr>
        <p:spPr>
          <a:xfrm>
            <a:off x="11239500" y="6515100"/>
            <a:ext cx="447675" cy="200025"/>
          </a:xfrm>
          <a:prstGeom prst="rect">
            <a:avLst/>
          </a:prstGeom>
          <a:noFill/>
        </p:spPr>
        <p:txBody>
          <a:bodyPr wrap="square" lIns="0" tIns="0" rIns="0" bIns="0" anchor="t">
            <a:noAutofit/>
          </a:bodyPr>
          <a:lstStyle/>
          <a:p>
            <a:pPr algn="r">
              <a:buNone/>
              <a:defRPr sz="1050" b="1">
                <a:solidFill>
                  <a:srgbClr val="64748B"/>
                </a:solidFill>
                <a:latin typeface="Arial"/>
                <a:ea typeface="Arial"/>
                <a:cs typeface="Arial"/>
              </a:defRPr>
            </a:pPr>
            <a:r>
              <a:rPr sz="1050" b="1">
                <a:solidFill>
                  <a:srgbClr val="64748B"/>
                </a:solidFill>
                <a:latin typeface="Arial"/>
                <a:ea typeface="Arial"/>
                <a:cs typeface="Arial"/>
              </a:rPr>
              <a:t>24</a:t>
            </a:r>
          </a:p>
        </p:txBody>
      </p:sp>
      <p:sp>
        <p:nvSpPr>
          <p:cNvPr id="10" name="TextBox 9">
            <a:extLst>
              <a:ext uri="{FF2B5EF4-FFF2-40B4-BE49-F238E27FC236}">
                <a16:creationId xmlns:a16="http://schemas.microsoft.com/office/drawing/2014/main" id="{FA358EB9-92A9-440B-BD11-20FE07D0C021}"/>
              </a:ext>
            </a:extLst>
          </p:cNvPr>
          <p:cNvSpPr>
            <a:spLocks noGrp="1"/>
          </p:cNvSpPr>
          <p:nvPr/>
        </p:nvSpPr>
        <p:spPr>
          <a:xfrm>
            <a:off x="868680" y="822960"/>
            <a:ext cx="10424160" cy="502920"/>
          </a:xfrm>
          <a:prstGeom prst="rect">
            <a:avLst/>
          </a:prstGeom>
          <a:noFill/>
        </p:spPr>
        <p:txBody>
          <a:bodyPr wrap="square" lIns="0" tIns="0" rIns="0" bIns="0" anchor="t">
            <a:noAutofit/>
          </a:bodyPr>
          <a:lstStyle/>
          <a:p>
            <a:pPr algn="l">
              <a:defRPr sz="2400" b="1">
                <a:solidFill>
                  <a:srgbClr val="071323"/>
                </a:solidFill>
                <a:latin typeface="Arial"/>
                <a:ea typeface="Arial"/>
                <a:cs typeface="Arial"/>
              </a:defRPr>
            </a:pPr>
            <a:r>
              <a:rPr sz="2400" b="1">
                <a:solidFill>
                  <a:srgbClr val="071323"/>
                </a:solidFill>
                <a:latin typeface="Arial"/>
                <a:ea typeface="Arial"/>
                <a:cs typeface="Arial"/>
              </a:rPr>
              <a:t>A7. 오프라인 이벤트 포맷 참고</a:t>
            </a:r>
          </a:p>
        </p:txBody>
      </p:sp>
      <p:sp>
        <p:nvSpPr>
          <p:cNvPr id="11" name="Rectangle 10">
            <a:extLst>
              <a:ext uri="{FF2B5EF4-FFF2-40B4-BE49-F238E27FC236}">
                <a16:creationId xmlns:a16="http://schemas.microsoft.com/office/drawing/2014/main" id="{37299C1C-2431-4034-B03E-C954055BB5B8}"/>
              </a:ext>
            </a:extLst>
          </p:cNvPr>
          <p:cNvSpPr>
            <a:spLocks noGrp="1"/>
          </p:cNvSpPr>
          <p:nvPr/>
        </p:nvSpPr>
        <p:spPr>
          <a:xfrm>
            <a:off x="868680" y="1353312"/>
            <a:ext cx="914400" cy="54864"/>
          </a:xfrm>
          <a:prstGeom prst="rect">
            <a:avLst/>
          </a:prstGeom>
          <a:solidFill>
            <a:srgbClr val="0B39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ference-disclaimer">
            <a:extLst>
              <a:ext uri="{FF2B5EF4-FFF2-40B4-BE49-F238E27FC236}">
                <a16:creationId xmlns:a16="http://schemas.microsoft.com/office/drawing/2014/main" id="{AD15D5A0-7133-4948-ADD3-D4BC57CCE326}"/>
              </a:ext>
            </a:extLst>
          </p:cNvPr>
          <p:cNvSpPr>
            <a:spLocks noGrp="1"/>
          </p:cNvSpPr>
          <p:nvPr/>
        </p:nvSpPr>
        <p:spPr>
          <a:xfrm>
            <a:off x="962025" y="5924550"/>
            <a:ext cx="10239375" cy="552450"/>
          </a:xfrm>
          <a:prstGeom prst="rect">
            <a:avLst/>
          </a:prstGeom>
          <a:noFill/>
          <a:ln w="0">
            <a:noFill/>
          </a:ln>
        </p:spPr>
        <p:txBody>
          <a:bodyPr wrap="square" lIns="0" tIns="0" rIns="0" bIns="0" anchor="t">
            <a:noAutofit/>
          </a:bodyPr>
          <a:lstStyle/>
          <a:p>
            <a:pPr algn="l">
              <a:defRPr sz="1200">
                <a:solidFill>
                  <a:srgbClr val="334155"/>
                </a:solidFill>
                <a:latin typeface="Arial"/>
                <a:ea typeface="Arial"/>
                <a:cs typeface="Arial"/>
              </a:defRPr>
            </a:pPr>
            <a:r>
              <a:rPr sz="1200">
                <a:solidFill>
                  <a:srgbClr val="334155"/>
                </a:solidFill>
                <a:latin typeface="Arial"/>
                <a:ea typeface="Arial"/>
                <a:cs typeface="Arial"/>
              </a:rPr>
              <a:t>원본 제안서의 예시 포맷 참고입니다. 3Jane 캠페인 실적, 확정 파트너, 보장 게재가 아닙니다. 최종 크리에이티브와 재사용 권리는 승인이 필요합니다.</a:t>
            </a:r>
          </a:p>
        </p:txBody>
      </p:sp>
      <p:sp>
        <p:nvSpPr>
          <p:cNvPr id="40" name="event-choice">
            <a:extLst>
              <a:ext uri="{FF2B5EF4-FFF2-40B4-BE49-F238E27FC236}">
                <a16:creationId xmlns:a16="http://schemas.microsoft.com/office/drawing/2014/main" id="{17BC4E09-9044-4A28-B02D-78CFC8AA1306}"/>
              </a:ext>
            </a:extLst>
          </p:cNvPr>
          <p:cNvSpPr>
            <a:spLocks noGrp="1"/>
          </p:cNvSpPr>
          <p:nvPr/>
        </p:nvSpPr>
        <p:spPr>
          <a:xfrm>
            <a:off x="962025" y="5314950"/>
            <a:ext cx="3143250" cy="228600"/>
          </a:xfrm>
          <a:prstGeom prst="rect">
            <a:avLst/>
          </a:prstGeom>
          <a:noFill/>
          <a:ln w="0">
            <a:noFill/>
          </a:ln>
        </p:spPr>
        <p:txBody>
          <a:bodyPr wrap="square" lIns="0" tIns="0" rIns="0" bIns="0" anchor="t">
            <a:noAutofit/>
          </a:bodyPr>
          <a:lstStyle/>
          <a:p>
            <a:pPr algn="l">
              <a:defRPr sz="1275" b="1">
                <a:solidFill>
                  <a:srgbClr val="0B39FF"/>
                </a:solidFill>
                <a:latin typeface="Arial"/>
                <a:ea typeface="Arial"/>
                <a:cs typeface="Arial"/>
              </a:defRPr>
            </a:pPr>
            <a:r>
              <a:rPr sz="1275" b="1">
                <a:solidFill>
                  <a:srgbClr val="0B39FF"/>
                </a:solidFill>
                <a:latin typeface="Arial"/>
                <a:ea typeface="Arial"/>
                <a:cs typeface="Arial"/>
              </a:rPr>
              <a:t>포맷 1개</a:t>
            </a:r>
          </a:p>
        </p:txBody>
      </p:sp>
      <p:sp>
        <p:nvSpPr>
          <p:cNvPr id="41" name="event-choice-copy">
            <a:extLst>
              <a:ext uri="{FF2B5EF4-FFF2-40B4-BE49-F238E27FC236}">
                <a16:creationId xmlns:a16="http://schemas.microsoft.com/office/drawing/2014/main" id="{184B468D-2243-44E6-8B0E-08D8AEA0D958}"/>
              </a:ext>
            </a:extLst>
          </p:cNvPr>
          <p:cNvSpPr>
            <a:spLocks noGrp="1"/>
          </p:cNvSpPr>
          <p:nvPr/>
        </p:nvSpPr>
        <p:spPr>
          <a:xfrm>
            <a:off x="962025" y="5600700"/>
            <a:ext cx="3143250" cy="266700"/>
          </a:xfrm>
          <a:prstGeom prst="rect">
            <a:avLst/>
          </a:prstGeom>
          <a:noFill/>
          <a:ln w="0">
            <a:noFill/>
          </a:ln>
        </p:spPr>
        <p:txBody>
          <a:bodyPr wrap="square" lIns="0" tIns="0" rIns="0" bIns="0" anchor="t">
            <a:noAutofit/>
          </a:bodyPr>
          <a:lstStyle/>
          <a:p>
            <a:pPr algn="l">
              <a:defRPr sz="1275">
                <a:solidFill>
                  <a:srgbClr val="334155"/>
                </a:solidFill>
                <a:latin typeface="Arial"/>
                <a:ea typeface="Arial"/>
                <a:cs typeface="Arial"/>
              </a:defRPr>
            </a:pPr>
            <a:r>
              <a:rPr sz="1275" dirty="0">
                <a:solidFill>
                  <a:srgbClr val="334155"/>
                </a:solidFill>
                <a:latin typeface="Arial"/>
                <a:ea typeface="Arial"/>
                <a:cs typeface="Arial"/>
              </a:rPr>
              <a:t>밋업(최대 100) 또는 프라이빗 디너(약 20).</a:t>
            </a:r>
            <a:r>
              <a:rPr lang="en-US" sz="1275" dirty="0">
                <a:solidFill>
                  <a:srgbClr val="334155"/>
                </a:solidFill>
                <a:latin typeface="Arial"/>
                <a:ea typeface="Arial"/>
                <a:cs typeface="Arial"/>
              </a:rPr>
              <a:t/>
            </a:r>
            <a:r>
              <a:rPr sz="1275" dirty="0">
                <a:solidFill>
                  <a:srgbClr val="334155"/>
                </a:solidFill>
                <a:latin typeface="Arial"/>
                <a:ea typeface="Arial"/>
                <a:cs typeface="Arial"/>
              </a:rPr>
              <a:t/>
            </a:r>
          </a:p>
        </p:txBody>
      </p:sp>
      <p:sp>
        <p:nvSpPr>
          <p:cNvPr id="42" name="event-focus">
            <a:extLst>
              <a:ext uri="{FF2B5EF4-FFF2-40B4-BE49-F238E27FC236}">
                <a16:creationId xmlns:a16="http://schemas.microsoft.com/office/drawing/2014/main" id="{83465760-805A-430B-B060-2B84E525B92C}"/>
              </a:ext>
            </a:extLst>
          </p:cNvPr>
          <p:cNvSpPr>
            <a:spLocks noGrp="1"/>
          </p:cNvSpPr>
          <p:nvPr/>
        </p:nvSpPr>
        <p:spPr>
          <a:xfrm>
            <a:off x="4467225" y="5314950"/>
            <a:ext cx="3143250" cy="228600"/>
          </a:xfrm>
          <a:prstGeom prst="rect">
            <a:avLst/>
          </a:prstGeom>
          <a:noFill/>
          <a:ln w="0">
            <a:noFill/>
          </a:ln>
        </p:spPr>
        <p:txBody>
          <a:bodyPr wrap="square" lIns="0" tIns="0" rIns="0" bIns="0" anchor="t">
            <a:noAutofit/>
          </a:bodyPr>
          <a:lstStyle/>
          <a:p>
            <a:pPr algn="l">
              <a:defRPr sz="1275" b="1">
                <a:solidFill>
                  <a:srgbClr val="0B39FF"/>
                </a:solidFill>
                <a:latin typeface="Arial"/>
                <a:ea typeface="Arial"/>
                <a:cs typeface="Arial"/>
              </a:defRPr>
            </a:pPr>
            <a:r>
              <a:rPr sz="1275" b="1" dirty="0">
                <a:solidFill>
                  <a:srgbClr val="0B39FF"/>
                </a:solidFill>
                <a:latin typeface="Arial"/>
                <a:ea typeface="Arial"/>
                <a:cs typeface="Arial"/>
              </a:rPr>
              <a:t>집중 토론</a:t>
            </a:r>
          </a:p>
        </p:txBody>
      </p:sp>
      <p:sp>
        <p:nvSpPr>
          <p:cNvPr id="43" name="event-focus-copy">
            <a:extLst>
              <a:ext uri="{FF2B5EF4-FFF2-40B4-BE49-F238E27FC236}">
                <a16:creationId xmlns:a16="http://schemas.microsoft.com/office/drawing/2014/main" id="{6F820D04-A194-409E-BD73-2D098B8000B9}"/>
              </a:ext>
            </a:extLst>
          </p:cNvPr>
          <p:cNvSpPr>
            <a:spLocks noGrp="1"/>
          </p:cNvSpPr>
          <p:nvPr/>
        </p:nvSpPr>
        <p:spPr>
          <a:xfrm>
            <a:off x="4467225" y="5600700"/>
            <a:ext cx="3143250" cy="266700"/>
          </a:xfrm>
          <a:prstGeom prst="rect">
            <a:avLst/>
          </a:prstGeom>
          <a:noFill/>
          <a:ln w="0">
            <a:noFill/>
          </a:ln>
        </p:spPr>
        <p:txBody>
          <a:bodyPr wrap="square" lIns="0" tIns="0" rIns="0" bIns="0" anchor="t">
            <a:noAutofit/>
          </a:bodyPr>
          <a:lstStyle/>
          <a:p>
            <a:pPr algn="l">
              <a:defRPr sz="1275">
                <a:solidFill>
                  <a:srgbClr val="334155"/>
                </a:solidFill>
                <a:latin typeface="Arial"/>
                <a:ea typeface="Arial"/>
                <a:cs typeface="Arial"/>
              </a:defRPr>
            </a:pPr>
            <a:r>
              <a:rPr sz="1275" dirty="0">
                <a:solidFill>
                  <a:srgbClr val="334155"/>
                </a:solidFill>
                <a:latin typeface="Arial"/>
                <a:ea typeface="Arial"/>
                <a:cs typeface="Arial"/>
              </a:rPr>
              <a:t>관련 공급자, LP, 빌더.</a:t>
            </a:r>
          </a:p>
        </p:txBody>
      </p:sp>
      <p:sp>
        <p:nvSpPr>
          <p:cNvPr id="44" name="event-followup">
            <a:extLst>
              <a:ext uri="{FF2B5EF4-FFF2-40B4-BE49-F238E27FC236}">
                <a16:creationId xmlns:a16="http://schemas.microsoft.com/office/drawing/2014/main" id="{5255F3DA-F5D9-49B3-9B82-751A5E23859E}"/>
              </a:ext>
            </a:extLst>
          </p:cNvPr>
          <p:cNvSpPr>
            <a:spLocks noGrp="1"/>
          </p:cNvSpPr>
          <p:nvPr/>
        </p:nvSpPr>
        <p:spPr>
          <a:xfrm>
            <a:off x="7972425" y="5314950"/>
            <a:ext cx="3238500" cy="228600"/>
          </a:xfrm>
          <a:prstGeom prst="rect">
            <a:avLst/>
          </a:prstGeom>
          <a:noFill/>
          <a:ln w="0">
            <a:noFill/>
          </a:ln>
        </p:spPr>
        <p:txBody>
          <a:bodyPr wrap="square" lIns="0" tIns="0" rIns="0" bIns="0" anchor="t">
            <a:noAutofit/>
          </a:bodyPr>
          <a:lstStyle/>
          <a:p>
            <a:pPr algn="l">
              <a:defRPr sz="1275" b="1">
                <a:solidFill>
                  <a:srgbClr val="0B39FF"/>
                </a:solidFill>
                <a:latin typeface="Arial"/>
                <a:ea typeface="Arial"/>
                <a:cs typeface="Arial"/>
              </a:defRPr>
            </a:pPr>
            <a:r>
              <a:rPr sz="1275" b="1" dirty="0">
                <a:solidFill>
                  <a:srgbClr val="0B39FF"/>
                </a:solidFill>
                <a:latin typeface="Arial"/>
                <a:ea typeface="Arial"/>
                <a:cs typeface="Arial"/>
              </a:rPr>
              <a:t>동의 기반 후속</a:t>
            </a:r>
          </a:p>
        </p:txBody>
      </p:sp>
      <p:sp>
        <p:nvSpPr>
          <p:cNvPr id="45" name="event-followup-copy">
            <a:extLst>
              <a:ext uri="{FF2B5EF4-FFF2-40B4-BE49-F238E27FC236}">
                <a16:creationId xmlns:a16="http://schemas.microsoft.com/office/drawing/2014/main" id="{C5A0712A-373F-4861-BB21-3FD72036E83B}"/>
              </a:ext>
            </a:extLst>
          </p:cNvPr>
          <p:cNvSpPr>
            <a:spLocks noGrp="1"/>
          </p:cNvSpPr>
          <p:nvPr/>
        </p:nvSpPr>
        <p:spPr>
          <a:xfrm>
            <a:off x="7972425" y="5600700"/>
            <a:ext cx="3238500" cy="266700"/>
          </a:xfrm>
          <a:prstGeom prst="rect">
            <a:avLst/>
          </a:prstGeom>
          <a:noFill/>
          <a:ln w="0">
            <a:noFill/>
          </a:ln>
        </p:spPr>
        <p:txBody>
          <a:bodyPr wrap="square" lIns="0" tIns="0" rIns="0" bIns="0" anchor="t">
            <a:noAutofit/>
          </a:bodyPr>
          <a:lstStyle/>
          <a:p>
            <a:pPr algn="l">
              <a:defRPr sz="1275">
                <a:solidFill>
                  <a:srgbClr val="334155"/>
                </a:solidFill>
                <a:latin typeface="Arial"/>
                <a:ea typeface="Arial"/>
                <a:cs typeface="Arial"/>
              </a:defRPr>
            </a:pPr>
            <a:r>
              <a:rPr sz="1275" dirty="0">
                <a:solidFill>
                  <a:srgbClr val="334155"/>
                </a:solidFill>
                <a:latin typeface="Arial"/>
                <a:ea typeface="Arial"/>
                <a:cs typeface="Arial"/>
              </a:rPr>
              <a:t>체크인과 옵트인 리드 추적.</a:t>
            </a:r>
          </a:p>
        </p:txBody>
      </p:sp>
      <p:pic>
        <p:nvPicPr>
          <p:cNvPr id="6" name="그림 5">
            <a:extLst>
              <a:ext uri="{FF2B5EF4-FFF2-40B4-BE49-F238E27FC236}">
                <a16:creationId xmlns:a16="http://schemas.microsoft.com/office/drawing/2014/main" id="{15C86A6E-2F61-F18D-D1C2-BF95178B42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240" y="1543000"/>
            <a:ext cx="7844254" cy="3420668"/>
          </a:xfrm>
          <a:prstGeom prst="rect">
            <a:avLst/>
          </a:prstGeom>
        </p:spPr>
      </p:pic>
    </p:spTree>
    <p:extLst>
      <p:ext uri="{BB962C8B-B14F-4D97-AF65-F5344CB8AC3E}">
        <p14:creationId xmlns:p14="http://schemas.microsoft.com/office/powerpoint/2010/main" val="712020527"/>
      </p:ext>
    </p:extLst>
  </p:cSld>
  <p:clrMapOvr>
    <a:masterClrMapping/>
  </p:clrMapOvr>
</p:sld>
</file>

<file path=ppt/theme/theme1.xml><?xml version="1.0" encoding="utf-8"?>
<a:theme xmlns:a="http://schemas.openxmlformats.org/drawingml/2006/main" name="ChatGPT">
  <a:themeElements>
    <a:clrScheme name="3Jane Korea">
      <a:dk1>
        <a:srgbClr val="000000"/>
      </a:dk1>
      <a:lt1>
        <a:srgbClr val="FFFFFF"/>
      </a:lt1>
      <a:dk2>
        <a:srgbClr val="121A31"/>
      </a:dk2>
      <a:lt2>
        <a:srgbClr val="F1F4FF"/>
      </a:lt2>
      <a:accent1>
        <a:srgbClr val="1235F7"/>
      </a:accent1>
      <a:accent2>
        <a:srgbClr val="121A31"/>
      </a:accent2>
      <a:accent3>
        <a:srgbClr val="596276"/>
      </a:accent3>
      <a:accent4>
        <a:srgbClr val="7191FF"/>
      </a:accent4>
      <a:accent5>
        <a:srgbClr val="A7B7F2"/>
      </a:accent5>
      <a:accent6>
        <a:srgbClr val="DEE5FB"/>
      </a:accent6>
      <a:hlink>
        <a:srgbClr val="1235F7"/>
      </a:hlink>
      <a:folHlink>
        <a:srgbClr val="1235F7"/>
      </a:folHlink>
    </a:clrScheme>
    <a:fontScheme name="Office">
      <a:majorFont>
        <a:latin typeface="Calibri Light"/>
        <a:ea typeface="Calibri Light"/>
        <a:cs typeface="Calibri Light"/>
      </a:majorFont>
      <a:minorFont>
        <a:latin typeface="Calibri"/>
        <a:ea typeface="Calibri"/>
        <a:cs typeface="Calibri"/>
      </a:minorFont>
    </a:fontScheme>
    <a:fmtScheme name="3Jane Kore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atGPT">
  <a:themeElements>
    <a:clrScheme name="3Jane Korea">
      <a:dk1>
        <a:srgbClr val="000000"/>
      </a:dk1>
      <a:lt1>
        <a:srgbClr val="FFFFFF"/>
      </a:lt1>
      <a:dk2>
        <a:srgbClr val="121A31"/>
      </a:dk2>
      <a:lt2>
        <a:srgbClr val="F1F4FF"/>
      </a:lt2>
      <a:accent1>
        <a:srgbClr val="1235F7"/>
      </a:accent1>
      <a:accent2>
        <a:srgbClr val="121A31"/>
      </a:accent2>
      <a:accent3>
        <a:srgbClr val="596276"/>
      </a:accent3>
      <a:accent4>
        <a:srgbClr val="7191FF"/>
      </a:accent4>
      <a:accent5>
        <a:srgbClr val="A7B7F2"/>
      </a:accent5>
      <a:accent6>
        <a:srgbClr val="DEE5FB"/>
      </a:accent6>
      <a:hlink>
        <a:srgbClr val="1235F7"/>
      </a:hlink>
      <a:folHlink>
        <a:srgbClr val="1235F7"/>
      </a:folHlink>
    </a:clrScheme>
    <a:fontScheme name="Office">
      <a:majorFont>
        <a:latin typeface="Calibri Light"/>
        <a:ea typeface="Calibri Light"/>
        <a:cs typeface="Calibri Light"/>
      </a:majorFont>
      <a:minorFont>
        <a:latin typeface="Calibri"/>
        <a:ea typeface="Calibri"/>
        <a:cs typeface="Calibri"/>
      </a:minorFont>
    </a:fontScheme>
    <a:fmtScheme name="3Jane Kore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2056</Words>
  <Application>Microsoft Macintosh PowerPoint</Application>
  <DocSecurity>0</DocSecurity>
  <PresentationFormat>와이드스크린</PresentationFormat>
  <Paragraphs>233</Paragraphs>
  <Slides>15</Slides>
  <Notes>15</Notes>
  <HiddenSlides>0</HiddenSlides>
  <MMClips>0</MMClips>
  <ScaleCrop>false</ScaleCrop>
  <HeadingPairs>
    <vt:vector size="6" baseType="variant">
      <vt:variant>
        <vt:lpstr>사용한 글꼴</vt:lpstr>
      </vt:variant>
      <vt:variant>
        <vt:i4>2</vt:i4>
      </vt:variant>
      <vt:variant>
        <vt:lpstr>테마</vt:lpstr>
      </vt:variant>
      <vt:variant>
        <vt:i4>2</vt:i4>
      </vt:variant>
      <vt:variant>
        <vt:lpstr>슬라이드 제목</vt:lpstr>
      </vt:variant>
      <vt:variant>
        <vt:i4>15</vt:i4>
      </vt:variant>
    </vt:vector>
  </HeadingPairs>
  <TitlesOfParts>
    <vt:vector size="19" baseType="lpstr">
      <vt:lpstr>Arial</vt:lpstr>
      <vt:lpstr>Calibri</vt:lpstr>
      <vt:lpstr>ChatGPT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김해인</cp:lastModifiedBy>
  <cp:revision>4</cp:revision>
  <dcterms:created xsi:type="dcterms:W3CDTF">2026-09-16T22:02:16Z</dcterms:created>
  <dcterms:modified xsi:type="dcterms:W3CDTF">2026-09-17T05:10:13Z</dcterms:modified>
</cp:coreProperties>
</file>